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3" r:id="rId9"/>
    <p:sldId id="265" r:id="rId10"/>
    <p:sldId id="266" r:id="rId11"/>
    <p:sldId id="268" r:id="rId12"/>
    <p:sldId id="264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CE1461E-E918-EE4A-BFCF-56C792253661}">
          <p14:sldIdLst>
            <p14:sldId id="256"/>
            <p14:sldId id="257"/>
            <p14:sldId id="258"/>
            <p14:sldId id="259"/>
            <p14:sldId id="260"/>
            <p14:sldId id="261"/>
            <p14:sldId id="267"/>
            <p14:sldId id="263"/>
            <p14:sldId id="265"/>
            <p14:sldId id="266"/>
            <p14:sldId id="268"/>
          </p14:sldIdLst>
        </p14:section>
        <p14:section name="Addtional Slide" id="{4CC1D3C0-CC93-2C49-B682-C4A15E483094}">
          <p14:sldIdLst>
            <p14:sldId id="264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6"/>
    <p:restoredTop sz="80167"/>
  </p:normalViewPr>
  <p:slideViewPr>
    <p:cSldViewPr snapToGrid="0" snapToObjects="1">
      <p:cViewPr varScale="1">
        <p:scale>
          <a:sx n="144" d="100"/>
          <a:sy n="144" d="100"/>
        </p:scale>
        <p:origin x="1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12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are these </a:t>
            </a:r>
            <a:r>
              <a:rPr lang="en-US" dirty="0" err="1"/>
              <a:t>nos</a:t>
            </a:r>
            <a:r>
              <a:rPr lang="en-US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they come into picture?</a:t>
            </a:r>
          </a:p>
          <a:p>
            <a:pPr marL="171450" indent="-171450">
              <a:buFontTx/>
              <a:buChar char="-"/>
            </a:pPr>
            <a:r>
              <a:rPr lang="en-US" dirty="0"/>
              <a:t>1000 vs Real world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reliable is important?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technical and product plays role in overall design?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exposure in customer space in post sales?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this problem is real?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is important problem to solve for – my take uncover hidden behavior rest will follow?</a:t>
            </a:r>
          </a:p>
          <a:p>
            <a:pPr marL="171450" indent="-171450">
              <a:buFontTx/>
              <a:buChar char="-"/>
            </a:pPr>
            <a:r>
              <a:rPr lang="en-US" dirty="0"/>
              <a:t>Are we measuring the right things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ARR?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40/30/20/10 ? – why only these components?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not compensation?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only use these technical arch why not something else?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only 22 test, how did u </a:t>
            </a:r>
            <a:r>
              <a:rPr lang="en-US" dirty="0" err="1"/>
              <a:t>priotize</a:t>
            </a:r>
            <a:r>
              <a:rPr lang="en-US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only 5 anomalies?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these are important?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post sales drives these?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is there for post sales team?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7CEF7-5D5E-A071-07F7-57E1B29E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76E8ED-83BD-E612-7705-DDCC42F7C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06344-7FE8-86CF-A845-E4C5BE3C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these values?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not take real support </a:t>
            </a:r>
            <a:r>
              <a:rPr lang="en-US" dirty="0" err="1"/>
              <a:t>tks</a:t>
            </a:r>
            <a:r>
              <a:rPr lang="en-US" dirty="0"/>
              <a:t> in considerations?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these 3 sets only?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617E0-F96F-6837-28C1-EB65B8C59A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078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Walk through various personas </a:t>
            </a:r>
          </a:p>
          <a:p>
            <a:pPr marL="171450" indent="-171450">
              <a:buFontTx/>
              <a:buChar char="-"/>
            </a:pPr>
            <a:r>
              <a:rPr lang="en-US" dirty="0"/>
              <a:t>Executive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CSM </a:t>
            </a:r>
            <a:r>
              <a:rPr lang="en-US" dirty="0" err="1"/>
              <a:t>mgr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IC and </a:t>
            </a:r>
          </a:p>
          <a:p>
            <a:pPr marL="171450" indent="-171450">
              <a:buFontTx/>
              <a:buChar char="-"/>
            </a:pPr>
            <a:r>
              <a:rPr lang="en-US" dirty="0"/>
              <a:t>Data analytics team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to use AI / ML 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data is important across org </a:t>
            </a:r>
          </a:p>
          <a:p>
            <a:pPr marL="171450" indent="-171450">
              <a:buFontTx/>
              <a:buChar char="-"/>
            </a:pPr>
            <a:r>
              <a:rPr lang="en-US" dirty="0"/>
              <a:t>Add if require what other technical solution could be used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End to end roadmap </a:t>
            </a:r>
          </a:p>
          <a:p>
            <a:pPr marL="171450" indent="-171450">
              <a:buFontTx/>
              <a:buChar char="-"/>
            </a:pPr>
            <a:r>
              <a:rPr lang="en-US" dirty="0"/>
              <a:t>Why not considered compensation 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can I help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F228-BED4-916A-5D42-43F490C4B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F46B0A-60B6-D7AC-6713-0CB29DEA5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07AFE-FFB0-94B6-97CA-2FBCF1E54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r>
              <a:rPr lang="en-US" dirty="0"/>
              <a:t>- If they do not have questions double click on things which came up in presentation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Show case </a:t>
            </a:r>
            <a:r>
              <a:rPr lang="en-US" dirty="0" err="1"/>
              <a:t>github</a:t>
            </a:r>
            <a:r>
              <a:rPr lang="en-US" dirty="0"/>
              <a:t> and docs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 more into dashboard if required, showcase minute features u added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0D125-1A02-C580-EBBF-7F685BC4C3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29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Talking points to touch during the slide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Bring up only compensation is insisted </a:t>
            </a:r>
          </a:p>
          <a:p>
            <a:pPr marL="171450" indent="-171450">
              <a:buFontTx/>
              <a:buChar char="-"/>
            </a:pPr>
            <a:r>
              <a:rPr lang="en-US" dirty="0"/>
              <a:t>This is not the driver its long vision – needs bigger financial evaluation </a:t>
            </a:r>
          </a:p>
          <a:p>
            <a:pPr marL="171450" indent="-171450">
              <a:buFontTx/>
              <a:buChar char="-"/>
            </a:pPr>
            <a:r>
              <a:rPr lang="en-US" dirty="0"/>
              <a:t>Behavior over revenue , customer value over business </a:t>
            </a:r>
            <a:r>
              <a:rPr lang="en-US"/>
              <a:t>operations ease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E3D6D-02A1-9E41-31C3-7F4FCE741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03EE1-B880-3CE5-74A3-84F47C929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059AF-0DAA-93AB-848A-9E43A10A8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6549-0B1C-DCF0-A252-EE4425326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921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6AD61-37E8-4019-1B7C-3E7934F1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F7FDC-14E6-76B0-8421-223C69DD4C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BC9C5-ED5B-08D6-6B96-41A661F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A45D7-A05A-DD7E-B0BA-31A07F7A0B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612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1D595-4DC9-47A6-B3B6-A4891D637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315FC-0FF8-4BD4-61E7-9122EF35E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B7663-A29A-82C1-36BC-65FB0136D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29122-5FC7-AC1F-B4D6-F503CB3BC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177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bhagatnsdemo.streamlit.app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harmeshBhagat/panw-gcs-northstar/blob/main/specs/BRD_v3.m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armeshBhagat/panw-gcs-northstar/blob/main/specs/BRD_v3.md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274320"/>
            <a:ext cx="2560320" cy="2560320"/>
          </a:xfrm>
          <a:prstGeom prst="roundRect">
            <a:avLst>
              <a:gd name="adj" fmla="val 14286"/>
            </a:avLst>
          </a:prstGeom>
          <a:solidFill>
            <a:srgbClr val="00C9B1">
              <a:alpha val="15000"/>
            </a:srgbClr>
          </a:solidFill>
          <a:ln w="6350">
            <a:solidFill>
              <a:srgbClr val="00C9B1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74320"/>
            <a:ext cx="1828800" cy="1828800"/>
          </a:xfrm>
          <a:prstGeom prst="roundRect">
            <a:avLst>
              <a:gd name="adj" fmla="val 20000"/>
            </a:avLst>
          </a:prstGeom>
          <a:solidFill>
            <a:srgbClr val="00C9B1">
              <a:alpha val="2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14400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GCS Account Health &amp; Realized ARR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North Star Metric for the GCS Organization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2304288"/>
            <a:ext cx="8138160" cy="0"/>
          </a:xfrm>
          <a:prstGeom prst="line">
            <a:avLst/>
          </a:prstGeom>
          <a:noFill/>
          <a:ln w="19050">
            <a:solidFill>
              <a:srgbClr val="00C9B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487168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6517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$8.1B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94360" y="32004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ARR at Q3 FY26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44728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PANW Committed Base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2487168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6517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383280" y="32004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1-Point PRS Gain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344728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Unlock Potential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2487168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26517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172200" y="320040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344728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Gates</a:t>
            </a:r>
            <a:endParaRPr lang="en-US" sz="9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994E13B-E1FD-8156-5F70-6DCE9FE6BC4D}"/>
              </a:ext>
            </a:extLst>
          </p:cNvPr>
          <p:cNvSpPr/>
          <p:nvPr/>
        </p:nvSpPr>
        <p:spPr>
          <a:xfrm>
            <a:off x="4065724" y="3831336"/>
            <a:ext cx="47678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i="1" dirty="0">
                <a:solidFill>
                  <a:srgbClr val="8FB3CC"/>
                </a:solidFill>
                <a:latin typeface="Calibri" pitchFamily="34" charset="0"/>
                <a:cs typeface="Calibri" pitchFamily="34" charset="-120"/>
              </a:rPr>
              <a:t>Synthetic prototype results are scaled here to show enterprise-level business impact.</a:t>
            </a: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58C9188B-9E83-E0FB-99D9-0251BF9D89C8}"/>
              </a:ext>
            </a:extLst>
          </p:cNvPr>
          <p:cNvSpPr/>
          <p:nvPr/>
        </p:nvSpPr>
        <p:spPr>
          <a:xfrm>
            <a:off x="502920" y="4517136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b="1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r>
              <a:rPr lang="en-US" sz="15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Introduction · Context &amp; Problem ·  Technical Deep Dive · Evaluation &amp;Results · Q&amp;A 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 Am &amp; How I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</a:t>
            </a:r>
            <a:r>
              <a:rPr lang="en-US" sz="14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3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PM · 7+ years building post-sales data products at Microsoft Azure  · 15+ years in Enterprise IT 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2423160"/>
          </a:xfrm>
          <a:prstGeom prst="roundRect">
            <a:avLst>
              <a:gd name="adj" fmla="val 4528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344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⚙️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16276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Foundation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infrastructure &amp; data systems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complex systems scale at cloud scale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→ business impact translation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1143000"/>
            <a:ext cx="2697480" cy="2423160"/>
          </a:xfrm>
          <a:prstGeom prst="roundRect">
            <a:avLst>
              <a:gd name="adj" fmla="val 4528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2344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29000" y="16276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Leadership (Azure)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201168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Hub: 5-day VP prep → 4 hours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Iridias: 60% incident effort reduction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FastTrack: 3,179 customer signals → 74% accept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143000"/>
            <a:ext cx="2697480" cy="2423160"/>
          </a:xfrm>
          <a:prstGeom prst="roundRect">
            <a:avLst>
              <a:gd name="adj" fmla="val 4528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63640" y="123444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63640" y="162763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 PM Philosophy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AI development (BRD → code)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without engineering bottleneck</a:t>
            </a:r>
            <a:endParaRPr lang="en-US" sz="10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0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Post-sales analytics &amp; GTM intelligence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00C9B1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67328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Start Small, Iterate Fast, Scale Reliably.</a:t>
            </a:r>
            <a:endParaRPr lang="en-US" sz="1150" dirty="0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80179639-8B44-6384-61A3-387F5D55160C}"/>
              </a:ext>
            </a:extLst>
          </p:cNvPr>
          <p:cNvSpPr/>
          <p:nvPr/>
        </p:nvSpPr>
        <p:spPr>
          <a:xfrm>
            <a:off x="4872111" y="403665"/>
            <a:ext cx="39518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Dharmesh Bhagat  ·  Principal PM, Data &amp; AI Analytics  ·  GCS Case Study</a:t>
            </a:r>
            <a:endParaRPr lang="en-US" sz="1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A4A3B15-BC5E-1E19-2869-5CE3619794F8}"/>
              </a:ext>
            </a:extLst>
          </p:cNvPr>
          <p:cNvSpPr/>
          <p:nvPr/>
        </p:nvSpPr>
        <p:spPr>
          <a:xfrm>
            <a:off x="502920" y="4654296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·  RLI · Apple Inc · SanDisk · KLA-Tencor · Microsoft · </a:t>
            </a:r>
            <a:r>
              <a:rPr lang="en-US" sz="1500" dirty="0" err="1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Axari</a:t>
            </a:r>
            <a:r>
              <a:rPr lang="en-US" sz="15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GCS Is Solving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from TCV bookings to a consumption-based ARR model creates a measurement gap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749040" cy="3108960"/>
          </a:xfrm>
          <a:prstGeom prst="roundRect">
            <a:avLst>
              <a:gd name="adj" fmla="val 3529"/>
            </a:avLst>
          </a:prstGeom>
          <a:solidFill>
            <a:srgbClr val="A32D2D">
              <a:alpha val="12000"/>
            </a:srgbClr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3444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MODEL — TCV/Bookings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64208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closes → </a:t>
            </a:r>
            <a:r>
              <a:rPr lang="en-US" sz="11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commercial success recognized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deployment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on actual usage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 TCV booked = success on paper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goes undetected for months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CS inherits adoption risk without enough leading signals</a:t>
            </a:r>
          </a:p>
        </p:txBody>
      </p:sp>
      <p:sp>
        <p:nvSpPr>
          <p:cNvPr id="7" name="Shape 5"/>
          <p:cNvSpPr/>
          <p:nvPr/>
        </p:nvSpPr>
        <p:spPr>
          <a:xfrm>
            <a:off x="434340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C9B1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1628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937760" y="1143000"/>
            <a:ext cx="3749040" cy="3108960"/>
          </a:xfrm>
          <a:prstGeom prst="roundRect">
            <a:avLst>
              <a:gd name="adj" fmla="val 3529"/>
            </a:avLst>
          </a:prstGeom>
          <a:solidFill>
            <a:srgbClr val="1D9E75">
              <a:alpha val="15000"/>
            </a:srgbClr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74920" y="123444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 — Realized ARR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1664208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customers actually use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shelfware before it hits renewal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deployment + sustained usage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CSMs act on math, not gut feel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Overages → expansion signal, not surprise</a:t>
            </a:r>
            <a:endParaRPr lang="en-US" sz="11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1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metric across CS, PS, Support, Sales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3708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4A522">
              <a:alpha val="1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407408"/>
            <a:ext cx="7955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Insight: Shelfware in cybersecurity ≠ just revenue risk. Undeployed software = unprotected attack surface.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Realized ARR — The North Star Metric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1097280"/>
          </a:xfrm>
          <a:prstGeom prst="roundRect">
            <a:avLst>
              <a:gd name="adj" fmla="val 11667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Realized ARR  =  Contracted ARR  ×  PRS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Realization Score  =  (Deployment × 0.40) + (Sustained Usage × 0.30) + (Tech Health × 0.20) + (Expansion × 0.10)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2029968"/>
            <a:ext cx="2066544" cy="2606040"/>
          </a:xfrm>
          <a:prstGeom prst="roundRect">
            <a:avLst>
              <a:gd name="adj" fmla="val 5310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103120"/>
            <a:ext cx="18836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578608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Score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2944368"/>
            <a:ext cx="1517904" cy="0"/>
          </a:xfrm>
          <a:prstGeom prst="line">
            <a:avLst/>
          </a:prstGeom>
          <a:noFill/>
          <a:ln w="9525">
            <a:solidFill>
              <a:srgbClr val="00C9B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017520"/>
            <a:ext cx="18470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MIN(1.0, consumed / committed)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so overages don't inflate scores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Overages flagged for expansion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70048" y="2029968"/>
            <a:ext cx="2066544" cy="2606040"/>
          </a:xfrm>
          <a:prstGeom prst="roundRect">
            <a:avLst>
              <a:gd name="adj" fmla="val 5310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61488" y="2103120"/>
            <a:ext cx="18836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761488" y="2578608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Usage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44368" y="2944368"/>
            <a:ext cx="1517904" cy="0"/>
          </a:xfrm>
          <a:prstGeom prst="line">
            <a:avLst/>
          </a:prstGeom>
          <a:noFill/>
          <a:ln w="9525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79776" y="3017520"/>
            <a:ext cx="18470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12-month window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monthly threshold for 'healthy'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spike-and-drop false positives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82896" y="2029968"/>
            <a:ext cx="2066544" cy="2606040"/>
          </a:xfrm>
          <a:prstGeom prst="roundRect">
            <a:avLst>
              <a:gd name="adj" fmla="val 5310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74336" y="2103120"/>
            <a:ext cx="18836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A5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974336" y="2578608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Health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57216" y="2944368"/>
            <a:ext cx="1517904" cy="0"/>
          </a:xfrm>
          <a:prstGeom prst="line">
            <a:avLst/>
          </a:prstGeom>
          <a:noFill/>
          <a:ln w="9525">
            <a:solidFill>
              <a:srgbClr val="F4A5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92624" y="3017520"/>
            <a:ext cx="18470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900" dirty="0" err="1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health_color</a:t>
            </a: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(MVP)</a:t>
            </a:r>
            <a:b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P1/P2 ticket rate, MTTR, #escalation, open rate (Future)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→ defaults to 0.60 (Yellow)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deployment vs. efficacy illusion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095744" y="2029968"/>
            <a:ext cx="1883664" cy="2606040"/>
          </a:xfrm>
          <a:prstGeom prst="roundRect">
            <a:avLst>
              <a:gd name="adj" fmla="val 5310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87184" y="2103120"/>
            <a:ext cx="18836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FB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87184" y="2578608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Momentum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70064" y="2944368"/>
            <a:ext cx="1517904" cy="0"/>
          </a:xfrm>
          <a:prstGeom prst="line">
            <a:avLst/>
          </a:prstGeom>
          <a:noFill/>
          <a:ln w="9525">
            <a:solidFill>
              <a:srgbClr val="8FB3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05472" y="3017520"/>
            <a:ext cx="184708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Multi-contract expansion signals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months history → defaults to 0.10</a:t>
            </a:r>
            <a:endParaRPr lang="en-US" sz="9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90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overagers into pipeline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4663440"/>
            <a:ext cx="8229600" cy="365760"/>
          </a:xfrm>
          <a:prstGeom prst="roundRect">
            <a:avLst>
              <a:gd name="adj" fmla="val 20000"/>
            </a:avLst>
          </a:prstGeom>
          <a:solidFill>
            <a:srgbClr val="A32D2D">
              <a:alpha val="2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681728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SHELFWARE OVERRIDE: IF Deployment = 0 AND Sustained Usage = 0  →  PRS = 0.00 (hard floor — no phantom realized value)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Pipeline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AI development: BRD → Markdown spec → Claude Code → BigQuery pipeline → Tests → Dashboard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536192" cy="1920240"/>
          </a:xfrm>
          <a:prstGeom prst="roundRect">
            <a:avLst>
              <a:gd name="adj" fmla="val 7143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170432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1719072"/>
            <a:ext cx="13533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~1K accounts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~50K health rows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~200K usage logs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993392" y="173736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B1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194560" y="1097280"/>
            <a:ext cx="1536192" cy="1920240"/>
          </a:xfrm>
          <a:prstGeom prst="roundRect">
            <a:avLst>
              <a:gd name="adj" fmla="val 7143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67712" y="1170432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Gates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86000" y="1719072"/>
            <a:ext cx="13533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DQ-001 Orphaned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DQ-002 Rogue dates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flagged rows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clean_usage_logs view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730752" y="173736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B1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931920" y="1097280"/>
            <a:ext cx="1536192" cy="1920240"/>
          </a:xfrm>
          <a:prstGeom prst="roundRect">
            <a:avLst>
              <a:gd name="adj" fmla="val 7143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005072" y="1170432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23360" y="1719072"/>
            <a:ext cx="13533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tables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MAX() overlap fix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computation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ARR grain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68112" y="173736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B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0" y="1097280"/>
            <a:ext cx="1536192" cy="1920240"/>
          </a:xfrm>
          <a:prstGeom prst="roundRect">
            <a:avLst>
              <a:gd name="adj" fmla="val 7143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42432" y="1170432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760720" y="1719072"/>
            <a:ext cx="13533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assertions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checks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coverage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green 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205472" y="173736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B1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406640" y="1097280"/>
            <a:ext cx="1536192" cy="1920240"/>
          </a:xfrm>
          <a:prstGeom prst="roundRect">
            <a:avLst>
              <a:gd name="adj" fmla="val 7143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79792" y="1170432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135331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view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Region/Rep drill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selector</a:t>
            </a:r>
            <a:endParaRPr lang="en-US" sz="9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cloud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182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Injected Anomalies — All Handled: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547872"/>
            <a:ext cx="1664208" cy="1325880"/>
          </a:xfrm>
          <a:prstGeom prst="roundRect">
            <a:avLst>
              <a:gd name="adj" fmla="val 6897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" y="3602736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Spike &amp; Drop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895344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of accounts — trailing CoV penalizes Sustained Usage Score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144268" y="3547872"/>
            <a:ext cx="1664208" cy="1325880"/>
          </a:xfrm>
          <a:prstGeom prst="roundRect">
            <a:avLst>
              <a:gd name="adj" fmla="val 6897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235708" y="3602736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Shelfware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235708" y="3895344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— hard floor override forces PRS → 0.00 exactly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831336" y="3547872"/>
            <a:ext cx="1664208" cy="1325880"/>
          </a:xfrm>
          <a:prstGeom prst="roundRect">
            <a:avLst>
              <a:gd name="adj" fmla="val 6897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922776" y="3602736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Overages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922776" y="3895344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— MIN(1.0) cap + expansion flag fires automatically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18404" y="3547872"/>
            <a:ext cx="1664208" cy="1325880"/>
          </a:xfrm>
          <a:prstGeom prst="roundRect">
            <a:avLst>
              <a:gd name="adj" fmla="val 6897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609844" y="3602736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Mid-Year Exp.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09844" y="3895344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MAX() logic prevents double-counting ARR across contracts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205472" y="3547872"/>
            <a:ext cx="1664208" cy="1325880"/>
          </a:xfrm>
          <a:prstGeom prst="roundRect">
            <a:avLst>
              <a:gd name="adj" fmla="val 6897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296912" y="3602736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Orphaned Logs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96912" y="3895344"/>
            <a:ext cx="14813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DQ-001 / DQ-002 gates filter before any PRS calculation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Handle Messy B2B 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case maps to a GTM or post-sales pain point — not just a data problem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1170432"/>
          </a:xfrm>
          <a:prstGeom prst="roundRect">
            <a:avLst>
              <a:gd name="adj" fmla="val 7813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152144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Shelfware Hard-Floor Override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63040"/>
            <a:ext cx="2468880" cy="658368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99616"/>
            <a:ext cx="234086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Deployment = 0 AND Usage = 0</a:t>
            </a:r>
            <a:endParaRPr lang="en-US" sz="8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PRS = 0.00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46120" y="1152144"/>
            <a:ext cx="3246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cybersecurity, undeployed software = unprotected attack surface. No partial credit for phantom value. Forces CSM to run deployment play immediately.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0" y="1152144"/>
            <a:ext cx="19659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CS VP: strips toxic ARR from portfolio view in real-time.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8229600" cy="1170432"/>
          </a:xfrm>
          <a:prstGeom prst="roundRect">
            <a:avLst>
              <a:gd name="adj" fmla="val 7813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41401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Mid-Year Expansion / Overlap Fix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724912"/>
            <a:ext cx="2468880" cy="658368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761488"/>
            <a:ext cx="234086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MAX(annual_commit_dollars)</a:t>
            </a:r>
            <a:endParaRPr lang="en-US" sz="8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month BETWEEN start AND end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46120" y="2414016"/>
            <a:ext cx="3246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contracts create double-counted ARR in a naive JOIN. MAX() logic selects the highest active commitment at point-in-time — preventing false quota inflation.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83680" y="2414016"/>
            <a:ext cx="19659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Analytics Lead: prevents Cartesian explosion that distorts every CSM's book of business.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602736"/>
            <a:ext cx="8229600" cy="1170432"/>
          </a:xfrm>
          <a:prstGeom prst="roundRect">
            <a:avLst>
              <a:gd name="adj" fmla="val 7813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6758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Consistent Overager → Expansion Signal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86784"/>
            <a:ext cx="2468880" cy="658368"/>
          </a:xfrm>
          <a:prstGeom prst="roundRect">
            <a:avLst>
              <a:gd name="adj" fmla="val 8333"/>
            </a:avLst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023360"/>
            <a:ext cx="234086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deployment_score = MIN(1.0, consumed/committed)</a:t>
            </a:r>
            <a:endParaRPr lang="en-US" sz="8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0C9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flag_overage = consumed &gt; 1.20 × committed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246120" y="3675888"/>
            <a:ext cx="3246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accounts exceed 120% of monthly credits. Cap prevents score inflation, but a separate flag fires automatically — turning a billing risk into an upsell conversation.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83680" y="3675888"/>
            <a:ext cx="19659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SC: overage accounts are the highest-quality expansion pipeline in the portfolio.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BEF2E9-0F72-5D5B-52C0-BCFE45892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C6D4998-D8C5-B4AF-B19A-6D6BFE9708D2}"/>
              </a:ext>
            </a:extLst>
          </p:cNvPr>
          <p:cNvSpPr/>
          <p:nvPr/>
        </p:nvSpPr>
        <p:spPr>
          <a:xfrm>
            <a:off x="457200" y="676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loss functions — tied directly to business KPIs and GTM outcomes</a:t>
            </a:r>
            <a:endParaRPr lang="en-US" sz="1250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C1B78660-2897-A7A7-2977-5B82C498E7F3}"/>
              </a:ext>
            </a:extLst>
          </p:cNvPr>
          <p:cNvSpPr/>
          <p:nvPr/>
        </p:nvSpPr>
        <p:spPr>
          <a:xfrm>
            <a:off x="457200" y="1298448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6AA9D4DC-84E3-41FA-29C3-40C0EED04A4C}"/>
              </a:ext>
            </a:extLst>
          </p:cNvPr>
          <p:cNvSpPr/>
          <p:nvPr/>
        </p:nvSpPr>
        <p:spPr>
          <a:xfrm>
            <a:off x="594360" y="134416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 0.80–1.00</a:t>
            </a:r>
            <a:endParaRPr lang="en-US" sz="10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5282BFA-7AD8-BBFF-C32A-2E01A2590B5D}"/>
              </a:ext>
            </a:extLst>
          </p:cNvPr>
          <p:cNvSpPr/>
          <p:nvPr/>
        </p:nvSpPr>
        <p:spPr>
          <a:xfrm>
            <a:off x="594360" y="161848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~55% of accounts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255983CE-ECD1-2E28-DF57-8613F0AC9BA2}"/>
              </a:ext>
            </a:extLst>
          </p:cNvPr>
          <p:cNvSpPr/>
          <p:nvPr/>
        </p:nvSpPr>
        <p:spPr>
          <a:xfrm>
            <a:off x="2743200" y="143560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 maintenance + expansion play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C751413B-8BCB-2501-34BC-8ED2CEBC71A1}"/>
              </a:ext>
            </a:extLst>
          </p:cNvPr>
          <p:cNvSpPr/>
          <p:nvPr/>
        </p:nvSpPr>
        <p:spPr>
          <a:xfrm>
            <a:off x="457200" y="2029968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7AF28FD-E5EE-DE4E-30A1-AC627DB1CAD9}"/>
              </a:ext>
            </a:extLst>
          </p:cNvPr>
          <p:cNvSpPr/>
          <p:nvPr/>
        </p:nvSpPr>
        <p:spPr>
          <a:xfrm>
            <a:off x="594360" y="20756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YELLOW 0.60–0.79</a:t>
            </a:r>
            <a:endParaRPr lang="en-US" sz="10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4DDBD91B-6E84-09B1-F915-A8163586DF70}"/>
              </a:ext>
            </a:extLst>
          </p:cNvPr>
          <p:cNvSpPr/>
          <p:nvPr/>
        </p:nvSpPr>
        <p:spPr>
          <a:xfrm>
            <a:off x="594360" y="235000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accounts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DB218C8D-CE6A-2414-58DA-4DEDC33F7CE1}"/>
              </a:ext>
            </a:extLst>
          </p:cNvPr>
          <p:cNvSpPr/>
          <p:nvPr/>
        </p:nvSpPr>
        <p:spPr>
          <a:xfrm>
            <a:off x="2743200" y="21671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outreach, check CBV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714B9274-7FF7-DCAD-95C0-F16B10B682FC}"/>
              </a:ext>
            </a:extLst>
          </p:cNvPr>
          <p:cNvSpPr/>
          <p:nvPr/>
        </p:nvSpPr>
        <p:spPr>
          <a:xfrm>
            <a:off x="457200" y="2761488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F7EAAD82-A525-5E8F-0CF9-CC12AB490A5D}"/>
              </a:ext>
            </a:extLst>
          </p:cNvPr>
          <p:cNvSpPr/>
          <p:nvPr/>
        </p:nvSpPr>
        <p:spPr>
          <a:xfrm>
            <a:off x="594360" y="28072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ORANGE 0.30–0.59</a:t>
            </a:r>
            <a:endParaRPr lang="en-US" sz="10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652939AA-99C4-F923-9C18-A98C1AAC97CD}"/>
              </a:ext>
            </a:extLst>
          </p:cNvPr>
          <p:cNvSpPr/>
          <p:nvPr/>
        </p:nvSpPr>
        <p:spPr>
          <a:xfrm>
            <a:off x="594360" y="308152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of accounts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6945FDCE-1E79-54A8-74BA-74556C7FA94A}"/>
              </a:ext>
            </a:extLst>
          </p:cNvPr>
          <p:cNvSpPr/>
          <p:nvPr/>
        </p:nvSpPr>
        <p:spPr>
          <a:xfrm>
            <a:off x="2743200" y="289864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 intervention + PS support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8C6DA255-7F91-DFD5-35B0-073DD626B8ED}"/>
              </a:ext>
            </a:extLst>
          </p:cNvPr>
          <p:cNvSpPr/>
          <p:nvPr/>
        </p:nvSpPr>
        <p:spPr>
          <a:xfrm>
            <a:off x="457200" y="3493008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9905AE62-C1B3-28D1-2DBE-65727654BF5C}"/>
              </a:ext>
            </a:extLst>
          </p:cNvPr>
          <p:cNvSpPr/>
          <p:nvPr/>
        </p:nvSpPr>
        <p:spPr>
          <a:xfrm>
            <a:off x="594360" y="35387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RED    0.00–0.29</a:t>
            </a:r>
            <a:endParaRPr lang="en-US" sz="10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7B6791D8-94F5-1531-C5C3-013D563DC247}"/>
              </a:ext>
            </a:extLst>
          </p:cNvPr>
          <p:cNvSpPr/>
          <p:nvPr/>
        </p:nvSpPr>
        <p:spPr>
          <a:xfrm>
            <a:off x="594360" y="381304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 of accounts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C37FD433-CABC-A0BD-8AF7-9E031C5E20D9}"/>
              </a:ext>
            </a:extLst>
          </p:cNvPr>
          <p:cNvSpPr/>
          <p:nvPr/>
        </p:nvSpPr>
        <p:spPr>
          <a:xfrm>
            <a:off x="2743200" y="36301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escalation + sprint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9" name="Shape 19">
            <a:extLst>
              <a:ext uri="{FF2B5EF4-FFF2-40B4-BE49-F238E27FC236}">
                <a16:creationId xmlns:a16="http://schemas.microsoft.com/office/drawing/2014/main" id="{B86F5E76-2463-31C7-7FE6-6A63200C9D16}"/>
              </a:ext>
            </a:extLst>
          </p:cNvPr>
          <p:cNvSpPr/>
          <p:nvPr/>
        </p:nvSpPr>
        <p:spPr>
          <a:xfrm>
            <a:off x="4663440" y="987552"/>
            <a:ext cx="4023360" cy="4064508"/>
          </a:xfrm>
          <a:prstGeom prst="roundRect">
            <a:avLst>
              <a:gd name="adj" fmla="val 3000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50E3899D-C8FE-DA25-DE9F-D334BC1265F7}"/>
              </a:ext>
            </a:extLst>
          </p:cNvPr>
          <p:cNvSpPr/>
          <p:nvPr/>
        </p:nvSpPr>
        <p:spPr>
          <a:xfrm>
            <a:off x="4800600" y="10789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Automated Tests — ALL PASS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6EAE1940-552A-D123-4C58-0464599D5258}"/>
              </a:ext>
            </a:extLst>
          </p:cNvPr>
          <p:cNvSpPr/>
          <p:nvPr/>
        </p:nvSpPr>
        <p:spPr>
          <a:xfrm>
            <a:off x="4800600" y="148132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Gate Tests</a:t>
            </a:r>
            <a:endParaRPr lang="en-US" sz="10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E83E7768-0B2A-B67B-52DD-6C293EFAF593}"/>
              </a:ext>
            </a:extLst>
          </p:cNvPr>
          <p:cNvSpPr/>
          <p:nvPr/>
        </p:nvSpPr>
        <p:spPr>
          <a:xfrm>
            <a:off x="4892040" y="172821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orphaned logs in clean view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64AFF604-3576-7950-F1BC-48780ADB2B50}"/>
              </a:ext>
            </a:extLst>
          </p:cNvPr>
          <p:cNvSpPr/>
          <p:nvPr/>
        </p:nvSpPr>
        <p:spPr>
          <a:xfrm>
            <a:off x="4892040" y="194767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rogue dates in clean view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E37F6BBA-E004-DFB3-E655-67EDC1DA8BE9}"/>
              </a:ext>
            </a:extLst>
          </p:cNvPr>
          <p:cNvSpPr/>
          <p:nvPr/>
        </p:nvSpPr>
        <p:spPr>
          <a:xfrm>
            <a:off x="4892040" y="216712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flagged rows in dq_report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5" name="Text 25">
            <a:extLst>
              <a:ext uri="{FF2B5EF4-FFF2-40B4-BE49-F238E27FC236}">
                <a16:creationId xmlns:a16="http://schemas.microsoft.com/office/drawing/2014/main" id="{948D41C0-A472-62DE-455D-754359323D93}"/>
              </a:ext>
            </a:extLst>
          </p:cNvPr>
          <p:cNvSpPr/>
          <p:nvPr/>
        </p:nvSpPr>
        <p:spPr>
          <a:xfrm>
            <a:off x="4892040" y="238658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negative consumption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8A6024CA-6A90-E266-5E39-A99649E365EE}"/>
              </a:ext>
            </a:extLst>
          </p:cNvPr>
          <p:cNvSpPr/>
          <p:nvPr/>
        </p:nvSpPr>
        <p:spPr>
          <a:xfrm>
            <a:off x="4800600" y="266090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Tests</a:t>
            </a:r>
            <a:endParaRPr lang="en-US" sz="10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586494C2-A70A-3A7A-A8BE-BC5B5D5F67B3}"/>
              </a:ext>
            </a:extLst>
          </p:cNvPr>
          <p:cNvSpPr/>
          <p:nvPr/>
        </p:nvSpPr>
        <p:spPr>
          <a:xfrm>
            <a:off x="4892040" y="290779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score ≤ 1.0 always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DDCCA030-FBA4-5917-D598-3E621B3A9736}"/>
              </a:ext>
            </a:extLst>
          </p:cNvPr>
          <p:cNvSpPr/>
          <p:nvPr/>
        </p:nvSpPr>
        <p:spPr>
          <a:xfrm>
            <a:off x="4892040" y="31272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ARR ≤ Contracted ARR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9" name="Text 29">
            <a:extLst>
              <a:ext uri="{FF2B5EF4-FFF2-40B4-BE49-F238E27FC236}">
                <a16:creationId xmlns:a16="http://schemas.microsoft.com/office/drawing/2014/main" id="{104076C6-5EF6-7FEB-226D-51F8C1F5B721}"/>
              </a:ext>
            </a:extLst>
          </p:cNvPr>
          <p:cNvSpPr/>
          <p:nvPr/>
        </p:nvSpPr>
        <p:spPr>
          <a:xfrm>
            <a:off x="4892040" y="334670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PRS = 0.00 exactly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0" name="Text 30">
            <a:extLst>
              <a:ext uri="{FF2B5EF4-FFF2-40B4-BE49-F238E27FC236}">
                <a16:creationId xmlns:a16="http://schemas.microsoft.com/office/drawing/2014/main" id="{79A34D35-3649-7CCF-6B8B-74B743F35092}"/>
              </a:ext>
            </a:extLst>
          </p:cNvPr>
          <p:cNvSpPr/>
          <p:nvPr/>
        </p:nvSpPr>
        <p:spPr>
          <a:xfrm>
            <a:off x="4892040" y="356616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PRS weighted correctly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1" name="Text 31">
            <a:extLst>
              <a:ext uri="{FF2B5EF4-FFF2-40B4-BE49-F238E27FC236}">
                <a16:creationId xmlns:a16="http://schemas.microsoft.com/office/drawing/2014/main" id="{7D943A8A-C5B0-20DB-CE7A-64FC23091EAA}"/>
              </a:ext>
            </a:extLst>
          </p:cNvPr>
          <p:cNvSpPr/>
          <p:nvPr/>
        </p:nvSpPr>
        <p:spPr>
          <a:xfrm>
            <a:off x="4800600" y="384048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Tests</a:t>
            </a:r>
            <a:endParaRPr lang="en-US" sz="1000" dirty="0"/>
          </a:p>
        </p:txBody>
      </p:sp>
      <p:sp>
        <p:nvSpPr>
          <p:cNvPr id="52" name="Text 32">
            <a:extLst>
              <a:ext uri="{FF2B5EF4-FFF2-40B4-BE49-F238E27FC236}">
                <a16:creationId xmlns:a16="http://schemas.microsoft.com/office/drawing/2014/main" id="{199E73EE-7B06-8F85-3760-44EF20D0788D}"/>
              </a:ext>
            </a:extLst>
          </p:cNvPr>
          <p:cNvSpPr/>
          <p:nvPr/>
        </p:nvSpPr>
        <p:spPr>
          <a:xfrm>
            <a:off x="4892040" y="408736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→ zero realized ARR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3" name="Text 33">
            <a:extLst>
              <a:ext uri="{FF2B5EF4-FFF2-40B4-BE49-F238E27FC236}">
                <a16:creationId xmlns:a16="http://schemas.microsoft.com/office/drawing/2014/main" id="{8DE3CBCA-ED68-E72B-08AB-88354D6D3A53}"/>
              </a:ext>
            </a:extLst>
          </p:cNvPr>
          <p:cNvSpPr/>
          <p:nvPr/>
        </p:nvSpPr>
        <p:spPr>
          <a:xfrm>
            <a:off x="4892040" y="430682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Spike-drop → Orange/Red band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4" name="Text 34">
            <a:extLst>
              <a:ext uri="{FF2B5EF4-FFF2-40B4-BE49-F238E27FC236}">
                <a16:creationId xmlns:a16="http://schemas.microsoft.com/office/drawing/2014/main" id="{30954573-3BE0-C5C7-BB19-4EAC088AE1AE}"/>
              </a:ext>
            </a:extLst>
          </p:cNvPr>
          <p:cNvSpPr/>
          <p:nvPr/>
        </p:nvSpPr>
        <p:spPr>
          <a:xfrm>
            <a:off x="4892040" y="45262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Overagers → flag_overage = TRUE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5" name="Text 35">
            <a:extLst>
              <a:ext uri="{FF2B5EF4-FFF2-40B4-BE49-F238E27FC236}">
                <a16:creationId xmlns:a16="http://schemas.microsoft.com/office/drawing/2014/main" id="{5205FFA7-7F0D-7B77-EC95-E46634A8830E}"/>
              </a:ext>
            </a:extLst>
          </p:cNvPr>
          <p:cNvSpPr/>
          <p:nvPr/>
        </p:nvSpPr>
        <p:spPr>
          <a:xfrm>
            <a:off x="4892040" y="474573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Mid-year → no double-count ARR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56" name="Text 0">
            <a:extLst>
              <a:ext uri="{FF2B5EF4-FFF2-40B4-BE49-F238E27FC236}">
                <a16:creationId xmlns:a16="http://schemas.microsoft.com/office/drawing/2014/main" id="{3063B245-B3F8-1DCC-8666-3A9CD9C6715C}"/>
              </a:ext>
            </a:extLst>
          </p:cNvPr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Framework &amp; Results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7" name="Text 2">
            <a:extLst>
              <a:ext uri="{FF2B5EF4-FFF2-40B4-BE49-F238E27FC236}">
                <a16:creationId xmlns:a16="http://schemas.microsoft.com/office/drawing/2014/main" id="{4CD447BB-39E7-4A93-4A0E-2130D180DF07}"/>
              </a:ext>
            </a:extLst>
          </p:cNvPr>
          <p:cNvSpPr/>
          <p:nvPr/>
        </p:nvSpPr>
        <p:spPr>
          <a:xfrm>
            <a:off x="500287" y="97670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Health Bands → CSM Action Triggers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089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 — Streamlit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account health view · Built with Claude Code · Connected to BigQuery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8311896" cy="3648456"/>
          </a:xfrm>
          <a:prstGeom prst="roundRect">
            <a:avLst>
              <a:gd name="adj" fmla="val 3896"/>
            </a:avLst>
          </a:prstGeom>
          <a:solidFill>
            <a:srgbClr val="0D1F3C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438912"/>
          </a:xfrm>
          <a:prstGeom prst="roundRect">
            <a:avLst>
              <a:gd name="adj" fmla="val 31250"/>
            </a:avLst>
          </a:prstGeom>
          <a:solidFill>
            <a:srgbClr val="0D213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65275"/>
            <a:ext cx="2263515" cy="11607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  GCS Account Health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North Star Dashboard  | 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Month: Dec 2024  |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Region: All  |  Segment: All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663440"/>
            <a:ext cx="8229600" cy="347472"/>
          </a:xfrm>
          <a:prstGeom prst="roundRect">
            <a:avLst>
              <a:gd name="adj" fmla="val 21053"/>
            </a:avLst>
          </a:prstGeom>
          <a:solidFill>
            <a:srgbClr val="00C9B1">
              <a:alpha val="1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4690872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Live at: dbhagatnsdemo.streamlit.app  ·  Code: github.com/DharmeshBhagat/panw-gcs-northstar</a:t>
            </a:r>
            <a:endParaRPr lang="en-US" sz="1100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763245B-E82B-D145-E736-F1462C5FAD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023" y="1135603"/>
            <a:ext cx="5673777" cy="335235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28CDEBB9-63C1-DFCC-EFB1-C4E15EEE147D}"/>
              </a:ext>
            </a:extLst>
          </p:cNvPr>
          <p:cNvSpPr/>
          <p:nvPr/>
        </p:nvSpPr>
        <p:spPr>
          <a:xfrm>
            <a:off x="661392" y="2591498"/>
            <a:ext cx="1931729" cy="440564"/>
          </a:xfrm>
          <a:prstGeom prst="roundRect">
            <a:avLst>
              <a:gd name="adj" fmla="val 11429"/>
            </a:avLst>
          </a:prstGeom>
          <a:solidFill>
            <a:srgbClr val="E6F7F2"/>
          </a:solidFill>
          <a:ln/>
          <a:effectLst>
            <a:outerShdw blurRad="381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r>
              <a:rPr lang="en-US" dirty="0">
                <a:hlinkClick r:id="rId4"/>
              </a:rPr>
              <a:t>Demo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Retrospective: If I Did This Again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0C9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hard truths + what the next-gen tech stack unlocks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Truths Learned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144475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78992" y="14447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cross-platform data cleanup in parallel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78992" y="1719072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sequence PRS v1 → v2. Clean platform entitlement data Week 1, so Phase 2 is a formula change, not a data project.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24942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24942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POC-to-Prod tenant mapping is Day 1 work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2523744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late: healthy accounts look like shelfware when usage logs point to the POC tenant, not production. Invert the signal before you show it to anyone.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999232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6928" y="305409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8992" y="305409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Exhaustion Alert is 30 lines of SQL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78992" y="3328416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on credit burn rate fires 30 days before an account goes dark. Cost: 2 hours. Cost of not building it: surprise renewal conversation.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80390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6928" y="385876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8992" y="385876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metric itself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78992" y="4133088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csm_action_log. Measure whether CSM interventions on flagged accounts improve PRS in 60 days. Without this, the feedback loop exists in theory only.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Today's Tech Stack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663440" y="138988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73168" y="1444752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Agentic Workflows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64024" y="1664208"/>
            <a:ext cx="3822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Agents that autonomously flag at-risk accounts, draft CSM intervention emails, and schedule QBR prep.</a:t>
            </a:r>
            <a:r>
              <a:rPr lang="en-US" sz="850" dirty="0">
                <a:solidFill>
                  <a:srgbClr val="8FB3CC"/>
                </a:solidFill>
                <a:latin typeface="Calibri" pitchFamily="34" charset="0"/>
                <a:cs typeface="Calibri" pitchFamily="34" charset="-120"/>
              </a:rPr>
              <a:t> </a:t>
            </a:r>
          </a:p>
          <a:p>
            <a:r>
              <a:rPr lang="en-US" sz="850" dirty="0">
                <a:solidFill>
                  <a:srgbClr val="8FB3CC"/>
                </a:solidFill>
                <a:latin typeface="Calibri" pitchFamily="34" charset="0"/>
                <a:cs typeface="Calibri" pitchFamily="34" charset="-120"/>
              </a:rPr>
              <a:t>Agent drafts. Human approves. System logs the action.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19456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73168" y="2249424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Real-time Streaming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73168" y="2523744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batch BigQuery runs with Pub/Sub + Dataflow for sub-hour Realized ARR updates. PRS degrades in real-time when telemetry goes dark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2999232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73168" y="3054096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Predictive PRS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73168" y="3328416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or XGBoost on 12-month PRS sequences predicts which accounts will drop a band 45 days in advance — before the CSM's gut feel fires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380390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73168" y="3858768"/>
            <a:ext cx="3822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Phase 2: Platform Breadth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3168" y="4133088"/>
            <a:ext cx="38221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Option 2 adds Platform Breadth (25% weight). Cross-platform entitlement data is the unlock — 8× ARR multiplier when customers activate 3 platforms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3474720"/>
            <a:ext cx="9692640" cy="2743200"/>
          </a:xfrm>
          <a:prstGeom prst="roundRect">
            <a:avLst/>
          </a:prstGeom>
          <a:solidFill>
            <a:srgbClr val="00C9B1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00C9B1"/>
                </a:solidFill>
                <a:latin typeface="Cambria" pitchFamily="34" charset="0"/>
              </a:rPr>
              <a:t>The Ask &amp; Summary</a:t>
            </a:r>
            <a:endParaRPr lang="en-US" sz="2000" b="1" dirty="0">
              <a:solidFill>
                <a:srgbClr val="00C9B1"/>
              </a:solidFill>
              <a:latin typeface="Cambria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built this as a post-sales decision system,  not a metric, not a dashboard.</a:t>
            </a:r>
            <a:endParaRPr lang="en-US" sz="14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goal: help GCS identify where customer value is being realized,</a:t>
            </a:r>
            <a:endParaRPr lang="en-US" sz="14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ARR is at risk, and where CS, Support, PS, and GTM teams should act.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91106"/>
            <a:ext cx="2670048" cy="96012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64258"/>
            <a:ext cx="2670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521458"/>
            <a:ext cx="267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in pipeline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55848" y="1991106"/>
            <a:ext cx="2670048" cy="96012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5848" y="2064258"/>
            <a:ext cx="2670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55848" y="2521458"/>
            <a:ext cx="267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log rows generated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54496" y="1991106"/>
            <a:ext cx="2670048" cy="960120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54496" y="2064258"/>
            <a:ext cx="2670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B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54496" y="2521458"/>
            <a:ext cx="267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0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4289EBA9-6DD7-29F2-E066-9316A7B96DF6}"/>
              </a:ext>
            </a:extLst>
          </p:cNvPr>
          <p:cNvSpPr/>
          <p:nvPr/>
        </p:nvSpPr>
        <p:spPr>
          <a:xfrm>
            <a:off x="566928" y="3474720"/>
            <a:ext cx="2670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ask: </a:t>
            </a:r>
            <a:endParaRPr lang="en-US" sz="1300" dirty="0"/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1E05A967-1BCF-DFF8-FAAE-318E77649755}"/>
              </a:ext>
            </a:extLst>
          </p:cNvPr>
          <p:cNvSpPr/>
          <p:nvPr/>
        </p:nvSpPr>
        <p:spPr>
          <a:xfrm>
            <a:off x="219456" y="3518573"/>
            <a:ext cx="394702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Approve Realized ARR as a shadow North Star metric</a:t>
            </a:r>
            <a:b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Run alongside TCV / ARR for one quarter. </a:t>
            </a:r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Pilot in 1–2 regions: Weekly CSM review, monthly regional review, exception tracking. </a:t>
            </a:r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000" dirty="0">
                <a:solidFill>
                  <a:srgbClr val="E8F4F8"/>
                </a:solidFill>
                <a:latin typeface="Calibri" pitchFamily="34" charset="0"/>
                <a:cs typeface="Calibri" pitchFamily="34" charset="-120"/>
              </a:rPr>
              <a:t>Assign production data owners: Support tickets, telemetry, contracts, account hierarchy, lifecycle stage. </a:t>
            </a:r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B51807EE-2D4F-D22B-02D5-A1C5923F6C43}"/>
              </a:ext>
            </a:extLst>
          </p:cNvPr>
          <p:cNvSpPr/>
          <p:nvPr/>
        </p:nvSpPr>
        <p:spPr>
          <a:xfrm>
            <a:off x="6620719" y="3611880"/>
            <a:ext cx="1937601" cy="1330907"/>
          </a:xfrm>
          <a:prstGeom prst="roundRect">
            <a:avLst>
              <a:gd name="adj" fmla="val 11429"/>
            </a:avLst>
          </a:prstGeom>
          <a:solidFill>
            <a:srgbClr val="152642"/>
          </a:solidFill>
          <a:ln/>
          <a:effectLst>
            <a:outerShdw blurRad="101600" dist="38100" dir="27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 sz="250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1F85B6B0-2D50-14D8-F633-F056A9434E61}"/>
              </a:ext>
            </a:extLst>
          </p:cNvPr>
          <p:cNvSpPr/>
          <p:nvPr/>
        </p:nvSpPr>
        <p:spPr>
          <a:xfrm>
            <a:off x="6254495" y="3825329"/>
            <a:ext cx="2670048" cy="137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45000"/>
              </a:lnSpc>
              <a:buSzPct val="100000"/>
            </a:pPr>
            <a:r>
              <a:rPr lang="en-US" sz="1500" b="1" dirty="0">
                <a:solidFill>
                  <a:srgbClr val="00C9B1"/>
                </a:solidFill>
                <a:latin typeface="Cambria" pitchFamily="34" charset="0"/>
              </a:rPr>
              <a:t>Measure first .</a:t>
            </a:r>
          </a:p>
          <a:p>
            <a:pPr algn="ctr">
              <a:lnSpc>
                <a:spcPct val="145000"/>
              </a:lnSpc>
              <a:buSzPct val="100000"/>
            </a:pPr>
            <a:r>
              <a:rPr lang="en-US" sz="1500" b="1" dirty="0">
                <a:solidFill>
                  <a:srgbClr val="00C9B1"/>
                </a:solidFill>
                <a:latin typeface="Cambria" pitchFamily="34" charset="0"/>
              </a:rPr>
              <a:t>Validate behavior. </a:t>
            </a:r>
          </a:p>
          <a:p>
            <a:pPr algn="ctr">
              <a:lnSpc>
                <a:spcPct val="145000"/>
              </a:lnSpc>
              <a:buSzPct val="100000"/>
            </a:pPr>
            <a:r>
              <a:rPr lang="en-US" sz="1500" b="1" dirty="0">
                <a:solidFill>
                  <a:srgbClr val="00C9B1"/>
                </a:solidFill>
                <a:latin typeface="Cambria" pitchFamily="34" charset="0"/>
              </a:rPr>
              <a:t>Govern data. </a:t>
            </a:r>
          </a:p>
          <a:p>
            <a:pPr algn="ctr">
              <a:lnSpc>
                <a:spcPct val="145000"/>
              </a:lnSpc>
              <a:buSzPct val="100000"/>
            </a:pPr>
            <a:r>
              <a:rPr lang="en-US" sz="1500" b="1" dirty="0">
                <a:solidFill>
                  <a:srgbClr val="00C9B1"/>
                </a:solidFill>
                <a:latin typeface="Cambria" pitchFamily="34" charset="0"/>
              </a:rPr>
              <a:t>Then scale.</a:t>
            </a:r>
          </a:p>
          <a:p>
            <a:pPr marL="0" indent="0" algn="ctr">
              <a:buNone/>
            </a:pP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01480-271D-844E-7791-4D4C9B601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C86479E-5A18-51B0-4B83-B3943652C672}"/>
              </a:ext>
            </a:extLst>
          </p:cNvPr>
          <p:cNvSpPr/>
          <p:nvPr/>
        </p:nvSpPr>
        <p:spPr>
          <a:xfrm>
            <a:off x="3942860" y="2114550"/>
            <a:ext cx="1074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00C9B1"/>
                </a:solidFill>
                <a:latin typeface="Cambria" pitchFamily="34" charset="0"/>
              </a:rPr>
              <a:t>Q&amp;A </a:t>
            </a:r>
            <a:endParaRPr lang="en-US" sz="2000" b="1" dirty="0">
              <a:solidFill>
                <a:srgbClr val="00C9B1"/>
              </a:solidFill>
              <a:latin typeface="Cambri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5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A1628"/>
                </a:solidFill>
                <a:latin typeface="Cambria" pitchFamily="34" charset="0"/>
              </a:rPr>
              <a:t>Future GTM Alignment </a:t>
            </a:r>
            <a:r>
              <a:rPr lang="en-US" sz="1500" b="1" dirty="0">
                <a:solidFill>
                  <a:srgbClr val="0A1628"/>
                </a:solidFill>
                <a:latin typeface="Cambria" pitchFamily="34" charset="0"/>
              </a:rPr>
              <a:t>(not Phase 1 compensation design)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metric that aligns CS, Support, PS, Sales, and Finance around a shared commercial outcome (</a:t>
            </a:r>
            <a:r>
              <a:rPr lang="en-US" sz="1250" b="1" i="1" dirty="0">
                <a:solidFill>
                  <a:srgbClr val="00A896"/>
                </a:solidFill>
                <a:latin typeface="Calibri" pitchFamily="34" charset="0"/>
                <a:cs typeface="Calibri" pitchFamily="34" charset="-120"/>
              </a:rPr>
              <a:t>Future Incentive Design</a:t>
            </a:r>
            <a:r>
              <a:rPr lang="en-US" sz="1250" i="1" dirty="0">
                <a:solidFill>
                  <a:srgbClr val="00A896"/>
                </a:solidFill>
                <a:latin typeface="Calibri" pitchFamily="34" charset="0"/>
                <a:cs typeface="Calibri" pitchFamily="34" charset="-120"/>
              </a:rPr>
              <a:t>)</a:t>
            </a:r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6052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143000"/>
            <a:ext cx="3886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cs typeface="Calibri" pitchFamily="34" charset="-120"/>
              </a:rPr>
              <a:t>Illustrative</a:t>
            </a:r>
            <a:r>
              <a:rPr lang="en-US" sz="1400" dirty="0"/>
              <a:t> </a:t>
            </a: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cs typeface="Calibri" pitchFamily="34" charset="-120"/>
              </a:rPr>
              <a:t>Future Incentive Design (not Phase 1)</a:t>
            </a:r>
          </a:p>
        </p:txBody>
      </p:sp>
      <p:sp>
        <p:nvSpPr>
          <p:cNvPr id="6" name="Text 4"/>
          <p:cNvSpPr/>
          <p:nvPr/>
        </p:nvSpPr>
        <p:spPr>
          <a:xfrm>
            <a:off x="594360" y="1435608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CS Leaders Roundtable · June 2025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94360" y="1755648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/>
          <a:effectLst>
            <a:outerShdw blurRad="38100" dist="127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828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A16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181051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Commission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71600" y="206654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contracted ARR at signing — maintains sales momentum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" y="2578608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/>
          <a:effectLst>
            <a:outerShdw blurRad="38100" dist="127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65176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71600" y="2633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eARR Milestone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371600" y="288950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hits 80% PRS within 180 days — requires CS+PS+Sales collaboration by design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/>
          <a:effectLst>
            <a:outerShdw blurRad="38100" dist="127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47472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45643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71600" y="371246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 → new committed ARR — Expansion Cannibalization Rate prevents ghost revenue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5800" y="452628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900" b="1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r>
              <a:rPr lang="en-US" sz="900" i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Hard expansion quotas on CSMs cause lead hoarding. The 40/35/25 structure makes CS/Sales collaboration a prerequisite, not a choice.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05156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blurRad="635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92040" y="114300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Team Gets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15087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/ CSM: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035040" y="150876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Dollar-denominated tier tells exactly where to deploy capacity — no subjective gut feel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19933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1993392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 component connects P1/P2 ticket volume directly to account health band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247802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/ Deploy: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035040" y="247802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Orange/Red accounts surface as immediate deployment sprint candidates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9626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/ SC: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035040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Overage accounts = expansion pipeline. Overagers are your best expansion targets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92040" y="344728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4472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ARR vs Contracted ARR gap = revenue risk reserve calculation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9204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 / VP: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035040" y="39319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PRS% is a board-level number — $665K unrealized in banking segment</a:t>
            </a:r>
            <a:endParaRPr lang="en-US" sz="850" dirty="0"/>
          </a:p>
        </p:txBody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711F613A-1D22-A1AC-1E09-34274B5BC297}"/>
              </a:ext>
            </a:extLst>
          </p:cNvPr>
          <p:cNvSpPr/>
          <p:nvPr/>
        </p:nvSpPr>
        <p:spPr>
          <a:xfrm>
            <a:off x="4754880" y="453857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D85A30"/>
                </a:solidFill>
                <a:latin typeface="Calibri" pitchFamily="34" charset="0"/>
                <a:cs typeface="Calibri" pitchFamily="34" charset="-120"/>
              </a:rPr>
              <a:t>⚠  </a:t>
            </a:r>
            <a:r>
              <a:rPr lang="en-US" sz="900" b="1" i="1" dirty="0">
                <a:solidFill>
                  <a:srgbClr val="D85A30"/>
                </a:solidFill>
                <a:latin typeface="Calibri" pitchFamily="34" charset="0"/>
                <a:cs typeface="Calibri" pitchFamily="34" charset="-120"/>
              </a:rPr>
              <a:t>Note</a:t>
            </a:r>
            <a:r>
              <a:rPr lang="en-US" sz="900" i="1" dirty="0">
                <a:solidFill>
                  <a:srgbClr val="D85A30"/>
                </a:solidFill>
                <a:latin typeface="Calibri" pitchFamily="34" charset="0"/>
                <a:cs typeface="Calibri" pitchFamily="34" charset="-120"/>
              </a:rPr>
              <a:t>: Not recommended until PRS is back-tested against renewal, expansion, support, and deployment outcomes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96C14-2A3E-FD26-8877-FC0D0EE54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5C19553-F94F-726B-439F-9EA2AF1E7320}"/>
              </a:ext>
            </a:extLst>
          </p:cNvPr>
          <p:cNvSpPr/>
          <p:nvPr/>
        </p:nvSpPr>
        <p:spPr>
          <a:xfrm>
            <a:off x="457200" y="256032"/>
            <a:ext cx="3466123" cy="19088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A1628"/>
                </a:solidFill>
                <a:latin typeface="Cambria" pitchFamily="34" charset="0"/>
              </a:rPr>
              <a:t>Why choose Realized ARR metric</a:t>
            </a:r>
            <a:endParaRPr lang="en-US" sz="15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D5A788E-CF0D-E5C2-0EAD-E41BE4327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225" y="0"/>
            <a:ext cx="4909917" cy="51435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F1DD2BD-DC9A-902B-128B-0236DACAE374}"/>
              </a:ext>
            </a:extLst>
          </p:cNvPr>
          <p:cNvSpPr txBox="1"/>
          <p:nvPr/>
        </p:nvSpPr>
        <p:spPr>
          <a:xfrm>
            <a:off x="457200" y="2076365"/>
            <a:ext cx="27254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Detailed explanation found</a:t>
            </a:r>
          </a:p>
          <a:p>
            <a:r>
              <a:rPr lang="en-US" dirty="0"/>
              <a:t>In BRD Section 6 </a:t>
            </a:r>
            <a:r>
              <a:rPr lang="en-US" dirty="0">
                <a:hlinkClick r:id="rId4"/>
              </a:rPr>
              <a:t>Link</a:t>
            </a:r>
            <a:r>
              <a:rPr lang="en-US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B9DF2-A59B-5170-3F96-89DE0EB62AC0}"/>
              </a:ext>
            </a:extLst>
          </p:cNvPr>
          <p:cNvSpPr txBox="1"/>
          <p:nvPr/>
        </p:nvSpPr>
        <p:spPr>
          <a:xfrm>
            <a:off x="457200" y="3108032"/>
            <a:ext cx="28053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PANW’s </a:t>
            </a:r>
            <a:r>
              <a:rPr lang="en-US" dirty="0" err="1"/>
              <a:t>platformization</a:t>
            </a:r>
            <a:r>
              <a:rPr lang="en-US" dirty="0"/>
              <a:t> strategy creates the need for post-sales realization intelligence — Realized ARR is my proposal for that operating layer.</a:t>
            </a:r>
          </a:p>
        </p:txBody>
      </p:sp>
    </p:spTree>
    <p:extLst>
      <p:ext uri="{BB962C8B-B14F-4D97-AF65-F5344CB8AC3E}">
        <p14:creationId xmlns:p14="http://schemas.microsoft.com/office/powerpoint/2010/main" val="3264979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7A1131-6C60-793D-CEE3-2C8547D3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D659118-A6B6-784B-8735-2EE44CC60EE4}"/>
              </a:ext>
            </a:extLst>
          </p:cNvPr>
          <p:cNvSpPr/>
          <p:nvPr/>
        </p:nvSpPr>
        <p:spPr>
          <a:xfrm>
            <a:off x="457200" y="256032"/>
            <a:ext cx="3466123" cy="19088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A1628"/>
                </a:solidFill>
                <a:latin typeface="Cambria" pitchFamily="34" charset="0"/>
              </a:rPr>
              <a:t>Why choose PRS?</a:t>
            </a:r>
            <a:endParaRPr lang="en-US" sz="15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FCC452-6C4C-1D96-DE0D-6B6741DA7260}"/>
              </a:ext>
            </a:extLst>
          </p:cNvPr>
          <p:cNvSpPr txBox="1"/>
          <p:nvPr/>
        </p:nvSpPr>
        <p:spPr>
          <a:xfrm>
            <a:off x="593969" y="1518531"/>
            <a:ext cx="27254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Detailed explanation found</a:t>
            </a:r>
          </a:p>
          <a:p>
            <a:r>
              <a:rPr lang="en-US" dirty="0"/>
              <a:t>In BRD Section 8 </a:t>
            </a:r>
            <a:r>
              <a:rPr lang="en-US" dirty="0">
                <a:hlinkClick r:id="rId3"/>
              </a:rPr>
              <a:t>Link</a:t>
            </a: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3FF101-AFAF-9FC2-69FB-EA9F8626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22" y="106213"/>
            <a:ext cx="5165969" cy="4931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A5DA06-5291-73A8-7364-2772886087A3}"/>
              </a:ext>
            </a:extLst>
          </p:cNvPr>
          <p:cNvSpPr txBox="1"/>
          <p:nvPr/>
        </p:nvSpPr>
        <p:spPr>
          <a:xfrm>
            <a:off x="414817" y="2314681"/>
            <a:ext cx="3151825" cy="24929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1200" b="1" dirty="0"/>
              <a:t>With current data info Choose PRS Option 1</a:t>
            </a:r>
          </a:p>
          <a:p>
            <a:r>
              <a:rPr lang="en-US" sz="1200" dirty="0"/>
              <a:t>PRS Weights – 40/30/20/10</a:t>
            </a:r>
          </a:p>
          <a:p>
            <a:r>
              <a:rPr lang="en-US" sz="1200" dirty="0"/>
              <a:t>Deployment Score (40%)</a:t>
            </a:r>
          </a:p>
          <a:p>
            <a:r>
              <a:rPr lang="en-US" sz="1200" dirty="0"/>
              <a:t>  + Sustained Usage Score (30%)</a:t>
            </a:r>
          </a:p>
          <a:p>
            <a:r>
              <a:rPr lang="en-US" sz="1200" dirty="0"/>
              <a:t>  + Technical Health Score (20%)</a:t>
            </a:r>
          </a:p>
          <a:p>
            <a:r>
              <a:rPr lang="en-US" sz="1200" dirty="0"/>
              <a:t>  + Expansion Momentum (10%)</a:t>
            </a:r>
          </a:p>
          <a:p>
            <a:endParaRPr lang="en-US" sz="1200" dirty="0"/>
          </a:p>
          <a:p>
            <a:pPr marL="171450" indent="-171450">
              <a:buFont typeface="Wingdings" pitchFamily="2" charset="2"/>
              <a:buChar char="ü"/>
            </a:pPr>
            <a:r>
              <a:rPr lang="en-US" sz="1200" b="1" dirty="0"/>
              <a:t>With additional data Choose PRS Option 2</a:t>
            </a:r>
          </a:p>
          <a:p>
            <a:r>
              <a:rPr lang="en-US" sz="1200" dirty="0"/>
              <a:t>With </a:t>
            </a:r>
            <a:r>
              <a:rPr lang="en-US" sz="1200" dirty="0" err="1"/>
              <a:t>platformization</a:t>
            </a:r>
            <a:r>
              <a:rPr lang="en-US" sz="1200" dirty="0"/>
              <a:t> in consideration (Phase 2)</a:t>
            </a:r>
          </a:p>
          <a:p>
            <a:r>
              <a:rPr lang="en-US" sz="1200" dirty="0"/>
              <a:t>Coverage Depth (35%) </a:t>
            </a:r>
          </a:p>
          <a:p>
            <a:r>
              <a:rPr lang="en-US" sz="1200" dirty="0"/>
              <a:t>+ Platform Breadth (25%)</a:t>
            </a:r>
          </a:p>
          <a:p>
            <a:r>
              <a:rPr lang="en-US" sz="1200" dirty="0"/>
              <a:t> + Security Outcome (25%) </a:t>
            </a:r>
          </a:p>
          <a:p>
            <a:r>
              <a:rPr lang="en-US" sz="1200" dirty="0"/>
              <a:t>+ Momentum (15%)</a:t>
            </a:r>
          </a:p>
        </p:txBody>
      </p:sp>
    </p:spTree>
    <p:extLst>
      <p:ext uri="{BB962C8B-B14F-4D97-AF65-F5344CB8AC3E}">
        <p14:creationId xmlns:p14="http://schemas.microsoft.com/office/powerpoint/2010/main" val="1309533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826F75-5CCC-E8E4-BCAF-B504278EB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EB873A-C005-D706-0EB4-A803AA767242}"/>
              </a:ext>
            </a:extLst>
          </p:cNvPr>
          <p:cNvSpPr/>
          <p:nvPr/>
        </p:nvSpPr>
        <p:spPr>
          <a:xfrm>
            <a:off x="472831" y="211014"/>
            <a:ext cx="5881077" cy="1039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0A1628"/>
                </a:solidFill>
                <a:latin typeface="Cambria" pitchFamily="34" charset="0"/>
              </a:rPr>
              <a:t>Why choose 40/30/20/10? </a:t>
            </a:r>
            <a:endParaRPr lang="en-US" sz="15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2B53B5-792A-1300-082E-7DFF19866C02}"/>
              </a:ext>
            </a:extLst>
          </p:cNvPr>
          <p:cNvSpPr txBox="1"/>
          <p:nvPr/>
        </p:nvSpPr>
        <p:spPr>
          <a:xfrm>
            <a:off x="472831" y="1135577"/>
            <a:ext cx="765907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My thought process </a:t>
            </a:r>
          </a:p>
          <a:p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Phase 1, we are deliberately choosing a deterministic framework over a statistical one for three strategic reasons: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Metrics Drive Field Behavior - Deploy first, sustain second, resolve tickets third, grow fourth.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Avoiding Legacy Data Over-fitting - Training an ML model on bad historical data simply automates past blind spots.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Weights are the Dial – which can and will be changed with learnings and modeling </a:t>
            </a:r>
          </a:p>
          <a:p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Phase 1 is about validating the </a:t>
            </a:r>
            <a:r>
              <a:rPr lang="en-US" sz="1200" i="1" dirty="0">
                <a:latin typeface="Calibri" panose="020F0502020204030204" pitchFamily="34" charset="0"/>
                <a:cs typeface="Calibri" panose="020F0502020204030204" pitchFamily="34" charset="0"/>
              </a:rPr>
              <a:t>pipeline and the components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. Once the data contract is stable, 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Phase 2 is exactly where we use empirical renewal and churn data to back-test, calibrate, and fine-tune these weights. We start deterministic to drive cultural alignment, and we evolve to statistical to optimize precision.</a:t>
            </a:r>
          </a:p>
          <a:p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Trade-off is Operational Governance vs. Statistical Over-fitting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The "Napkin Test" for Field Trust: To drive cultural change across Sales, CS, and Support, the metric must be transparent and legible. If scores fluctuate due to black-box algorithmic shifts, the field loses trust and abandons the playbook.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The Legacy Data Trap: Training a Machine Learning model on historical Palo Alto Networks data would over-fit the algorithm to legacy, non-consumption-based renewal behaviors, institutionalizing past blind spots.</a:t>
            </a:r>
          </a:p>
          <a:p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197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</TotalTime>
  <Words>2495</Words>
  <Application>Microsoft Macintosh PowerPoint</Application>
  <PresentationFormat>On-screen Show (16:9)</PresentationFormat>
  <Paragraphs>348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GCS Account Health &amp; Realized ARR</dc:title>
  <dc:subject>PptxGenJS Presentation</dc:subject>
  <dc:creator>Dharmesh Bhagat</dc:creator>
  <cp:lastModifiedBy>Dharmesh Bhagat</cp:lastModifiedBy>
  <cp:revision>73</cp:revision>
  <dcterms:created xsi:type="dcterms:W3CDTF">2026-06-16T07:30:41Z</dcterms:created>
  <dcterms:modified xsi:type="dcterms:W3CDTF">2026-06-18T00:14:59Z</dcterms:modified>
</cp:coreProperties>
</file>