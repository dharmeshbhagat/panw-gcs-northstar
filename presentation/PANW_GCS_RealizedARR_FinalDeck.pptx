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7" r:id="rId8"/>
    <p:sldId id="263" r:id="rId9"/>
    <p:sldId id="265" r:id="rId10"/>
    <p:sldId id="266" r:id="rId11"/>
    <p:sldId id="264"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0242"/>
  </p:normalViewPr>
  <p:slideViewPr>
    <p:cSldViewPr snapToGrid="0" snapToObjects="1">
      <p:cViewPr varScale="1">
        <p:scale>
          <a:sx n="266" d="100"/>
          <a:sy n="266" d="100"/>
        </p:scale>
        <p:origin x="13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312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strong: 'I treated this as a post-sales decision system, not just a metric or dashboard.' Establish the $81M per-point anchor immediately — this is the most important credibility signal. Mention 8 years at Microsoft building post-sales analytics products before explaining the framework.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establishes PM credibility. Key talking point: 'I've built this exact pattern before at Microsoft — the Quality Hub reduced VP reporting from 5 days to 4 hours using the same multi-signal consolidation architecture.' Lead with the philosophy quote — it frames everything that follows.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CS VP: frame shelfware as 'toxic ARR' — accounts that close at full TCV but never deploy are inherited by CS without any data. For the Analytics Lead: this is the measurement gap we are closing with a mathematically consistent pipeline. For the SC: data ingestion stalls are the primary friction — a customer who can't deploy is a customer who can't realize security efficacy.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heart of the presentation. Key talking points: (1) The 40% weight on Deployment is not arbitrary — data ingestion is the engine of security value at PANW. (2) The shelfware hard-floor is the single most important design decision — every other framework allows shelfware to score above zero. (3) The MIN(1.0) cap on Deployment Score means overages don't hide in the composite — they get flagged separately for expansion signal.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talking points for the Analytics Lead: 'We did not start coding until 1,449 lines of Markdown specification were reviewed and approved.' Show the GitHub repo here. Walk through the MAX() overlap fix — 'if we blindly sum across overlapping contracts in BigQuery, we double-count ARR and distort every sales quota.' The DQ gate approach is the same architecture I used at Quality Hub at Microsoft.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'vibe coding' showcase slide. Do NOT show a wall of SQL. Frame each case through the lens of 'what goes wrong if we don't handle this.' The shelfware case: 'an un-deployed product means an unprotected attack surface — I built a hard floor that drops the entire score to zero. No partial credit.' The expansion case: 'This turns a billing risk into a pipeline generation tool for the field.'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7CEF7-5D5E-A071-07F7-57E1B29EE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6E8ED-83BD-E612-7705-DDCC42F7CE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06344-7FE8-86CF-A845-E4C5BE3CC056}"/>
              </a:ext>
            </a:extLst>
          </p:cNvPr>
          <p:cNvSpPr>
            <a:spLocks noGrp="1"/>
          </p:cNvSpPr>
          <p:nvPr>
            <p:ph type="body" idx="1"/>
          </p:nvPr>
        </p:nvSpPr>
        <p:spPr/>
        <p:txBody>
          <a:bodyPr/>
          <a:lstStyle/>
          <a:p>
            <a:r>
              <a:rPr lang="en-US" dirty="0"/>
              <a:t>This is your 'vibe coding' showcase slide. Do NOT show a wall of SQL. Frame each case through the lens of 'what goes wrong if we don't handle this.' The shelfware case: 'an un-deployed product means an unprotected attack surface — I built a hard floor that drops the entire score to zero. No partial credit.' The expansion case: 'This turns a billing risk into a pipeline generation tool for the field.'</a:t>
            </a:r>
          </a:p>
        </p:txBody>
      </p:sp>
      <p:sp>
        <p:nvSpPr>
          <p:cNvPr id="4" name="Slide Number Placeholder 3">
            <a:extLst>
              <a:ext uri="{FF2B5EF4-FFF2-40B4-BE49-F238E27FC236}">
                <a16:creationId xmlns:a16="http://schemas.microsoft.com/office/drawing/2014/main" id="{EA1617E0-F96F-6837-28C1-EB65B8C59A6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57078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MOMENT: Switch to the live Streamlit dashboard here. Walk through: (1) Portfolio page — show the $1.4B ARR at risk number. (2) Change month selector — show how everything updates. (3) Rep drilldown — show a shelfware account with $0 Realized ARR despite high contracted value. This is a production-aligned prototype: synthetic data, </a:t>
            </a:r>
            <a:r>
              <a:rPr lang="en-US" dirty="0" err="1"/>
              <a:t>BigQuery</a:t>
            </a:r>
            <a:r>
              <a:rPr lang="en-US" dirty="0"/>
              <a:t> pipeline, automated quality gates, and a live </a:t>
            </a:r>
            <a:r>
              <a:rPr lang="en-US" dirty="0" err="1"/>
              <a:t>Streamlit</a:t>
            </a:r>
            <a:r>
              <a:rPr lang="en-US" dirty="0"/>
              <a:t> dashboard.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intellectual honesty — the panel respects PMs who identify what they would do differently. Key talking point: 'Agentic workflows change the loop. Right now, the dashboard surfaces signals and CSMs act. With Claude Agents, Tier 2 alerts get auto-drafted intervention emails — the human approves, not discovers.' The Phase 2 note shows you understand the $15B NGS ARR goal runs through platform depth, not new logos.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core message stated plainly: 'I treated this as a post-sales decision system, not just a metric or dashboard.' Pause. Let it land. Then: 'The goal is to help GCS identify where customer value is being realized, where ARR is at risk, and where CS, Support, PS, and GTM teams should act.' End with the links — the panel should be able to click through to the live dashboard from their devices during Q&amp;A.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not recommending this comp model today. I included it to show how the metric could eventually inform GTM behavior after shadow validation</a:t>
            </a:r>
          </a:p>
          <a:p>
            <a:endParaRPr lang="en-US" dirty="0"/>
          </a:p>
          <a:p>
            <a:r>
              <a:rPr lang="en-US" dirty="0"/>
              <a:t>Critical talking point for the CS VP: 'Realized ARR is not a weapon to punish reps — it is a compass to guide them to expansion.' The compensation model was validated by external CS leaders who explicitly said hard expansion quotas cause lead hoarding. For the SC: the overage flag turns a billing risk into an upsell conversation — overagers are your best expansion pipeline. 'If everything is tied to a dollar value, people will own it.' — CS Leaders Roundtable, June 2025.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dbhagatnsdemo.streamlit.app/"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132320" y="-274320"/>
            <a:ext cx="2560320" cy="2560320"/>
          </a:xfrm>
          <a:prstGeom prst="roundRect">
            <a:avLst>
              <a:gd name="adj" fmla="val 14286"/>
            </a:avLst>
          </a:prstGeom>
          <a:solidFill>
            <a:srgbClr val="00C9B1">
              <a:alpha val="15000"/>
            </a:srgbClr>
          </a:solidFill>
          <a:ln w="6350">
            <a:solidFill>
              <a:srgbClr val="00C9B1">
                <a:alpha val="40000"/>
              </a:srgbClr>
            </a:solidFill>
            <a:prstDash val="solid"/>
          </a:ln>
        </p:spPr>
      </p:sp>
      <p:sp>
        <p:nvSpPr>
          <p:cNvPr id="3" name="Shape 1"/>
          <p:cNvSpPr/>
          <p:nvPr/>
        </p:nvSpPr>
        <p:spPr>
          <a:xfrm>
            <a:off x="7772400" y="274320"/>
            <a:ext cx="1828800" cy="1828800"/>
          </a:xfrm>
          <a:prstGeom prst="roundRect">
            <a:avLst>
              <a:gd name="adj" fmla="val 20000"/>
            </a:avLst>
          </a:prstGeom>
          <a:solidFill>
            <a:srgbClr val="00C9B1">
              <a:alpha val="22000"/>
            </a:srgbClr>
          </a:solidFill>
          <a:ln w="12700">
            <a:solidFill>
              <a:srgbClr val="000000">
                <a:alpha val="0"/>
              </a:srgbClr>
            </a:solidFill>
            <a:prstDash val="solid"/>
          </a:ln>
        </p:spPr>
      </p:sp>
      <p:sp>
        <p:nvSpPr>
          <p:cNvPr id="4" name="Text 2"/>
          <p:cNvSpPr/>
          <p:nvPr/>
        </p:nvSpPr>
        <p:spPr>
          <a:xfrm>
            <a:off x="502920" y="914400"/>
            <a:ext cx="8138160" cy="914400"/>
          </a:xfrm>
          <a:prstGeom prst="rect">
            <a:avLst/>
          </a:prstGeom>
          <a:noFill/>
          <a:ln/>
        </p:spPr>
        <p:txBody>
          <a:bodyPr wrap="square" rtlCol="0" anchor="ctr"/>
          <a:lstStyle/>
          <a:p>
            <a:pPr marL="0" indent="0" algn="l">
              <a:buNone/>
            </a:pPr>
            <a:r>
              <a:rPr lang="en-US" sz="3800" b="1" dirty="0">
                <a:solidFill>
                  <a:srgbClr val="FFFFFF"/>
                </a:solidFill>
                <a:latin typeface="Cambria" pitchFamily="34" charset="0"/>
                <a:ea typeface="Cambria" pitchFamily="34" charset="-122"/>
                <a:cs typeface="Cambria" pitchFamily="34" charset="-120"/>
              </a:rPr>
              <a:t>GCS Account Health &amp; Realized ARR</a:t>
            </a:r>
            <a:endParaRPr lang="en-US" sz="3800" dirty="0"/>
          </a:p>
        </p:txBody>
      </p:sp>
      <p:sp>
        <p:nvSpPr>
          <p:cNvPr id="5" name="Text 3"/>
          <p:cNvSpPr/>
          <p:nvPr/>
        </p:nvSpPr>
        <p:spPr>
          <a:xfrm>
            <a:off x="502920" y="1783080"/>
            <a:ext cx="8138160" cy="411480"/>
          </a:xfrm>
          <a:prstGeom prst="rect">
            <a:avLst/>
          </a:prstGeom>
          <a:noFill/>
          <a:ln/>
        </p:spPr>
        <p:txBody>
          <a:bodyPr wrap="square" rtlCol="0" anchor="ctr"/>
          <a:lstStyle/>
          <a:p>
            <a:pPr marL="0" indent="0" algn="l">
              <a:buNone/>
            </a:pPr>
            <a:r>
              <a:rPr lang="en-US" sz="2000" i="1" dirty="0">
                <a:solidFill>
                  <a:srgbClr val="00C9B1"/>
                </a:solidFill>
                <a:latin typeface="Calibri" pitchFamily="34" charset="0"/>
                <a:ea typeface="Calibri" pitchFamily="34" charset="-122"/>
                <a:cs typeface="Calibri" pitchFamily="34" charset="-120"/>
              </a:rPr>
              <a:t>A North Star Metric for the GCS Organization</a:t>
            </a:r>
            <a:endParaRPr lang="en-US" sz="2000" dirty="0"/>
          </a:p>
        </p:txBody>
      </p:sp>
      <p:sp>
        <p:nvSpPr>
          <p:cNvPr id="6" name="Shape 4"/>
          <p:cNvSpPr/>
          <p:nvPr/>
        </p:nvSpPr>
        <p:spPr>
          <a:xfrm>
            <a:off x="502920" y="2304288"/>
            <a:ext cx="8138160" cy="0"/>
          </a:xfrm>
          <a:prstGeom prst="line">
            <a:avLst/>
          </a:prstGeom>
          <a:noFill/>
          <a:ln w="19050">
            <a:solidFill>
              <a:srgbClr val="00C9B1"/>
            </a:solidFill>
            <a:prstDash val="solid"/>
          </a:ln>
        </p:spPr>
      </p:sp>
      <p:sp>
        <p:nvSpPr>
          <p:cNvPr id="7" name="Shape 5"/>
          <p:cNvSpPr/>
          <p:nvPr/>
        </p:nvSpPr>
        <p:spPr>
          <a:xfrm>
            <a:off x="502920" y="2487168"/>
            <a:ext cx="2560320" cy="1234440"/>
          </a:xfrm>
          <a:prstGeom prst="roundRect">
            <a:avLst>
              <a:gd name="adj" fmla="val 8889"/>
            </a:avLst>
          </a:prstGeom>
          <a:solidFill>
            <a:srgbClr val="152642"/>
          </a:solidFill>
          <a:ln/>
          <a:effectLst>
            <a:outerShdw blurRad="101600" dist="38100" dir="2700000" algn="bl" rotWithShape="0">
              <a:srgbClr val="000000">
                <a:alpha val="20000"/>
              </a:srgbClr>
            </a:outerShdw>
          </a:effectLst>
        </p:spPr>
      </p:sp>
      <p:sp>
        <p:nvSpPr>
          <p:cNvPr id="8" name="Text 6"/>
          <p:cNvSpPr/>
          <p:nvPr/>
        </p:nvSpPr>
        <p:spPr>
          <a:xfrm>
            <a:off x="640080" y="2651760"/>
            <a:ext cx="2286000" cy="594360"/>
          </a:xfrm>
          <a:prstGeom prst="rect">
            <a:avLst/>
          </a:prstGeom>
          <a:noFill/>
          <a:ln/>
        </p:spPr>
        <p:txBody>
          <a:bodyPr wrap="square" rtlCol="0" anchor="ctr"/>
          <a:lstStyle/>
          <a:p>
            <a:pPr marL="0" indent="0" algn="ctr">
              <a:buNone/>
            </a:pPr>
            <a:r>
              <a:rPr lang="en-US" sz="3400" b="1" dirty="0">
                <a:solidFill>
                  <a:srgbClr val="00C9B1"/>
                </a:solidFill>
                <a:latin typeface="Calibri" pitchFamily="34" charset="0"/>
                <a:ea typeface="Calibri" pitchFamily="34" charset="-122"/>
                <a:cs typeface="Calibri" pitchFamily="34" charset="-120"/>
              </a:rPr>
              <a:t>$8.1B</a:t>
            </a:r>
            <a:endParaRPr lang="en-US" sz="3400" dirty="0"/>
          </a:p>
        </p:txBody>
      </p:sp>
      <p:sp>
        <p:nvSpPr>
          <p:cNvPr id="9" name="Text 7"/>
          <p:cNvSpPr/>
          <p:nvPr/>
        </p:nvSpPr>
        <p:spPr>
          <a:xfrm>
            <a:off x="594360" y="3200400"/>
            <a:ext cx="237744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NGS ARR at Q3 FY26</a:t>
            </a:r>
            <a:endParaRPr lang="en-US" sz="1100" dirty="0"/>
          </a:p>
        </p:txBody>
      </p:sp>
      <p:sp>
        <p:nvSpPr>
          <p:cNvPr id="10" name="Text 8"/>
          <p:cNvSpPr/>
          <p:nvPr/>
        </p:nvSpPr>
        <p:spPr>
          <a:xfrm>
            <a:off x="594360" y="3447288"/>
            <a:ext cx="2377440" cy="201168"/>
          </a:xfrm>
          <a:prstGeom prst="rect">
            <a:avLst/>
          </a:prstGeom>
          <a:noFill/>
          <a:ln/>
        </p:spPr>
        <p:txBody>
          <a:bodyPr wrap="square" rtlCol="0" anchor="ctr"/>
          <a:lstStyle/>
          <a:p>
            <a:pPr marL="0" indent="0" algn="ctr">
              <a:buNone/>
            </a:pPr>
            <a:r>
              <a:rPr lang="en-US" sz="900" dirty="0">
                <a:solidFill>
                  <a:srgbClr val="8FB3CC"/>
                </a:solidFill>
                <a:latin typeface="Calibri" pitchFamily="34" charset="0"/>
                <a:ea typeface="Calibri" pitchFamily="34" charset="-122"/>
                <a:cs typeface="Calibri" pitchFamily="34" charset="-120"/>
              </a:rPr>
              <a:t>PANW Committed Base</a:t>
            </a:r>
            <a:endParaRPr lang="en-US" sz="900" dirty="0"/>
          </a:p>
        </p:txBody>
      </p:sp>
      <p:sp>
        <p:nvSpPr>
          <p:cNvPr id="11" name="Shape 9"/>
          <p:cNvSpPr/>
          <p:nvPr/>
        </p:nvSpPr>
        <p:spPr>
          <a:xfrm>
            <a:off x="3291840" y="2487168"/>
            <a:ext cx="2560320" cy="1234440"/>
          </a:xfrm>
          <a:prstGeom prst="roundRect">
            <a:avLst>
              <a:gd name="adj" fmla="val 8889"/>
            </a:avLst>
          </a:prstGeom>
          <a:solidFill>
            <a:srgbClr val="152642"/>
          </a:solidFill>
          <a:ln/>
          <a:effectLst>
            <a:outerShdw blurRad="101600" dist="38100" dir="2700000" algn="bl" rotWithShape="0">
              <a:srgbClr val="000000">
                <a:alpha val="20000"/>
              </a:srgbClr>
            </a:outerShdw>
          </a:effectLst>
        </p:spPr>
      </p:sp>
      <p:sp>
        <p:nvSpPr>
          <p:cNvPr id="12" name="Text 10"/>
          <p:cNvSpPr/>
          <p:nvPr/>
        </p:nvSpPr>
        <p:spPr>
          <a:xfrm>
            <a:off x="3429000" y="2651760"/>
            <a:ext cx="2286000" cy="594360"/>
          </a:xfrm>
          <a:prstGeom prst="rect">
            <a:avLst/>
          </a:prstGeom>
          <a:noFill/>
          <a:ln/>
        </p:spPr>
        <p:txBody>
          <a:bodyPr wrap="square" rtlCol="0" anchor="ctr"/>
          <a:lstStyle/>
          <a:p>
            <a:pPr marL="0" indent="0" algn="ctr">
              <a:buNone/>
            </a:pPr>
            <a:r>
              <a:rPr lang="en-US" sz="3400" b="1" dirty="0">
                <a:solidFill>
                  <a:srgbClr val="00C9B1"/>
                </a:solidFill>
                <a:latin typeface="Calibri" pitchFamily="34" charset="0"/>
                <a:ea typeface="Calibri" pitchFamily="34" charset="-122"/>
                <a:cs typeface="Calibri" pitchFamily="34" charset="-120"/>
              </a:rPr>
              <a:t>$81M</a:t>
            </a:r>
            <a:endParaRPr lang="en-US" sz="3400" dirty="0"/>
          </a:p>
        </p:txBody>
      </p:sp>
      <p:sp>
        <p:nvSpPr>
          <p:cNvPr id="13" name="Text 11"/>
          <p:cNvSpPr/>
          <p:nvPr/>
        </p:nvSpPr>
        <p:spPr>
          <a:xfrm>
            <a:off x="3383280" y="3200400"/>
            <a:ext cx="237744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Per 1-Point PRS Gain</a:t>
            </a:r>
            <a:endParaRPr lang="en-US" sz="1100" dirty="0"/>
          </a:p>
        </p:txBody>
      </p:sp>
      <p:sp>
        <p:nvSpPr>
          <p:cNvPr id="14" name="Text 12"/>
          <p:cNvSpPr/>
          <p:nvPr/>
        </p:nvSpPr>
        <p:spPr>
          <a:xfrm>
            <a:off x="3383280" y="3447288"/>
            <a:ext cx="2377440" cy="201168"/>
          </a:xfrm>
          <a:prstGeom prst="rect">
            <a:avLst/>
          </a:prstGeom>
          <a:noFill/>
          <a:ln/>
        </p:spPr>
        <p:txBody>
          <a:bodyPr wrap="square" rtlCol="0" anchor="ctr"/>
          <a:lstStyle/>
          <a:p>
            <a:pPr marL="0" indent="0" algn="ctr">
              <a:buNone/>
            </a:pPr>
            <a:r>
              <a:rPr lang="en-US" sz="900" dirty="0">
                <a:solidFill>
                  <a:srgbClr val="8FB3CC"/>
                </a:solidFill>
                <a:latin typeface="Calibri" pitchFamily="34" charset="0"/>
                <a:ea typeface="Calibri" pitchFamily="34" charset="-122"/>
                <a:cs typeface="Calibri" pitchFamily="34" charset="-120"/>
              </a:rPr>
              <a:t>Revenue Unlock Potential</a:t>
            </a:r>
            <a:endParaRPr lang="en-US" sz="900" dirty="0"/>
          </a:p>
        </p:txBody>
      </p:sp>
      <p:sp>
        <p:nvSpPr>
          <p:cNvPr id="15" name="Shape 13"/>
          <p:cNvSpPr/>
          <p:nvPr/>
        </p:nvSpPr>
        <p:spPr>
          <a:xfrm>
            <a:off x="6080760" y="2487168"/>
            <a:ext cx="2560320" cy="1234440"/>
          </a:xfrm>
          <a:prstGeom prst="roundRect">
            <a:avLst>
              <a:gd name="adj" fmla="val 8889"/>
            </a:avLst>
          </a:prstGeom>
          <a:solidFill>
            <a:srgbClr val="152642"/>
          </a:solidFill>
          <a:ln/>
          <a:effectLst>
            <a:outerShdw blurRad="101600" dist="38100" dir="2700000" algn="bl" rotWithShape="0">
              <a:srgbClr val="000000">
                <a:alpha val="20000"/>
              </a:srgbClr>
            </a:outerShdw>
          </a:effectLst>
        </p:spPr>
      </p:sp>
      <p:sp>
        <p:nvSpPr>
          <p:cNvPr id="16" name="Text 14"/>
          <p:cNvSpPr/>
          <p:nvPr/>
        </p:nvSpPr>
        <p:spPr>
          <a:xfrm>
            <a:off x="6217920" y="2651760"/>
            <a:ext cx="2286000" cy="594360"/>
          </a:xfrm>
          <a:prstGeom prst="rect">
            <a:avLst/>
          </a:prstGeom>
          <a:noFill/>
          <a:ln/>
        </p:spPr>
        <p:txBody>
          <a:bodyPr wrap="square" rtlCol="0" anchor="ctr"/>
          <a:lstStyle/>
          <a:p>
            <a:pPr marL="0" indent="0" algn="ctr">
              <a:buNone/>
            </a:pPr>
            <a:r>
              <a:rPr lang="en-US" sz="3400" b="1" dirty="0">
                <a:solidFill>
                  <a:srgbClr val="00C9B1"/>
                </a:solidFill>
                <a:latin typeface="Calibri" pitchFamily="34" charset="0"/>
                <a:ea typeface="Calibri" pitchFamily="34" charset="-122"/>
                <a:cs typeface="Calibri" pitchFamily="34" charset="-120"/>
              </a:rPr>
              <a:t>22/22</a:t>
            </a:r>
            <a:endParaRPr lang="en-US" sz="3400" dirty="0"/>
          </a:p>
        </p:txBody>
      </p:sp>
      <p:sp>
        <p:nvSpPr>
          <p:cNvPr id="17" name="Text 15"/>
          <p:cNvSpPr/>
          <p:nvPr/>
        </p:nvSpPr>
        <p:spPr>
          <a:xfrm>
            <a:off x="6172200" y="3200400"/>
            <a:ext cx="237744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Automated Tests Pass</a:t>
            </a:r>
            <a:endParaRPr lang="en-US" sz="1100" dirty="0"/>
          </a:p>
        </p:txBody>
      </p:sp>
      <p:sp>
        <p:nvSpPr>
          <p:cNvPr id="18" name="Text 16"/>
          <p:cNvSpPr/>
          <p:nvPr/>
        </p:nvSpPr>
        <p:spPr>
          <a:xfrm>
            <a:off x="6172200" y="3447288"/>
            <a:ext cx="2377440" cy="201168"/>
          </a:xfrm>
          <a:prstGeom prst="rect">
            <a:avLst/>
          </a:prstGeom>
          <a:noFill/>
          <a:ln/>
        </p:spPr>
        <p:txBody>
          <a:bodyPr wrap="square" rtlCol="0" anchor="ctr"/>
          <a:lstStyle/>
          <a:p>
            <a:pPr marL="0" indent="0" algn="ctr">
              <a:buNone/>
            </a:pPr>
            <a:r>
              <a:rPr lang="en-US" sz="900" dirty="0">
                <a:solidFill>
                  <a:srgbClr val="8FB3CC"/>
                </a:solidFill>
                <a:latin typeface="Calibri" pitchFamily="34" charset="0"/>
                <a:ea typeface="Calibri" pitchFamily="34" charset="-122"/>
                <a:cs typeface="Calibri" pitchFamily="34" charset="-120"/>
              </a:rPr>
              <a:t>Data Quality Gates</a:t>
            </a:r>
            <a:endParaRPr lang="en-US" sz="900" dirty="0"/>
          </a:p>
        </p:txBody>
      </p:sp>
      <p:sp>
        <p:nvSpPr>
          <p:cNvPr id="19" name="Text 17"/>
          <p:cNvSpPr/>
          <p:nvPr/>
        </p:nvSpPr>
        <p:spPr>
          <a:xfrm>
            <a:off x="502920" y="4297680"/>
            <a:ext cx="8138160" cy="274320"/>
          </a:xfrm>
          <a:prstGeom prst="rect">
            <a:avLst/>
          </a:prstGeom>
          <a:noFill/>
          <a:ln/>
        </p:spPr>
        <p:txBody>
          <a:bodyPr wrap="square" rtlCol="0" anchor="ctr"/>
          <a:lstStyle/>
          <a:p>
            <a:pPr marL="0" indent="0" algn="l">
              <a:buNone/>
            </a:pPr>
            <a:r>
              <a:rPr lang="en-US" sz="1000" dirty="0">
                <a:solidFill>
                  <a:srgbClr val="8FB3CC"/>
                </a:solidFill>
                <a:latin typeface="Calibri" pitchFamily="34" charset="0"/>
                <a:ea typeface="Calibri" pitchFamily="34" charset="-122"/>
                <a:cs typeface="Calibri" pitchFamily="34" charset="-120"/>
              </a:rPr>
              <a:t>Dharmesh Bhagat  ·  Principal PM, Data &amp; AI Analytics  ·  GCS Case Study</a:t>
            </a:r>
            <a:endParaRPr lang="en-US" sz="1000" dirty="0"/>
          </a:p>
        </p:txBody>
      </p:sp>
      <p:sp>
        <p:nvSpPr>
          <p:cNvPr id="20" name="Text 17">
            <a:extLst>
              <a:ext uri="{FF2B5EF4-FFF2-40B4-BE49-F238E27FC236}">
                <a16:creationId xmlns:a16="http://schemas.microsoft.com/office/drawing/2014/main" id="{D994E13B-E1FD-8156-5F70-6DCE9FE6BC4D}"/>
              </a:ext>
            </a:extLst>
          </p:cNvPr>
          <p:cNvSpPr/>
          <p:nvPr/>
        </p:nvSpPr>
        <p:spPr>
          <a:xfrm>
            <a:off x="4065724" y="3831336"/>
            <a:ext cx="4767883" cy="274320"/>
          </a:xfrm>
          <a:prstGeom prst="rect">
            <a:avLst/>
          </a:prstGeom>
          <a:noFill/>
          <a:ln/>
        </p:spPr>
        <p:txBody>
          <a:bodyPr wrap="square" rtlCol="0" anchor="ctr"/>
          <a:lstStyle/>
          <a:p>
            <a:r>
              <a:rPr lang="en-US" sz="1000" b="1" i="1" dirty="0">
                <a:solidFill>
                  <a:srgbClr val="8FB3CC"/>
                </a:solidFill>
                <a:latin typeface="Calibri" pitchFamily="34" charset="0"/>
                <a:cs typeface="Calibri" pitchFamily="34" charset="-120"/>
              </a:rPr>
              <a:t>Synthetic prototype results are scaled here to show enterprise-level business impact.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7548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Who I Am &amp; How I Think</a:t>
            </a:r>
            <a:endParaRPr lang="en-US" sz="2800" dirty="0"/>
          </a:p>
        </p:txBody>
      </p:sp>
      <p:sp>
        <p:nvSpPr>
          <p:cNvPr id="3" name="Text 1"/>
          <p:cNvSpPr/>
          <p:nvPr/>
        </p:nvSpPr>
        <p:spPr>
          <a:xfrm>
            <a:off x="457200" y="749808"/>
            <a:ext cx="8229600" cy="274320"/>
          </a:xfrm>
          <a:prstGeom prst="rect">
            <a:avLst/>
          </a:prstGeom>
          <a:noFill/>
          <a:ln/>
        </p:spPr>
        <p:txBody>
          <a:bodyPr wrap="square" rtlCol="0" anchor="ctr"/>
          <a:lstStyle/>
          <a:p>
            <a:pPr marL="0" indent="0">
              <a:buNone/>
            </a:pPr>
            <a:r>
              <a:rPr lang="en-US" sz="1300" i="1" dirty="0">
                <a:solidFill>
                  <a:srgbClr val="00C9B1"/>
                </a:solidFill>
                <a:latin typeface="Calibri" pitchFamily="34" charset="0"/>
                <a:ea typeface="Calibri" pitchFamily="34" charset="-122"/>
                <a:cs typeface="Calibri" pitchFamily="34" charset="-120"/>
              </a:rPr>
              <a:t>Principal PM · 7+ years building post-sales data products at Microsoft Azure</a:t>
            </a:r>
            <a:endParaRPr lang="en-US" sz="1300" dirty="0"/>
          </a:p>
        </p:txBody>
      </p:sp>
      <p:sp>
        <p:nvSpPr>
          <p:cNvPr id="4" name="Shape 2"/>
          <p:cNvSpPr/>
          <p:nvPr/>
        </p:nvSpPr>
        <p:spPr>
          <a:xfrm>
            <a:off x="457200" y="1143000"/>
            <a:ext cx="2697480" cy="2423160"/>
          </a:xfrm>
          <a:prstGeom prst="roundRect">
            <a:avLst>
              <a:gd name="adj" fmla="val 4528"/>
            </a:avLst>
          </a:prstGeom>
          <a:solidFill>
            <a:srgbClr val="152642"/>
          </a:solidFill>
          <a:ln/>
          <a:effectLst>
            <a:outerShdw blurRad="101600" dist="38100" dir="2700000" algn="bl" rotWithShape="0">
              <a:srgbClr val="000000">
                <a:alpha val="20000"/>
              </a:srgbClr>
            </a:outerShdw>
          </a:effectLst>
        </p:spPr>
      </p:sp>
      <p:sp>
        <p:nvSpPr>
          <p:cNvPr id="5" name="Text 3"/>
          <p:cNvSpPr/>
          <p:nvPr/>
        </p:nvSpPr>
        <p:spPr>
          <a:xfrm>
            <a:off x="594360" y="1234440"/>
            <a:ext cx="2423160" cy="411480"/>
          </a:xfrm>
          <a:prstGeom prst="rect">
            <a:avLst/>
          </a:prstGeom>
          <a:noFill/>
          <a:ln/>
        </p:spPr>
        <p:txBody>
          <a:bodyPr wrap="square" rtlCol="0" anchor="ctr"/>
          <a:lstStyle/>
          <a:p>
            <a:pPr marL="0" indent="0" algn="l">
              <a:buNone/>
            </a:pPr>
            <a:r>
              <a:rPr lang="en-US" sz="2400" dirty="0">
                <a:solidFill>
                  <a:srgbClr val="000000"/>
                </a:solidFill>
              </a:rPr>
              <a:t>⚙️</a:t>
            </a:r>
            <a:endParaRPr lang="en-US" sz="2400" dirty="0"/>
          </a:p>
        </p:txBody>
      </p:sp>
      <p:sp>
        <p:nvSpPr>
          <p:cNvPr id="6" name="Text 4"/>
          <p:cNvSpPr/>
          <p:nvPr/>
        </p:nvSpPr>
        <p:spPr>
          <a:xfrm>
            <a:off x="594360" y="1627632"/>
            <a:ext cx="2423160" cy="320040"/>
          </a:xfrm>
          <a:prstGeom prst="rect">
            <a:avLst/>
          </a:prstGeom>
          <a:noFill/>
          <a:ln/>
        </p:spPr>
        <p:txBody>
          <a:bodyPr wrap="square" rtlCol="0" anchor="ctr"/>
          <a:lstStyle/>
          <a:p>
            <a:pPr marL="0" indent="0">
              <a:buNone/>
            </a:pPr>
            <a:r>
              <a:rPr lang="en-US" sz="1200" b="1" dirty="0">
                <a:solidFill>
                  <a:srgbClr val="00C9B1"/>
                </a:solidFill>
                <a:latin typeface="Calibri" pitchFamily="34" charset="0"/>
                <a:ea typeface="Calibri" pitchFamily="34" charset="-122"/>
                <a:cs typeface="Calibri" pitchFamily="34" charset="-120"/>
              </a:rPr>
              <a:t>Technical Foundation</a:t>
            </a:r>
            <a:endParaRPr lang="en-US" sz="1200" dirty="0"/>
          </a:p>
        </p:txBody>
      </p:sp>
      <p:sp>
        <p:nvSpPr>
          <p:cNvPr id="7" name="Text 5"/>
          <p:cNvSpPr/>
          <p:nvPr/>
        </p:nvSpPr>
        <p:spPr>
          <a:xfrm>
            <a:off x="594360" y="2011680"/>
            <a:ext cx="2423160" cy="1371600"/>
          </a:xfrm>
          <a:prstGeom prst="rect">
            <a:avLst/>
          </a:prstGeom>
          <a:noFill/>
          <a:ln/>
        </p:spPr>
        <p:txBody>
          <a:bodyPr wrap="square" rtlCol="0" anchor="ctr"/>
          <a:lstStyle/>
          <a:p>
            <a:pPr marL="342900" indent="-342900">
              <a:lnSpc>
                <a:spcPct val="130000"/>
              </a:lnSpc>
              <a:buSzPct val="100000"/>
              <a:buChar char="•"/>
            </a:pPr>
            <a:r>
              <a:rPr lang="en-US" sz="1050" dirty="0">
                <a:solidFill>
                  <a:srgbClr val="E8F4F8"/>
                </a:solidFill>
                <a:latin typeface="Calibri" pitchFamily="34" charset="0"/>
                <a:ea typeface="Calibri" pitchFamily="34" charset="-122"/>
                <a:cs typeface="Calibri" pitchFamily="34" charset="-120"/>
              </a:rPr>
              <a:t>Enterprise infrastructure &amp; data systems</a:t>
            </a:r>
            <a:endParaRPr lang="en-US" sz="1050" dirty="0"/>
          </a:p>
          <a:p>
            <a:pPr marL="342900" indent="-342900">
              <a:lnSpc>
                <a:spcPct val="130000"/>
              </a:lnSpc>
              <a:buSzPct val="100000"/>
              <a:buChar char="•"/>
            </a:pPr>
            <a:r>
              <a:rPr lang="en-US" sz="1050" dirty="0">
                <a:solidFill>
                  <a:srgbClr val="E8F4F8"/>
                </a:solidFill>
                <a:latin typeface="Calibri" pitchFamily="34" charset="0"/>
                <a:ea typeface="Calibri" pitchFamily="34" charset="-122"/>
                <a:cs typeface="Calibri" pitchFamily="34" charset="-120"/>
              </a:rPr>
              <a:t>How complex systems scale at cloud scale</a:t>
            </a:r>
            <a:endParaRPr lang="en-US" sz="1050" dirty="0"/>
          </a:p>
          <a:p>
            <a:pPr marL="342900" indent="-342900">
              <a:lnSpc>
                <a:spcPct val="130000"/>
              </a:lnSpc>
              <a:buSzPct val="100000"/>
              <a:buChar char="•"/>
            </a:pPr>
            <a:r>
              <a:rPr lang="en-US" sz="1050" dirty="0">
                <a:solidFill>
                  <a:srgbClr val="E8F4F8"/>
                </a:solidFill>
                <a:latin typeface="Calibri" pitchFamily="34" charset="0"/>
                <a:ea typeface="Calibri" pitchFamily="34" charset="-122"/>
                <a:cs typeface="Calibri" pitchFamily="34" charset="-120"/>
              </a:rPr>
              <a:t>Technology → business impact translation</a:t>
            </a:r>
            <a:endParaRPr lang="en-US" sz="1050" dirty="0"/>
          </a:p>
        </p:txBody>
      </p:sp>
      <p:sp>
        <p:nvSpPr>
          <p:cNvPr id="8" name="Shape 6"/>
          <p:cNvSpPr/>
          <p:nvPr/>
        </p:nvSpPr>
        <p:spPr>
          <a:xfrm>
            <a:off x="3291840" y="1143000"/>
            <a:ext cx="2697480" cy="2423160"/>
          </a:xfrm>
          <a:prstGeom prst="roundRect">
            <a:avLst>
              <a:gd name="adj" fmla="val 4528"/>
            </a:avLst>
          </a:prstGeom>
          <a:solidFill>
            <a:srgbClr val="152642"/>
          </a:solidFill>
          <a:ln/>
          <a:effectLst>
            <a:outerShdw blurRad="101600" dist="38100" dir="2700000" algn="bl" rotWithShape="0">
              <a:srgbClr val="000000">
                <a:alpha val="20000"/>
              </a:srgbClr>
            </a:outerShdw>
          </a:effectLst>
        </p:spPr>
      </p:sp>
      <p:sp>
        <p:nvSpPr>
          <p:cNvPr id="9" name="Text 7"/>
          <p:cNvSpPr/>
          <p:nvPr/>
        </p:nvSpPr>
        <p:spPr>
          <a:xfrm>
            <a:off x="3429000" y="1234440"/>
            <a:ext cx="2423160" cy="411480"/>
          </a:xfrm>
          <a:prstGeom prst="rect">
            <a:avLst/>
          </a:prstGeom>
          <a:noFill/>
          <a:ln/>
        </p:spPr>
        <p:txBody>
          <a:bodyPr wrap="square" rtlCol="0" anchor="ctr"/>
          <a:lstStyle/>
          <a:p>
            <a:pPr marL="0" indent="0" algn="l">
              <a:buNone/>
            </a:pPr>
            <a:r>
              <a:rPr lang="en-US" sz="2400" dirty="0">
                <a:solidFill>
                  <a:srgbClr val="000000"/>
                </a:solidFill>
              </a:rPr>
              <a:t>📈</a:t>
            </a:r>
            <a:endParaRPr lang="en-US" sz="2400" dirty="0"/>
          </a:p>
        </p:txBody>
      </p:sp>
      <p:sp>
        <p:nvSpPr>
          <p:cNvPr id="10" name="Text 8"/>
          <p:cNvSpPr/>
          <p:nvPr/>
        </p:nvSpPr>
        <p:spPr>
          <a:xfrm>
            <a:off x="3429000" y="1627632"/>
            <a:ext cx="2423160" cy="320040"/>
          </a:xfrm>
          <a:prstGeom prst="rect">
            <a:avLst/>
          </a:prstGeom>
          <a:noFill/>
          <a:ln/>
        </p:spPr>
        <p:txBody>
          <a:bodyPr wrap="square" rtlCol="0" anchor="ctr"/>
          <a:lstStyle/>
          <a:p>
            <a:pPr marL="0" indent="0">
              <a:buNone/>
            </a:pPr>
            <a:r>
              <a:rPr lang="en-US" sz="1200" b="1" dirty="0">
                <a:solidFill>
                  <a:srgbClr val="00C9B1"/>
                </a:solidFill>
                <a:latin typeface="Calibri" pitchFamily="34" charset="0"/>
                <a:ea typeface="Calibri" pitchFamily="34" charset="-122"/>
                <a:cs typeface="Calibri" pitchFamily="34" charset="-120"/>
              </a:rPr>
              <a:t>Product Leadership (Azure)</a:t>
            </a:r>
            <a:endParaRPr lang="en-US" sz="1200" dirty="0"/>
          </a:p>
        </p:txBody>
      </p:sp>
      <p:sp>
        <p:nvSpPr>
          <p:cNvPr id="11" name="Text 9"/>
          <p:cNvSpPr/>
          <p:nvPr/>
        </p:nvSpPr>
        <p:spPr>
          <a:xfrm>
            <a:off x="3429000" y="2011680"/>
            <a:ext cx="2423160" cy="1371600"/>
          </a:xfrm>
          <a:prstGeom prst="rect">
            <a:avLst/>
          </a:prstGeom>
          <a:noFill/>
          <a:ln/>
        </p:spPr>
        <p:txBody>
          <a:bodyPr wrap="square" rtlCol="0" anchor="ctr"/>
          <a:lstStyle/>
          <a:p>
            <a:pPr marL="342900" indent="-342900">
              <a:lnSpc>
                <a:spcPct val="130000"/>
              </a:lnSpc>
              <a:buSzPct val="100000"/>
              <a:buChar char="•"/>
            </a:pPr>
            <a:r>
              <a:rPr lang="en-US" sz="1050" dirty="0">
                <a:solidFill>
                  <a:srgbClr val="E8F4F8"/>
                </a:solidFill>
                <a:latin typeface="Calibri" pitchFamily="34" charset="0"/>
                <a:ea typeface="Calibri" pitchFamily="34" charset="-122"/>
                <a:cs typeface="Calibri" pitchFamily="34" charset="-120"/>
              </a:rPr>
              <a:t>Quality Hub: 5-day VP prep → 4 hours</a:t>
            </a:r>
            <a:endParaRPr lang="en-US" sz="1050" dirty="0"/>
          </a:p>
          <a:p>
            <a:pPr marL="342900" indent="-342900">
              <a:lnSpc>
                <a:spcPct val="130000"/>
              </a:lnSpc>
              <a:buSzPct val="100000"/>
              <a:buChar char="•"/>
            </a:pPr>
            <a:r>
              <a:rPr lang="en-US" sz="1050" dirty="0">
                <a:solidFill>
                  <a:srgbClr val="E8F4F8"/>
                </a:solidFill>
                <a:latin typeface="Calibri" pitchFamily="34" charset="0"/>
                <a:ea typeface="Calibri" pitchFamily="34" charset="-122"/>
                <a:cs typeface="Calibri" pitchFamily="34" charset="-120"/>
              </a:rPr>
              <a:t>Iridias: 60% incident effort reduction</a:t>
            </a:r>
            <a:endParaRPr lang="en-US" sz="1050" dirty="0"/>
          </a:p>
          <a:p>
            <a:pPr marL="342900" indent="-342900">
              <a:lnSpc>
                <a:spcPct val="130000"/>
              </a:lnSpc>
              <a:buSzPct val="100000"/>
              <a:buChar char="•"/>
            </a:pPr>
            <a:r>
              <a:rPr lang="en-US" sz="1050" dirty="0">
                <a:solidFill>
                  <a:srgbClr val="E8F4F8"/>
                </a:solidFill>
                <a:latin typeface="Calibri" pitchFamily="34" charset="0"/>
                <a:ea typeface="Calibri" pitchFamily="34" charset="-122"/>
                <a:cs typeface="Calibri" pitchFamily="34" charset="-120"/>
              </a:rPr>
              <a:t>FastTrack: 3,179 customer signals → 74% accept</a:t>
            </a:r>
            <a:endParaRPr lang="en-US" sz="1050" dirty="0"/>
          </a:p>
        </p:txBody>
      </p:sp>
      <p:sp>
        <p:nvSpPr>
          <p:cNvPr id="12" name="Shape 10"/>
          <p:cNvSpPr/>
          <p:nvPr/>
        </p:nvSpPr>
        <p:spPr>
          <a:xfrm>
            <a:off x="6126480" y="1143000"/>
            <a:ext cx="2697480" cy="2423160"/>
          </a:xfrm>
          <a:prstGeom prst="roundRect">
            <a:avLst>
              <a:gd name="adj" fmla="val 4528"/>
            </a:avLst>
          </a:prstGeom>
          <a:solidFill>
            <a:srgbClr val="152642"/>
          </a:solidFill>
          <a:ln/>
          <a:effectLst>
            <a:outerShdw blurRad="101600" dist="38100" dir="2700000" algn="bl" rotWithShape="0">
              <a:srgbClr val="000000">
                <a:alpha val="20000"/>
              </a:srgbClr>
            </a:outerShdw>
          </a:effectLst>
        </p:spPr>
      </p:sp>
      <p:sp>
        <p:nvSpPr>
          <p:cNvPr id="13" name="Text 11"/>
          <p:cNvSpPr/>
          <p:nvPr/>
        </p:nvSpPr>
        <p:spPr>
          <a:xfrm>
            <a:off x="6263640" y="1234440"/>
            <a:ext cx="2423160" cy="411480"/>
          </a:xfrm>
          <a:prstGeom prst="rect">
            <a:avLst/>
          </a:prstGeom>
          <a:noFill/>
          <a:ln/>
        </p:spPr>
        <p:txBody>
          <a:bodyPr wrap="square" rtlCol="0" anchor="ctr"/>
          <a:lstStyle/>
          <a:p>
            <a:pPr marL="0" indent="0" algn="l">
              <a:buNone/>
            </a:pPr>
            <a:r>
              <a:rPr lang="en-US" sz="2400" dirty="0">
                <a:solidFill>
                  <a:srgbClr val="000000"/>
                </a:solidFill>
              </a:rPr>
              <a:t>🤖</a:t>
            </a:r>
            <a:endParaRPr lang="en-US" sz="2400" dirty="0"/>
          </a:p>
        </p:txBody>
      </p:sp>
      <p:sp>
        <p:nvSpPr>
          <p:cNvPr id="14" name="Text 12"/>
          <p:cNvSpPr/>
          <p:nvPr/>
        </p:nvSpPr>
        <p:spPr>
          <a:xfrm>
            <a:off x="6263640" y="1627632"/>
            <a:ext cx="2423160" cy="320040"/>
          </a:xfrm>
          <a:prstGeom prst="rect">
            <a:avLst/>
          </a:prstGeom>
          <a:noFill/>
          <a:ln/>
        </p:spPr>
        <p:txBody>
          <a:bodyPr wrap="square" rtlCol="0" anchor="ctr"/>
          <a:lstStyle/>
          <a:p>
            <a:pPr marL="0" indent="0">
              <a:buNone/>
            </a:pPr>
            <a:r>
              <a:rPr lang="en-US" sz="1200" b="1" dirty="0">
                <a:solidFill>
                  <a:srgbClr val="00C9B1"/>
                </a:solidFill>
                <a:latin typeface="Calibri" pitchFamily="34" charset="0"/>
                <a:ea typeface="Calibri" pitchFamily="34" charset="-122"/>
                <a:cs typeface="Calibri" pitchFamily="34" charset="-120"/>
              </a:rPr>
              <a:t>AI-First PM Philosophy</a:t>
            </a:r>
            <a:endParaRPr lang="en-US" sz="1200" dirty="0"/>
          </a:p>
        </p:txBody>
      </p:sp>
      <p:sp>
        <p:nvSpPr>
          <p:cNvPr id="15" name="Text 13"/>
          <p:cNvSpPr/>
          <p:nvPr/>
        </p:nvSpPr>
        <p:spPr>
          <a:xfrm>
            <a:off x="6263640" y="2011680"/>
            <a:ext cx="2423160" cy="1371600"/>
          </a:xfrm>
          <a:prstGeom prst="rect">
            <a:avLst/>
          </a:prstGeom>
          <a:noFill/>
          <a:ln/>
        </p:spPr>
        <p:txBody>
          <a:bodyPr wrap="square" rtlCol="0" anchor="ctr"/>
          <a:lstStyle/>
          <a:p>
            <a:pPr marL="342900" indent="-342900">
              <a:lnSpc>
                <a:spcPct val="130000"/>
              </a:lnSpc>
              <a:buSzPct val="100000"/>
              <a:buChar char="•"/>
            </a:pPr>
            <a:r>
              <a:rPr lang="en-US" sz="1050" dirty="0">
                <a:solidFill>
                  <a:srgbClr val="E8F4F8"/>
                </a:solidFill>
                <a:latin typeface="Calibri" pitchFamily="34" charset="0"/>
                <a:ea typeface="Calibri" pitchFamily="34" charset="-122"/>
                <a:cs typeface="Calibri" pitchFamily="34" charset="-120"/>
              </a:rPr>
              <a:t>Spec-driven AI development (BRD → code)</a:t>
            </a:r>
            <a:endParaRPr lang="en-US" sz="1050" dirty="0"/>
          </a:p>
          <a:p>
            <a:pPr marL="342900" indent="-342900">
              <a:lnSpc>
                <a:spcPct val="130000"/>
              </a:lnSpc>
              <a:buSzPct val="100000"/>
              <a:buChar char="•"/>
            </a:pPr>
            <a:r>
              <a:rPr lang="en-US" sz="1050" dirty="0">
                <a:solidFill>
                  <a:srgbClr val="E8F4F8"/>
                </a:solidFill>
                <a:latin typeface="Calibri" pitchFamily="34" charset="0"/>
                <a:ea typeface="Calibri" pitchFamily="34" charset="-122"/>
                <a:cs typeface="Calibri" pitchFamily="34" charset="-120"/>
              </a:rPr>
              <a:t>Prototype without engineering bottleneck</a:t>
            </a:r>
            <a:endParaRPr lang="en-US" sz="1050" dirty="0"/>
          </a:p>
          <a:p>
            <a:pPr marL="342900" indent="-342900">
              <a:lnSpc>
                <a:spcPct val="130000"/>
              </a:lnSpc>
              <a:buSzPct val="100000"/>
              <a:buChar char="•"/>
            </a:pPr>
            <a:r>
              <a:rPr lang="en-US" sz="1050" dirty="0">
                <a:solidFill>
                  <a:srgbClr val="E8F4F8"/>
                </a:solidFill>
                <a:latin typeface="Calibri" pitchFamily="34" charset="0"/>
                <a:ea typeface="Calibri" pitchFamily="34" charset="-122"/>
                <a:cs typeface="Calibri" pitchFamily="34" charset="-120"/>
              </a:rPr>
              <a:t>Post-sales analytics &amp; GTM intelligence</a:t>
            </a:r>
            <a:endParaRPr lang="en-US" sz="1050" dirty="0"/>
          </a:p>
        </p:txBody>
      </p:sp>
      <p:sp>
        <p:nvSpPr>
          <p:cNvPr id="16" name="Shape 14"/>
          <p:cNvSpPr/>
          <p:nvPr/>
        </p:nvSpPr>
        <p:spPr>
          <a:xfrm>
            <a:off x="457200" y="3730752"/>
            <a:ext cx="8229600" cy="777240"/>
          </a:xfrm>
          <a:prstGeom prst="roundRect">
            <a:avLst>
              <a:gd name="adj" fmla="val 9412"/>
            </a:avLst>
          </a:prstGeom>
          <a:solidFill>
            <a:srgbClr val="00C9B1">
              <a:alpha val="12000"/>
            </a:srgbClr>
          </a:solidFill>
          <a:ln/>
        </p:spPr>
      </p:sp>
      <p:sp>
        <p:nvSpPr>
          <p:cNvPr id="17" name="Text 15"/>
          <p:cNvSpPr/>
          <p:nvPr/>
        </p:nvSpPr>
        <p:spPr>
          <a:xfrm>
            <a:off x="640080" y="3767328"/>
            <a:ext cx="7863840" cy="713232"/>
          </a:xfrm>
          <a:prstGeom prst="rect">
            <a:avLst/>
          </a:prstGeom>
          <a:noFill/>
          <a:ln/>
        </p:spPr>
        <p:txBody>
          <a:bodyPr wrap="square" rtlCol="0" anchor="ctr"/>
          <a:lstStyle/>
          <a:p>
            <a:pPr marL="0" indent="0" algn="ctr">
              <a:buNone/>
            </a:pPr>
            <a:r>
              <a:rPr lang="en-US" sz="1150" i="1" dirty="0">
                <a:solidFill>
                  <a:srgbClr val="FFFFFF"/>
                </a:solidFill>
                <a:latin typeface="Calibri" pitchFamily="34" charset="0"/>
                <a:ea typeface="Calibri" pitchFamily="34" charset="-122"/>
                <a:cs typeface="Calibri" pitchFamily="34" charset="-120"/>
              </a:rPr>
              <a:t>"A team should not write a single line of code until the business and technical contracts are completely verified. BRD first. Markdown spec second. AI execution engine third."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Problem GCS Is Solving</a:t>
            </a:r>
            <a:endParaRPr lang="en-US" sz="2800" dirty="0"/>
          </a:p>
        </p:txBody>
      </p:sp>
      <p:sp>
        <p:nvSpPr>
          <p:cNvPr id="3" name="Text 1"/>
          <p:cNvSpPr/>
          <p:nvPr/>
        </p:nvSpPr>
        <p:spPr>
          <a:xfrm>
            <a:off x="457200" y="731520"/>
            <a:ext cx="8229600" cy="292608"/>
          </a:xfrm>
          <a:prstGeom prst="rect">
            <a:avLst/>
          </a:prstGeom>
          <a:noFill/>
          <a:ln/>
        </p:spPr>
        <p:txBody>
          <a:bodyPr wrap="square" rtlCol="0" anchor="ctr"/>
          <a:lstStyle/>
          <a:p>
            <a:pPr marL="0" indent="0">
              <a:buNone/>
            </a:pPr>
            <a:r>
              <a:rPr lang="en-US" sz="1300" i="1" dirty="0">
                <a:solidFill>
                  <a:srgbClr val="00C9B1"/>
                </a:solidFill>
                <a:latin typeface="Calibri" pitchFamily="34" charset="0"/>
                <a:ea typeface="Calibri" pitchFamily="34" charset="-122"/>
                <a:cs typeface="Calibri" pitchFamily="34" charset="-120"/>
              </a:rPr>
              <a:t>Transitioning from TCV bookings to a consumption-based ARR model creates a measurement gap</a:t>
            </a:r>
            <a:endParaRPr lang="en-US" sz="1300" dirty="0"/>
          </a:p>
        </p:txBody>
      </p:sp>
      <p:sp>
        <p:nvSpPr>
          <p:cNvPr id="4" name="Shape 2"/>
          <p:cNvSpPr/>
          <p:nvPr/>
        </p:nvSpPr>
        <p:spPr>
          <a:xfrm>
            <a:off x="457200" y="1143000"/>
            <a:ext cx="3749040" cy="3108960"/>
          </a:xfrm>
          <a:prstGeom prst="roundRect">
            <a:avLst>
              <a:gd name="adj" fmla="val 3529"/>
            </a:avLst>
          </a:prstGeom>
          <a:solidFill>
            <a:srgbClr val="A32D2D">
              <a:alpha val="12000"/>
            </a:srgbClr>
          </a:solidFill>
          <a:ln/>
          <a:effectLst>
            <a:outerShdw blurRad="101600" dist="38100" dir="2700000" algn="bl" rotWithShape="0">
              <a:srgbClr val="000000">
                <a:alpha val="20000"/>
              </a:srgbClr>
            </a:outerShdw>
          </a:effectLst>
        </p:spPr>
      </p:sp>
      <p:sp>
        <p:nvSpPr>
          <p:cNvPr id="5" name="Text 3"/>
          <p:cNvSpPr/>
          <p:nvPr/>
        </p:nvSpPr>
        <p:spPr>
          <a:xfrm>
            <a:off x="594360" y="1234440"/>
            <a:ext cx="34747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OLD MODEL — TCV/Bookings</a:t>
            </a:r>
            <a:endParaRPr lang="en-US" sz="1300" dirty="0"/>
          </a:p>
        </p:txBody>
      </p:sp>
      <p:sp>
        <p:nvSpPr>
          <p:cNvPr id="6" name="Text 4"/>
          <p:cNvSpPr/>
          <p:nvPr/>
        </p:nvSpPr>
        <p:spPr>
          <a:xfrm>
            <a:off x="594360" y="1664208"/>
            <a:ext cx="3474720" cy="2286000"/>
          </a:xfrm>
          <a:prstGeom prst="rect">
            <a:avLst/>
          </a:prstGeom>
          <a:noFill/>
          <a:ln/>
        </p:spPr>
        <p:txBody>
          <a:bodyPr wrap="square" rtlCol="0" anchor="ctr"/>
          <a:lstStyle/>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Deal closes → </a:t>
            </a:r>
            <a:r>
              <a:rPr lang="en-US" sz="1100" dirty="0">
                <a:solidFill>
                  <a:srgbClr val="E8F4F8"/>
                </a:solidFill>
                <a:latin typeface="Calibri" pitchFamily="34" charset="0"/>
                <a:cs typeface="Calibri" pitchFamily="34" charset="-120"/>
              </a:rPr>
              <a:t>commercial success recognized</a:t>
            </a:r>
          </a:p>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No visibility into deployment</a:t>
            </a:r>
            <a:endParaRPr lang="en-US" sz="1100" dirty="0"/>
          </a:p>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No signal on actual usage</a:t>
            </a:r>
            <a:endParaRPr lang="en-US" sz="1100" dirty="0"/>
          </a:p>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$3M TCV booked = success on paper</a:t>
            </a:r>
            <a:endParaRPr lang="en-US" sz="1100" dirty="0"/>
          </a:p>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Shelfware goes undetected for months</a:t>
            </a:r>
            <a:endParaRPr lang="en-US" sz="1100" dirty="0"/>
          </a:p>
          <a:p>
            <a:pPr marL="342900" indent="-342900">
              <a:lnSpc>
                <a:spcPct val="135000"/>
              </a:lnSpc>
              <a:buSzPct val="100000"/>
              <a:buChar char="•"/>
            </a:pPr>
            <a:r>
              <a:rPr lang="en-US" sz="1100" dirty="0">
                <a:solidFill>
                  <a:srgbClr val="E8F4F8"/>
                </a:solidFill>
                <a:latin typeface="Calibri" pitchFamily="34" charset="0"/>
                <a:cs typeface="Calibri" pitchFamily="34" charset="-120"/>
              </a:rPr>
              <a:t>CS inherits adoption risk without enough leading signals</a:t>
            </a:r>
          </a:p>
        </p:txBody>
      </p:sp>
      <p:sp>
        <p:nvSpPr>
          <p:cNvPr id="7" name="Shape 5"/>
          <p:cNvSpPr/>
          <p:nvPr/>
        </p:nvSpPr>
        <p:spPr>
          <a:xfrm>
            <a:off x="4343400" y="2331720"/>
            <a:ext cx="457200" cy="457200"/>
          </a:xfrm>
          <a:prstGeom prst="roundRect">
            <a:avLst>
              <a:gd name="adj" fmla="val 50000"/>
            </a:avLst>
          </a:prstGeom>
          <a:solidFill>
            <a:srgbClr val="00C9B1"/>
          </a:solidFill>
          <a:ln/>
        </p:spPr>
      </p:sp>
      <p:sp>
        <p:nvSpPr>
          <p:cNvPr id="8" name="Text 6"/>
          <p:cNvSpPr/>
          <p:nvPr/>
        </p:nvSpPr>
        <p:spPr>
          <a:xfrm>
            <a:off x="4343400" y="2331720"/>
            <a:ext cx="457200" cy="457200"/>
          </a:xfrm>
          <a:prstGeom prst="rect">
            <a:avLst/>
          </a:prstGeom>
          <a:noFill/>
          <a:ln/>
        </p:spPr>
        <p:txBody>
          <a:bodyPr wrap="square" rtlCol="0" anchor="ctr"/>
          <a:lstStyle/>
          <a:p>
            <a:pPr marL="0" indent="0" algn="ctr">
              <a:buNone/>
            </a:pPr>
            <a:r>
              <a:rPr lang="en-US" sz="2000" b="1" dirty="0">
                <a:solidFill>
                  <a:srgbClr val="0A1628"/>
                </a:solidFill>
              </a:rPr>
              <a:t>→</a:t>
            </a:r>
            <a:endParaRPr lang="en-US" sz="2000" dirty="0"/>
          </a:p>
        </p:txBody>
      </p:sp>
      <p:sp>
        <p:nvSpPr>
          <p:cNvPr id="9" name="Shape 7"/>
          <p:cNvSpPr/>
          <p:nvPr/>
        </p:nvSpPr>
        <p:spPr>
          <a:xfrm>
            <a:off x="4937760" y="1143000"/>
            <a:ext cx="3749040" cy="3108960"/>
          </a:xfrm>
          <a:prstGeom prst="roundRect">
            <a:avLst>
              <a:gd name="adj" fmla="val 3529"/>
            </a:avLst>
          </a:prstGeom>
          <a:solidFill>
            <a:srgbClr val="1D9E75">
              <a:alpha val="15000"/>
            </a:srgbClr>
          </a:solidFill>
          <a:ln/>
          <a:effectLst>
            <a:outerShdw blurRad="101600" dist="38100" dir="2700000" algn="bl" rotWithShape="0">
              <a:srgbClr val="000000">
                <a:alpha val="20000"/>
              </a:srgbClr>
            </a:outerShdw>
          </a:effectLst>
        </p:spPr>
      </p:sp>
      <p:sp>
        <p:nvSpPr>
          <p:cNvPr id="10" name="Text 8"/>
          <p:cNvSpPr/>
          <p:nvPr/>
        </p:nvSpPr>
        <p:spPr>
          <a:xfrm>
            <a:off x="5074920" y="1234440"/>
            <a:ext cx="34747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NEW MODEL — Realized ARR</a:t>
            </a:r>
            <a:endParaRPr lang="en-US" sz="1300" dirty="0"/>
          </a:p>
        </p:txBody>
      </p:sp>
      <p:sp>
        <p:nvSpPr>
          <p:cNvPr id="11" name="Text 9"/>
          <p:cNvSpPr/>
          <p:nvPr/>
        </p:nvSpPr>
        <p:spPr>
          <a:xfrm>
            <a:off x="5074920" y="1664208"/>
            <a:ext cx="3474720" cy="2286000"/>
          </a:xfrm>
          <a:prstGeom prst="rect">
            <a:avLst/>
          </a:prstGeom>
          <a:noFill/>
          <a:ln/>
        </p:spPr>
        <p:txBody>
          <a:bodyPr wrap="square" rtlCol="0" anchor="ctr"/>
          <a:lstStyle/>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Measure what customers actually use</a:t>
            </a:r>
            <a:endParaRPr lang="en-US" sz="1100" dirty="0"/>
          </a:p>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Signal shelfware before it hits renewal</a:t>
            </a:r>
            <a:endParaRPr lang="en-US" sz="1100" dirty="0"/>
          </a:p>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Reward deployment + sustained usage</a:t>
            </a:r>
            <a:endParaRPr lang="en-US" sz="1100" dirty="0"/>
          </a:p>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CSMs act on math, not gut feel</a:t>
            </a:r>
            <a:endParaRPr lang="en-US" sz="1100" dirty="0"/>
          </a:p>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Overages → expansion signal, not surprise</a:t>
            </a:r>
            <a:endParaRPr lang="en-US" sz="1100" dirty="0"/>
          </a:p>
          <a:p>
            <a:pPr marL="342900" indent="-342900">
              <a:lnSpc>
                <a:spcPct val="135000"/>
              </a:lnSpc>
              <a:buSzPct val="100000"/>
              <a:buChar char="•"/>
            </a:pPr>
            <a:r>
              <a:rPr lang="en-US" sz="1100" dirty="0">
                <a:solidFill>
                  <a:srgbClr val="E8F4F8"/>
                </a:solidFill>
                <a:latin typeface="Calibri" pitchFamily="34" charset="0"/>
                <a:ea typeface="Calibri" pitchFamily="34" charset="-122"/>
                <a:cs typeface="Calibri" pitchFamily="34" charset="-120"/>
              </a:rPr>
              <a:t>Shared metric across CS, PS, Support, Sales</a:t>
            </a:r>
            <a:endParaRPr lang="en-US" sz="1100" dirty="0"/>
          </a:p>
        </p:txBody>
      </p:sp>
      <p:sp>
        <p:nvSpPr>
          <p:cNvPr id="12" name="Shape 10"/>
          <p:cNvSpPr/>
          <p:nvPr/>
        </p:nvSpPr>
        <p:spPr>
          <a:xfrm>
            <a:off x="457200" y="4370832"/>
            <a:ext cx="8229600" cy="457200"/>
          </a:xfrm>
          <a:prstGeom prst="roundRect">
            <a:avLst>
              <a:gd name="adj" fmla="val 16000"/>
            </a:avLst>
          </a:prstGeom>
          <a:solidFill>
            <a:srgbClr val="F4A522">
              <a:alpha val="15000"/>
            </a:srgbClr>
          </a:solidFill>
          <a:ln/>
        </p:spPr>
      </p:sp>
      <p:sp>
        <p:nvSpPr>
          <p:cNvPr id="13" name="Text 11"/>
          <p:cNvSpPr/>
          <p:nvPr/>
        </p:nvSpPr>
        <p:spPr>
          <a:xfrm>
            <a:off x="594360" y="4407408"/>
            <a:ext cx="795528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Key Insight: Shelfware in cybersecurity ≠ just revenue risk. Undeployed software = unprotected attack surface.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Realized ARR — The North Star Metric</a:t>
            </a:r>
            <a:endParaRPr lang="en-US" sz="2800" dirty="0"/>
          </a:p>
        </p:txBody>
      </p:sp>
      <p:sp>
        <p:nvSpPr>
          <p:cNvPr id="3" name="Shape 1"/>
          <p:cNvSpPr/>
          <p:nvPr/>
        </p:nvSpPr>
        <p:spPr>
          <a:xfrm>
            <a:off x="457200" y="804672"/>
            <a:ext cx="8229600" cy="1097280"/>
          </a:xfrm>
          <a:prstGeom prst="roundRect">
            <a:avLst>
              <a:gd name="adj" fmla="val 11667"/>
            </a:avLst>
          </a:prstGeom>
          <a:solidFill>
            <a:srgbClr val="152642"/>
          </a:solidFill>
          <a:ln/>
          <a:effectLst>
            <a:outerShdw blurRad="101600" dist="38100" dir="2700000" algn="bl" rotWithShape="0">
              <a:srgbClr val="000000">
                <a:alpha val="20000"/>
              </a:srgbClr>
            </a:outerShdw>
          </a:effectLst>
        </p:spPr>
      </p:sp>
      <p:sp>
        <p:nvSpPr>
          <p:cNvPr id="4" name="Text 2"/>
          <p:cNvSpPr/>
          <p:nvPr/>
        </p:nvSpPr>
        <p:spPr>
          <a:xfrm>
            <a:off x="640080" y="868680"/>
            <a:ext cx="7863840" cy="502920"/>
          </a:xfrm>
          <a:prstGeom prst="rect">
            <a:avLst/>
          </a:prstGeom>
          <a:noFill/>
          <a:ln/>
        </p:spPr>
        <p:txBody>
          <a:bodyPr wrap="square" rtlCol="0" anchor="ctr"/>
          <a:lstStyle/>
          <a:p>
            <a:pPr marL="0" indent="0" algn="ctr">
              <a:buNone/>
            </a:pPr>
            <a:r>
              <a:rPr lang="en-US" sz="2600" b="1" dirty="0">
                <a:solidFill>
                  <a:srgbClr val="00C9B1"/>
                </a:solidFill>
                <a:latin typeface="Cambria" pitchFamily="34" charset="0"/>
                <a:ea typeface="Cambria" pitchFamily="34" charset="-122"/>
                <a:cs typeface="Cambria" pitchFamily="34" charset="-120"/>
              </a:rPr>
              <a:t>Realized ARR  =  Contracted ARR  ×  PRS</a:t>
            </a:r>
            <a:endParaRPr lang="en-US" sz="2600" dirty="0"/>
          </a:p>
        </p:txBody>
      </p:sp>
      <p:sp>
        <p:nvSpPr>
          <p:cNvPr id="5" name="Text 3"/>
          <p:cNvSpPr/>
          <p:nvPr/>
        </p:nvSpPr>
        <p:spPr>
          <a:xfrm>
            <a:off x="640080" y="1371600"/>
            <a:ext cx="7863840" cy="384048"/>
          </a:xfrm>
          <a:prstGeom prst="rect">
            <a:avLst/>
          </a:prstGeom>
          <a:noFill/>
          <a:ln/>
        </p:spPr>
        <p:txBody>
          <a:bodyPr wrap="square" rtlCol="0" anchor="ctr"/>
          <a:lstStyle/>
          <a:p>
            <a:pPr marL="0" indent="0" algn="ctr">
              <a:buNone/>
            </a:pPr>
            <a:r>
              <a:rPr lang="en-US" sz="1150" dirty="0">
                <a:solidFill>
                  <a:srgbClr val="8FB3CC"/>
                </a:solidFill>
                <a:latin typeface="Calibri" pitchFamily="34" charset="0"/>
                <a:ea typeface="Calibri" pitchFamily="34" charset="-122"/>
                <a:cs typeface="Calibri" pitchFamily="34" charset="-120"/>
              </a:rPr>
              <a:t>Platform Realization Score  =  (Deployment × 0.40) + (Sustained Usage × 0.30) + (Tech Health × 0.20) + (Expansion × 0.10)</a:t>
            </a:r>
            <a:endParaRPr lang="en-US" sz="1150" dirty="0"/>
          </a:p>
        </p:txBody>
      </p:sp>
      <p:sp>
        <p:nvSpPr>
          <p:cNvPr id="6" name="Shape 4"/>
          <p:cNvSpPr/>
          <p:nvPr/>
        </p:nvSpPr>
        <p:spPr>
          <a:xfrm>
            <a:off x="457200" y="2029968"/>
            <a:ext cx="2066544" cy="2606040"/>
          </a:xfrm>
          <a:prstGeom prst="roundRect">
            <a:avLst>
              <a:gd name="adj" fmla="val 5310"/>
            </a:avLst>
          </a:prstGeom>
          <a:solidFill>
            <a:srgbClr val="0D1F3C"/>
          </a:solidFill>
          <a:ln/>
          <a:effectLst>
            <a:outerShdw blurRad="101600" dist="38100" dir="2700000" algn="bl" rotWithShape="0">
              <a:srgbClr val="000000">
                <a:alpha val="20000"/>
              </a:srgbClr>
            </a:outerShdw>
          </a:effectLst>
        </p:spPr>
      </p:sp>
      <p:sp>
        <p:nvSpPr>
          <p:cNvPr id="7" name="Text 5"/>
          <p:cNvSpPr/>
          <p:nvPr/>
        </p:nvSpPr>
        <p:spPr>
          <a:xfrm>
            <a:off x="548640" y="2103120"/>
            <a:ext cx="1883664" cy="475488"/>
          </a:xfrm>
          <a:prstGeom prst="rect">
            <a:avLst/>
          </a:prstGeom>
          <a:noFill/>
          <a:ln/>
        </p:spPr>
        <p:txBody>
          <a:bodyPr wrap="square" rtlCol="0" anchor="ctr"/>
          <a:lstStyle/>
          <a:p>
            <a:pPr marL="0" indent="0" algn="ctr">
              <a:buNone/>
            </a:pPr>
            <a:r>
              <a:rPr lang="en-US" sz="2800" b="1" dirty="0">
                <a:solidFill>
                  <a:srgbClr val="00C9B1"/>
                </a:solidFill>
                <a:latin typeface="Cambria" pitchFamily="34" charset="0"/>
                <a:ea typeface="Cambria" pitchFamily="34" charset="-122"/>
                <a:cs typeface="Cambria" pitchFamily="34" charset="-120"/>
              </a:rPr>
              <a:t>40%</a:t>
            </a:r>
            <a:endParaRPr lang="en-US" sz="2800" dirty="0"/>
          </a:p>
        </p:txBody>
      </p:sp>
      <p:sp>
        <p:nvSpPr>
          <p:cNvPr id="8" name="Text 6"/>
          <p:cNvSpPr/>
          <p:nvPr/>
        </p:nvSpPr>
        <p:spPr>
          <a:xfrm>
            <a:off x="548640" y="2578608"/>
            <a:ext cx="1883664"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Deployment Score</a:t>
            </a:r>
            <a:endParaRPr lang="en-US" sz="1050" dirty="0"/>
          </a:p>
        </p:txBody>
      </p:sp>
      <p:sp>
        <p:nvSpPr>
          <p:cNvPr id="9" name="Shape 7"/>
          <p:cNvSpPr/>
          <p:nvPr/>
        </p:nvSpPr>
        <p:spPr>
          <a:xfrm>
            <a:off x="731520" y="2944368"/>
            <a:ext cx="1517904" cy="0"/>
          </a:xfrm>
          <a:prstGeom prst="line">
            <a:avLst/>
          </a:prstGeom>
          <a:noFill/>
          <a:ln w="9525">
            <a:solidFill>
              <a:srgbClr val="00C9B1"/>
            </a:solidFill>
            <a:prstDash val="solid"/>
          </a:ln>
        </p:spPr>
      </p:sp>
      <p:sp>
        <p:nvSpPr>
          <p:cNvPr id="10" name="Text 8"/>
          <p:cNvSpPr/>
          <p:nvPr/>
        </p:nvSpPr>
        <p:spPr>
          <a:xfrm>
            <a:off x="566928" y="3017520"/>
            <a:ext cx="1847088" cy="1463040"/>
          </a:xfrm>
          <a:prstGeom prst="rect">
            <a:avLst/>
          </a:prstGeom>
          <a:noFill/>
          <a:ln/>
        </p:spPr>
        <p:txBody>
          <a:bodyPr wrap="square" rtlCol="0" anchor="ctr"/>
          <a:lstStyle/>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MIN(1.0, consumed / committed)</a:t>
            </a:r>
            <a:endParaRPr lang="en-US" sz="900" dirty="0"/>
          </a:p>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Capped so overages don't inflate scores</a:t>
            </a:r>
            <a:endParaRPr lang="en-US" sz="900" dirty="0"/>
          </a:p>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Overages flagged for expansion</a:t>
            </a:r>
            <a:endParaRPr lang="en-US" sz="900" dirty="0"/>
          </a:p>
        </p:txBody>
      </p:sp>
      <p:sp>
        <p:nvSpPr>
          <p:cNvPr id="11" name="Shape 9"/>
          <p:cNvSpPr/>
          <p:nvPr/>
        </p:nvSpPr>
        <p:spPr>
          <a:xfrm>
            <a:off x="2670048" y="2029968"/>
            <a:ext cx="2066544" cy="2606040"/>
          </a:xfrm>
          <a:prstGeom prst="roundRect">
            <a:avLst>
              <a:gd name="adj" fmla="val 5310"/>
            </a:avLst>
          </a:prstGeom>
          <a:solidFill>
            <a:srgbClr val="0D1F3C"/>
          </a:solidFill>
          <a:ln/>
          <a:effectLst>
            <a:outerShdw blurRad="101600" dist="38100" dir="2700000" algn="bl" rotWithShape="0">
              <a:srgbClr val="000000">
                <a:alpha val="20000"/>
              </a:srgbClr>
            </a:outerShdw>
          </a:effectLst>
        </p:spPr>
      </p:sp>
      <p:sp>
        <p:nvSpPr>
          <p:cNvPr id="12" name="Text 10"/>
          <p:cNvSpPr/>
          <p:nvPr/>
        </p:nvSpPr>
        <p:spPr>
          <a:xfrm>
            <a:off x="2761488" y="2103120"/>
            <a:ext cx="1883664" cy="475488"/>
          </a:xfrm>
          <a:prstGeom prst="rect">
            <a:avLst/>
          </a:prstGeom>
          <a:noFill/>
          <a:ln/>
        </p:spPr>
        <p:txBody>
          <a:bodyPr wrap="square" rtlCol="0" anchor="ctr"/>
          <a:lstStyle/>
          <a:p>
            <a:pPr marL="0" indent="0" algn="ctr">
              <a:buNone/>
            </a:pPr>
            <a:r>
              <a:rPr lang="en-US" sz="2800" b="1" dirty="0">
                <a:solidFill>
                  <a:srgbClr val="00A896"/>
                </a:solidFill>
                <a:latin typeface="Cambria" pitchFamily="34" charset="0"/>
                <a:ea typeface="Cambria" pitchFamily="34" charset="-122"/>
                <a:cs typeface="Cambria" pitchFamily="34" charset="-120"/>
              </a:rPr>
              <a:t>30%</a:t>
            </a:r>
            <a:endParaRPr lang="en-US" sz="2800" dirty="0"/>
          </a:p>
        </p:txBody>
      </p:sp>
      <p:sp>
        <p:nvSpPr>
          <p:cNvPr id="13" name="Text 11"/>
          <p:cNvSpPr/>
          <p:nvPr/>
        </p:nvSpPr>
        <p:spPr>
          <a:xfrm>
            <a:off x="2761488" y="2578608"/>
            <a:ext cx="1883664"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Sustained Usage</a:t>
            </a:r>
            <a:endParaRPr lang="en-US" sz="1050" dirty="0"/>
          </a:p>
        </p:txBody>
      </p:sp>
      <p:sp>
        <p:nvSpPr>
          <p:cNvPr id="14" name="Shape 12"/>
          <p:cNvSpPr/>
          <p:nvPr/>
        </p:nvSpPr>
        <p:spPr>
          <a:xfrm>
            <a:off x="2944368" y="2944368"/>
            <a:ext cx="1517904" cy="0"/>
          </a:xfrm>
          <a:prstGeom prst="line">
            <a:avLst/>
          </a:prstGeom>
          <a:noFill/>
          <a:ln w="9525">
            <a:solidFill>
              <a:srgbClr val="00A896"/>
            </a:solidFill>
            <a:prstDash val="solid"/>
          </a:ln>
        </p:spPr>
      </p:sp>
      <p:sp>
        <p:nvSpPr>
          <p:cNvPr id="15" name="Text 13"/>
          <p:cNvSpPr/>
          <p:nvPr/>
        </p:nvSpPr>
        <p:spPr>
          <a:xfrm>
            <a:off x="2779776" y="3017520"/>
            <a:ext cx="1847088" cy="1463040"/>
          </a:xfrm>
          <a:prstGeom prst="rect">
            <a:avLst/>
          </a:prstGeom>
          <a:noFill/>
          <a:ln/>
        </p:spPr>
        <p:txBody>
          <a:bodyPr wrap="square" rtlCol="0" anchor="ctr"/>
          <a:lstStyle/>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Trailing 12-month window</a:t>
            </a:r>
            <a:endParaRPr lang="en-US" sz="900" dirty="0"/>
          </a:p>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30% monthly threshold for 'healthy'</a:t>
            </a:r>
            <a:endParaRPr lang="en-US" sz="900" dirty="0"/>
          </a:p>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Prevents spike-and-drop false positives</a:t>
            </a:r>
            <a:endParaRPr lang="en-US" sz="900" dirty="0"/>
          </a:p>
        </p:txBody>
      </p:sp>
      <p:sp>
        <p:nvSpPr>
          <p:cNvPr id="16" name="Shape 14"/>
          <p:cNvSpPr/>
          <p:nvPr/>
        </p:nvSpPr>
        <p:spPr>
          <a:xfrm>
            <a:off x="4882896" y="2029968"/>
            <a:ext cx="2066544" cy="2606040"/>
          </a:xfrm>
          <a:prstGeom prst="roundRect">
            <a:avLst>
              <a:gd name="adj" fmla="val 5310"/>
            </a:avLst>
          </a:prstGeom>
          <a:solidFill>
            <a:srgbClr val="0D1F3C"/>
          </a:solidFill>
          <a:ln/>
          <a:effectLst>
            <a:outerShdw blurRad="101600" dist="38100" dir="2700000" algn="bl" rotWithShape="0">
              <a:srgbClr val="000000">
                <a:alpha val="20000"/>
              </a:srgbClr>
            </a:outerShdw>
          </a:effectLst>
        </p:spPr>
      </p:sp>
      <p:sp>
        <p:nvSpPr>
          <p:cNvPr id="17" name="Text 15"/>
          <p:cNvSpPr/>
          <p:nvPr/>
        </p:nvSpPr>
        <p:spPr>
          <a:xfrm>
            <a:off x="4974336" y="2103120"/>
            <a:ext cx="1883664" cy="475488"/>
          </a:xfrm>
          <a:prstGeom prst="rect">
            <a:avLst/>
          </a:prstGeom>
          <a:noFill/>
          <a:ln/>
        </p:spPr>
        <p:txBody>
          <a:bodyPr wrap="square" rtlCol="0" anchor="ctr"/>
          <a:lstStyle/>
          <a:p>
            <a:pPr marL="0" indent="0" algn="ctr">
              <a:buNone/>
            </a:pPr>
            <a:r>
              <a:rPr lang="en-US" sz="2800" b="1" dirty="0">
                <a:solidFill>
                  <a:srgbClr val="F4A522"/>
                </a:solidFill>
                <a:latin typeface="Cambria" pitchFamily="34" charset="0"/>
                <a:ea typeface="Cambria" pitchFamily="34" charset="-122"/>
                <a:cs typeface="Cambria" pitchFamily="34" charset="-120"/>
              </a:rPr>
              <a:t>20%</a:t>
            </a:r>
            <a:endParaRPr lang="en-US" sz="2800" dirty="0"/>
          </a:p>
        </p:txBody>
      </p:sp>
      <p:sp>
        <p:nvSpPr>
          <p:cNvPr id="18" name="Text 16"/>
          <p:cNvSpPr/>
          <p:nvPr/>
        </p:nvSpPr>
        <p:spPr>
          <a:xfrm>
            <a:off x="4974336" y="2578608"/>
            <a:ext cx="1883664"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Technical Health</a:t>
            </a:r>
            <a:endParaRPr lang="en-US" sz="1050" dirty="0"/>
          </a:p>
        </p:txBody>
      </p:sp>
      <p:sp>
        <p:nvSpPr>
          <p:cNvPr id="19" name="Shape 17"/>
          <p:cNvSpPr/>
          <p:nvPr/>
        </p:nvSpPr>
        <p:spPr>
          <a:xfrm>
            <a:off x="5157216" y="2944368"/>
            <a:ext cx="1517904" cy="0"/>
          </a:xfrm>
          <a:prstGeom prst="line">
            <a:avLst/>
          </a:prstGeom>
          <a:noFill/>
          <a:ln w="9525">
            <a:solidFill>
              <a:srgbClr val="F4A522"/>
            </a:solidFill>
            <a:prstDash val="solid"/>
          </a:ln>
        </p:spPr>
      </p:sp>
      <p:sp>
        <p:nvSpPr>
          <p:cNvPr id="20" name="Text 18"/>
          <p:cNvSpPr/>
          <p:nvPr/>
        </p:nvSpPr>
        <p:spPr>
          <a:xfrm>
            <a:off x="4992624" y="3017520"/>
            <a:ext cx="1847088" cy="1463040"/>
          </a:xfrm>
          <a:prstGeom prst="rect">
            <a:avLst/>
          </a:prstGeom>
          <a:noFill/>
          <a:ln/>
        </p:spPr>
        <p:txBody>
          <a:bodyPr wrap="square" rtlCol="0" anchor="ctr"/>
          <a:lstStyle/>
          <a:p>
            <a:pPr>
              <a:lnSpc>
                <a:spcPct val="130000"/>
              </a:lnSpc>
            </a:pPr>
            <a:r>
              <a:rPr lang="en-US" sz="900" dirty="0" err="1">
                <a:solidFill>
                  <a:srgbClr val="8FB3CC"/>
                </a:solidFill>
                <a:latin typeface="Calibri" pitchFamily="34" charset="0"/>
                <a:ea typeface="Calibri" pitchFamily="34" charset="-122"/>
                <a:cs typeface="Calibri" pitchFamily="34" charset="-120"/>
              </a:rPr>
              <a:t>health_color</a:t>
            </a:r>
            <a:r>
              <a:rPr lang="en-US" sz="900" dirty="0">
                <a:solidFill>
                  <a:srgbClr val="8FB3CC"/>
                </a:solidFill>
                <a:latin typeface="Calibri" pitchFamily="34" charset="0"/>
                <a:ea typeface="Calibri" pitchFamily="34" charset="-122"/>
                <a:cs typeface="Calibri" pitchFamily="34" charset="-120"/>
              </a:rPr>
              <a:t> (MVP)</a:t>
            </a:r>
            <a:br>
              <a:rPr lang="en-US" sz="900" dirty="0">
                <a:solidFill>
                  <a:srgbClr val="8FB3CC"/>
                </a:solidFill>
                <a:latin typeface="Calibri" pitchFamily="34" charset="0"/>
                <a:ea typeface="Calibri" pitchFamily="34" charset="-122"/>
                <a:cs typeface="Calibri" pitchFamily="34" charset="-120"/>
              </a:rPr>
            </a:br>
            <a:r>
              <a:rPr lang="en-US" sz="900" dirty="0">
                <a:solidFill>
                  <a:srgbClr val="8FB3CC"/>
                </a:solidFill>
                <a:latin typeface="Calibri" pitchFamily="34" charset="0"/>
                <a:ea typeface="Calibri" pitchFamily="34" charset="-122"/>
                <a:cs typeface="Calibri" pitchFamily="34" charset="-120"/>
              </a:rPr>
              <a:t>P1/P2 ticket rate, MTTR, #escalation, open rate (Future)</a:t>
            </a:r>
            <a:endParaRPr lang="en-US" sz="900" dirty="0"/>
          </a:p>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Missing → defaults to 0.60 (Yellow)</a:t>
            </a:r>
            <a:endParaRPr lang="en-US" sz="900" dirty="0"/>
          </a:p>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Detects deployment vs. efficacy illusion</a:t>
            </a:r>
            <a:endParaRPr lang="en-US" sz="900" dirty="0"/>
          </a:p>
        </p:txBody>
      </p:sp>
      <p:sp>
        <p:nvSpPr>
          <p:cNvPr id="21" name="Shape 19"/>
          <p:cNvSpPr/>
          <p:nvPr/>
        </p:nvSpPr>
        <p:spPr>
          <a:xfrm>
            <a:off x="7095744" y="2029968"/>
            <a:ext cx="2066544" cy="2606040"/>
          </a:xfrm>
          <a:prstGeom prst="roundRect">
            <a:avLst>
              <a:gd name="adj" fmla="val 5310"/>
            </a:avLst>
          </a:prstGeom>
          <a:solidFill>
            <a:srgbClr val="0D1F3C"/>
          </a:solidFill>
          <a:ln/>
          <a:effectLst>
            <a:outerShdw blurRad="101600" dist="38100" dir="2700000" algn="bl" rotWithShape="0">
              <a:srgbClr val="000000">
                <a:alpha val="20000"/>
              </a:srgbClr>
            </a:outerShdw>
          </a:effectLst>
        </p:spPr>
      </p:sp>
      <p:sp>
        <p:nvSpPr>
          <p:cNvPr id="22" name="Text 20"/>
          <p:cNvSpPr/>
          <p:nvPr/>
        </p:nvSpPr>
        <p:spPr>
          <a:xfrm>
            <a:off x="7187184" y="2103120"/>
            <a:ext cx="1883664" cy="475488"/>
          </a:xfrm>
          <a:prstGeom prst="rect">
            <a:avLst/>
          </a:prstGeom>
          <a:noFill/>
          <a:ln/>
        </p:spPr>
        <p:txBody>
          <a:bodyPr wrap="square" rtlCol="0" anchor="ctr"/>
          <a:lstStyle/>
          <a:p>
            <a:pPr marL="0" indent="0" algn="ctr">
              <a:buNone/>
            </a:pPr>
            <a:r>
              <a:rPr lang="en-US" sz="2800" b="1" dirty="0">
                <a:solidFill>
                  <a:srgbClr val="8FB3CC"/>
                </a:solidFill>
                <a:latin typeface="Cambria" pitchFamily="34" charset="0"/>
                <a:ea typeface="Cambria" pitchFamily="34" charset="-122"/>
                <a:cs typeface="Cambria" pitchFamily="34" charset="-120"/>
              </a:rPr>
              <a:t>10%</a:t>
            </a:r>
            <a:endParaRPr lang="en-US" sz="2800" dirty="0"/>
          </a:p>
        </p:txBody>
      </p:sp>
      <p:sp>
        <p:nvSpPr>
          <p:cNvPr id="23" name="Text 21"/>
          <p:cNvSpPr/>
          <p:nvPr/>
        </p:nvSpPr>
        <p:spPr>
          <a:xfrm>
            <a:off x="7187184" y="2578608"/>
            <a:ext cx="1883664"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Expansion Momentum</a:t>
            </a:r>
            <a:endParaRPr lang="en-US" sz="1050" dirty="0"/>
          </a:p>
        </p:txBody>
      </p:sp>
      <p:sp>
        <p:nvSpPr>
          <p:cNvPr id="24" name="Shape 22"/>
          <p:cNvSpPr/>
          <p:nvPr/>
        </p:nvSpPr>
        <p:spPr>
          <a:xfrm>
            <a:off x="7370064" y="2944368"/>
            <a:ext cx="1517904" cy="0"/>
          </a:xfrm>
          <a:prstGeom prst="line">
            <a:avLst/>
          </a:prstGeom>
          <a:noFill/>
          <a:ln w="9525">
            <a:solidFill>
              <a:srgbClr val="8FB3CC"/>
            </a:solidFill>
            <a:prstDash val="solid"/>
          </a:ln>
        </p:spPr>
      </p:sp>
      <p:sp>
        <p:nvSpPr>
          <p:cNvPr id="25" name="Text 23"/>
          <p:cNvSpPr/>
          <p:nvPr/>
        </p:nvSpPr>
        <p:spPr>
          <a:xfrm>
            <a:off x="7205472" y="3017520"/>
            <a:ext cx="1847088" cy="1463040"/>
          </a:xfrm>
          <a:prstGeom prst="rect">
            <a:avLst/>
          </a:prstGeom>
          <a:noFill/>
          <a:ln/>
        </p:spPr>
        <p:txBody>
          <a:bodyPr wrap="square" rtlCol="0" anchor="ctr"/>
          <a:lstStyle/>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Multi-contract expansion signals</a:t>
            </a:r>
            <a:endParaRPr lang="en-US" sz="900" dirty="0"/>
          </a:p>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&lt;3 months history → defaults to 0.10</a:t>
            </a:r>
            <a:endParaRPr lang="en-US" sz="900" dirty="0"/>
          </a:p>
          <a:p>
            <a:pPr marL="0" indent="0" algn="l">
              <a:lnSpc>
                <a:spcPct val="130000"/>
              </a:lnSpc>
              <a:buNone/>
            </a:pPr>
            <a:r>
              <a:rPr lang="en-US" sz="900" dirty="0">
                <a:solidFill>
                  <a:srgbClr val="8FB3CC"/>
                </a:solidFill>
                <a:latin typeface="Calibri" pitchFamily="34" charset="0"/>
                <a:ea typeface="Calibri" pitchFamily="34" charset="-122"/>
                <a:cs typeface="Calibri" pitchFamily="34" charset="-120"/>
              </a:rPr>
              <a:t>Turns overagers into pipeline</a:t>
            </a:r>
            <a:endParaRPr lang="en-US" sz="900" dirty="0"/>
          </a:p>
        </p:txBody>
      </p:sp>
      <p:sp>
        <p:nvSpPr>
          <p:cNvPr id="26" name="Shape 24"/>
          <p:cNvSpPr/>
          <p:nvPr/>
        </p:nvSpPr>
        <p:spPr>
          <a:xfrm>
            <a:off x="457200" y="4663440"/>
            <a:ext cx="8229600" cy="365760"/>
          </a:xfrm>
          <a:prstGeom prst="roundRect">
            <a:avLst>
              <a:gd name="adj" fmla="val 20000"/>
            </a:avLst>
          </a:prstGeom>
          <a:solidFill>
            <a:srgbClr val="A32D2D">
              <a:alpha val="25000"/>
            </a:srgbClr>
          </a:solidFill>
          <a:ln/>
        </p:spPr>
      </p:sp>
      <p:sp>
        <p:nvSpPr>
          <p:cNvPr id="27" name="Text 25"/>
          <p:cNvSpPr/>
          <p:nvPr/>
        </p:nvSpPr>
        <p:spPr>
          <a:xfrm>
            <a:off x="594360" y="4681728"/>
            <a:ext cx="795528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SHELFWARE OVERRIDE: IF Deployment = 0 AND Sustained Usage = 0  →  PRS = 0.00 (hard floor — no phantom realized value)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Data Pipeline Architecture</a:t>
            </a:r>
            <a:endParaRPr lang="en-US" sz="2800" dirty="0"/>
          </a:p>
        </p:txBody>
      </p:sp>
      <p:sp>
        <p:nvSpPr>
          <p:cNvPr id="3" name="Text 1"/>
          <p:cNvSpPr/>
          <p:nvPr/>
        </p:nvSpPr>
        <p:spPr>
          <a:xfrm>
            <a:off x="457200" y="713232"/>
            <a:ext cx="8229600" cy="274320"/>
          </a:xfrm>
          <a:prstGeom prst="rect">
            <a:avLst/>
          </a:prstGeom>
          <a:noFill/>
          <a:ln/>
        </p:spPr>
        <p:txBody>
          <a:bodyPr wrap="square" rtlCol="0" anchor="ctr"/>
          <a:lstStyle/>
          <a:p>
            <a:pPr marL="0" indent="0">
              <a:buNone/>
            </a:pPr>
            <a:r>
              <a:rPr lang="en-US" sz="1200" i="1" dirty="0">
                <a:solidFill>
                  <a:srgbClr val="00C9B1"/>
                </a:solidFill>
                <a:latin typeface="Calibri" pitchFamily="34" charset="0"/>
                <a:ea typeface="Calibri" pitchFamily="34" charset="-122"/>
                <a:cs typeface="Calibri" pitchFamily="34" charset="-120"/>
              </a:rPr>
              <a:t>Spec-driven AI development: BRD → Markdown spec → Claude Code → BigQuery pipeline → Tests → Dashboard</a:t>
            </a:r>
            <a:endParaRPr lang="en-US" sz="1200" dirty="0"/>
          </a:p>
        </p:txBody>
      </p:sp>
      <p:sp>
        <p:nvSpPr>
          <p:cNvPr id="4" name="Shape 2"/>
          <p:cNvSpPr/>
          <p:nvPr/>
        </p:nvSpPr>
        <p:spPr>
          <a:xfrm>
            <a:off x="457200" y="1097280"/>
            <a:ext cx="1536192" cy="1920240"/>
          </a:xfrm>
          <a:prstGeom prst="roundRect">
            <a:avLst>
              <a:gd name="adj" fmla="val 7143"/>
            </a:avLst>
          </a:prstGeom>
          <a:solidFill>
            <a:srgbClr val="152642"/>
          </a:solidFill>
          <a:ln/>
          <a:effectLst>
            <a:outerShdw blurRad="101600" dist="38100" dir="2700000" algn="bl" rotWithShape="0">
              <a:srgbClr val="000000">
                <a:alpha val="20000"/>
              </a:srgbClr>
            </a:outerShdw>
          </a:effectLst>
        </p:spPr>
      </p:sp>
      <p:sp>
        <p:nvSpPr>
          <p:cNvPr id="5" name="Text 3"/>
          <p:cNvSpPr/>
          <p:nvPr/>
        </p:nvSpPr>
        <p:spPr>
          <a:xfrm>
            <a:off x="530352" y="1170432"/>
            <a:ext cx="1389888" cy="502920"/>
          </a:xfrm>
          <a:prstGeom prst="rect">
            <a:avLst/>
          </a:prstGeom>
          <a:noFill/>
          <a:ln/>
        </p:spPr>
        <p:txBody>
          <a:bodyPr wrap="square" rtlCol="0" anchor="ctr"/>
          <a:lstStyle/>
          <a:p>
            <a:pPr marL="0" indent="0" algn="ctr">
              <a:buNone/>
            </a:pPr>
            <a:r>
              <a:rPr lang="en-US" sz="1150" b="1" dirty="0">
                <a:solidFill>
                  <a:srgbClr val="00C9B1"/>
                </a:solidFill>
                <a:latin typeface="Calibri" pitchFamily="34" charset="0"/>
                <a:ea typeface="Calibri" pitchFamily="34" charset="-122"/>
                <a:cs typeface="Calibri" pitchFamily="34" charset="-120"/>
              </a:rPr>
              <a:t>Data</a:t>
            </a:r>
            <a:endParaRPr lang="en-US" sz="1150" dirty="0"/>
          </a:p>
          <a:p>
            <a:pPr marL="0" indent="0" algn="ctr">
              <a:buNone/>
            </a:pPr>
            <a:r>
              <a:rPr lang="en-US" sz="1150" b="1" dirty="0">
                <a:solidFill>
                  <a:srgbClr val="00C9B1"/>
                </a:solidFill>
                <a:latin typeface="Calibri" pitchFamily="34" charset="0"/>
                <a:ea typeface="Calibri" pitchFamily="34" charset="-122"/>
                <a:cs typeface="Calibri" pitchFamily="34" charset="-120"/>
              </a:rPr>
              <a:t>Generation</a:t>
            </a:r>
            <a:endParaRPr lang="en-US" sz="1150" dirty="0"/>
          </a:p>
        </p:txBody>
      </p:sp>
      <p:sp>
        <p:nvSpPr>
          <p:cNvPr id="6" name="Text 4"/>
          <p:cNvSpPr/>
          <p:nvPr/>
        </p:nvSpPr>
        <p:spPr>
          <a:xfrm>
            <a:off x="548640" y="1719072"/>
            <a:ext cx="1353312" cy="1234440"/>
          </a:xfrm>
          <a:prstGeom prst="rect">
            <a:avLst/>
          </a:prstGeom>
          <a:noFill/>
          <a:ln/>
        </p:spPr>
        <p:txBody>
          <a:bodyPr wrap="square" rtlCol="0" anchor="ctr"/>
          <a:lstStyle/>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~1K accounts</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~50K health rows</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~200K usage logs</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Python + Faker</a:t>
            </a:r>
            <a:endParaRPr lang="en-US" sz="900" dirty="0"/>
          </a:p>
        </p:txBody>
      </p:sp>
      <p:sp>
        <p:nvSpPr>
          <p:cNvPr id="7" name="Text 5"/>
          <p:cNvSpPr/>
          <p:nvPr/>
        </p:nvSpPr>
        <p:spPr>
          <a:xfrm>
            <a:off x="1993392" y="1737360"/>
            <a:ext cx="201168" cy="384048"/>
          </a:xfrm>
          <a:prstGeom prst="rect">
            <a:avLst/>
          </a:prstGeom>
          <a:noFill/>
          <a:ln/>
        </p:spPr>
        <p:txBody>
          <a:bodyPr wrap="square" rtlCol="0" anchor="ctr"/>
          <a:lstStyle/>
          <a:p>
            <a:pPr marL="0" indent="0" algn="ctr">
              <a:buNone/>
            </a:pPr>
            <a:r>
              <a:rPr lang="en-US" sz="1600" b="1" dirty="0">
                <a:solidFill>
                  <a:srgbClr val="00C9B1"/>
                </a:solidFill>
              </a:rPr>
              <a:t>→</a:t>
            </a:r>
            <a:endParaRPr lang="en-US" sz="1600" dirty="0"/>
          </a:p>
        </p:txBody>
      </p:sp>
      <p:sp>
        <p:nvSpPr>
          <p:cNvPr id="8" name="Shape 6"/>
          <p:cNvSpPr/>
          <p:nvPr/>
        </p:nvSpPr>
        <p:spPr>
          <a:xfrm>
            <a:off x="2194560" y="1097280"/>
            <a:ext cx="1536192" cy="1920240"/>
          </a:xfrm>
          <a:prstGeom prst="roundRect">
            <a:avLst>
              <a:gd name="adj" fmla="val 7143"/>
            </a:avLst>
          </a:prstGeom>
          <a:solidFill>
            <a:srgbClr val="152642"/>
          </a:solidFill>
          <a:ln/>
          <a:effectLst>
            <a:outerShdw blurRad="101600" dist="38100" dir="2700000" algn="bl" rotWithShape="0">
              <a:srgbClr val="000000">
                <a:alpha val="20000"/>
              </a:srgbClr>
            </a:outerShdw>
          </a:effectLst>
        </p:spPr>
      </p:sp>
      <p:sp>
        <p:nvSpPr>
          <p:cNvPr id="9" name="Text 7"/>
          <p:cNvSpPr/>
          <p:nvPr/>
        </p:nvSpPr>
        <p:spPr>
          <a:xfrm>
            <a:off x="2267712" y="1170432"/>
            <a:ext cx="1389888" cy="502920"/>
          </a:xfrm>
          <a:prstGeom prst="rect">
            <a:avLst/>
          </a:prstGeom>
          <a:noFill/>
          <a:ln/>
        </p:spPr>
        <p:txBody>
          <a:bodyPr wrap="square" rtlCol="0" anchor="ctr"/>
          <a:lstStyle/>
          <a:p>
            <a:pPr marL="0" indent="0" algn="ctr">
              <a:buNone/>
            </a:pPr>
            <a:r>
              <a:rPr lang="en-US" sz="1150" b="1" dirty="0">
                <a:solidFill>
                  <a:srgbClr val="00C9B1"/>
                </a:solidFill>
                <a:latin typeface="Calibri" pitchFamily="34" charset="0"/>
                <a:ea typeface="Calibri" pitchFamily="34" charset="-122"/>
                <a:cs typeface="Calibri" pitchFamily="34" charset="-120"/>
              </a:rPr>
              <a:t>DQ Gates</a:t>
            </a:r>
            <a:endParaRPr lang="en-US" sz="1150" dirty="0"/>
          </a:p>
        </p:txBody>
      </p:sp>
      <p:sp>
        <p:nvSpPr>
          <p:cNvPr id="10" name="Text 8"/>
          <p:cNvSpPr/>
          <p:nvPr/>
        </p:nvSpPr>
        <p:spPr>
          <a:xfrm>
            <a:off x="2286000" y="1719072"/>
            <a:ext cx="1353312" cy="1234440"/>
          </a:xfrm>
          <a:prstGeom prst="rect">
            <a:avLst/>
          </a:prstGeom>
          <a:noFill/>
          <a:ln/>
        </p:spPr>
        <p:txBody>
          <a:bodyPr wrap="square" rtlCol="0" anchor="ctr"/>
          <a:lstStyle/>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DQ-001 Orphaned</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DQ-002 Rogue dates</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350 flagged rows</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clean_usage_logs view</a:t>
            </a:r>
            <a:endParaRPr lang="en-US" sz="900" dirty="0"/>
          </a:p>
        </p:txBody>
      </p:sp>
      <p:sp>
        <p:nvSpPr>
          <p:cNvPr id="11" name="Text 9"/>
          <p:cNvSpPr/>
          <p:nvPr/>
        </p:nvSpPr>
        <p:spPr>
          <a:xfrm>
            <a:off x="3730752" y="1737360"/>
            <a:ext cx="201168" cy="384048"/>
          </a:xfrm>
          <a:prstGeom prst="rect">
            <a:avLst/>
          </a:prstGeom>
          <a:noFill/>
          <a:ln/>
        </p:spPr>
        <p:txBody>
          <a:bodyPr wrap="square" rtlCol="0" anchor="ctr"/>
          <a:lstStyle/>
          <a:p>
            <a:pPr marL="0" indent="0" algn="ctr">
              <a:buNone/>
            </a:pPr>
            <a:r>
              <a:rPr lang="en-US" sz="1600" b="1" dirty="0">
                <a:solidFill>
                  <a:srgbClr val="00C9B1"/>
                </a:solidFill>
              </a:rPr>
              <a:t>→</a:t>
            </a:r>
            <a:endParaRPr lang="en-US" sz="1600" dirty="0"/>
          </a:p>
        </p:txBody>
      </p:sp>
      <p:sp>
        <p:nvSpPr>
          <p:cNvPr id="12" name="Shape 10"/>
          <p:cNvSpPr/>
          <p:nvPr/>
        </p:nvSpPr>
        <p:spPr>
          <a:xfrm>
            <a:off x="3931920" y="1097280"/>
            <a:ext cx="1536192" cy="1920240"/>
          </a:xfrm>
          <a:prstGeom prst="roundRect">
            <a:avLst>
              <a:gd name="adj" fmla="val 7143"/>
            </a:avLst>
          </a:prstGeom>
          <a:solidFill>
            <a:srgbClr val="152642"/>
          </a:solidFill>
          <a:ln/>
          <a:effectLst>
            <a:outerShdw blurRad="101600" dist="38100" dir="2700000" algn="bl" rotWithShape="0">
              <a:srgbClr val="000000">
                <a:alpha val="20000"/>
              </a:srgbClr>
            </a:outerShdw>
          </a:effectLst>
        </p:spPr>
      </p:sp>
      <p:sp>
        <p:nvSpPr>
          <p:cNvPr id="13" name="Text 11"/>
          <p:cNvSpPr/>
          <p:nvPr/>
        </p:nvSpPr>
        <p:spPr>
          <a:xfrm>
            <a:off x="4005072" y="1170432"/>
            <a:ext cx="1389888" cy="502920"/>
          </a:xfrm>
          <a:prstGeom prst="rect">
            <a:avLst/>
          </a:prstGeom>
          <a:noFill/>
          <a:ln/>
        </p:spPr>
        <p:txBody>
          <a:bodyPr wrap="square" rtlCol="0" anchor="ctr"/>
          <a:lstStyle/>
          <a:p>
            <a:pPr marL="0" indent="0" algn="ctr">
              <a:buNone/>
            </a:pPr>
            <a:r>
              <a:rPr lang="en-US" sz="1150" b="1" dirty="0">
                <a:solidFill>
                  <a:srgbClr val="00C9B1"/>
                </a:solidFill>
                <a:latin typeface="Calibri" pitchFamily="34" charset="0"/>
                <a:ea typeface="Calibri" pitchFamily="34" charset="-122"/>
                <a:cs typeface="Calibri" pitchFamily="34" charset="-120"/>
              </a:rPr>
              <a:t>BigQuery</a:t>
            </a:r>
            <a:endParaRPr lang="en-US" sz="1150" dirty="0"/>
          </a:p>
          <a:p>
            <a:pPr marL="0" indent="0" algn="ctr">
              <a:buNone/>
            </a:pPr>
            <a:r>
              <a:rPr lang="en-US" sz="1150" b="1" dirty="0">
                <a:solidFill>
                  <a:srgbClr val="00C9B1"/>
                </a:solidFill>
                <a:latin typeface="Calibri" pitchFamily="34" charset="0"/>
                <a:ea typeface="Calibri" pitchFamily="34" charset="-122"/>
                <a:cs typeface="Calibri" pitchFamily="34" charset="-120"/>
              </a:rPr>
              <a:t>Pipeline</a:t>
            </a:r>
            <a:endParaRPr lang="en-US" sz="1150" dirty="0"/>
          </a:p>
        </p:txBody>
      </p:sp>
      <p:sp>
        <p:nvSpPr>
          <p:cNvPr id="14" name="Text 12"/>
          <p:cNvSpPr/>
          <p:nvPr/>
        </p:nvSpPr>
        <p:spPr>
          <a:xfrm>
            <a:off x="4023360" y="1719072"/>
            <a:ext cx="1353312" cy="1234440"/>
          </a:xfrm>
          <a:prstGeom prst="rect">
            <a:avLst/>
          </a:prstGeom>
          <a:noFill/>
          <a:ln/>
        </p:spPr>
        <p:txBody>
          <a:bodyPr wrap="square" rtlCol="0" anchor="ctr"/>
          <a:lstStyle/>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5 tables</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MAX() overlap fix</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PRS computation</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Realized ARR grain</a:t>
            </a:r>
            <a:endParaRPr lang="en-US" sz="900" dirty="0"/>
          </a:p>
        </p:txBody>
      </p:sp>
      <p:sp>
        <p:nvSpPr>
          <p:cNvPr id="15" name="Text 13"/>
          <p:cNvSpPr/>
          <p:nvPr/>
        </p:nvSpPr>
        <p:spPr>
          <a:xfrm>
            <a:off x="5468112" y="1737360"/>
            <a:ext cx="201168" cy="384048"/>
          </a:xfrm>
          <a:prstGeom prst="rect">
            <a:avLst/>
          </a:prstGeom>
          <a:noFill/>
          <a:ln/>
        </p:spPr>
        <p:txBody>
          <a:bodyPr wrap="square" rtlCol="0" anchor="ctr"/>
          <a:lstStyle/>
          <a:p>
            <a:pPr marL="0" indent="0" algn="ctr">
              <a:buNone/>
            </a:pPr>
            <a:r>
              <a:rPr lang="en-US" sz="1600" b="1" dirty="0">
                <a:solidFill>
                  <a:srgbClr val="00C9B1"/>
                </a:solidFill>
              </a:rPr>
              <a:t>→</a:t>
            </a:r>
            <a:endParaRPr lang="en-US" sz="1600" dirty="0"/>
          </a:p>
        </p:txBody>
      </p:sp>
      <p:sp>
        <p:nvSpPr>
          <p:cNvPr id="16" name="Shape 14"/>
          <p:cNvSpPr/>
          <p:nvPr/>
        </p:nvSpPr>
        <p:spPr>
          <a:xfrm>
            <a:off x="5669280" y="1097280"/>
            <a:ext cx="1536192" cy="1920240"/>
          </a:xfrm>
          <a:prstGeom prst="roundRect">
            <a:avLst>
              <a:gd name="adj" fmla="val 7143"/>
            </a:avLst>
          </a:prstGeom>
          <a:solidFill>
            <a:srgbClr val="152642"/>
          </a:solidFill>
          <a:ln/>
          <a:effectLst>
            <a:outerShdw blurRad="101600" dist="38100" dir="2700000" algn="bl" rotWithShape="0">
              <a:srgbClr val="000000">
                <a:alpha val="20000"/>
              </a:srgbClr>
            </a:outerShdw>
          </a:effectLst>
        </p:spPr>
      </p:sp>
      <p:sp>
        <p:nvSpPr>
          <p:cNvPr id="17" name="Text 15"/>
          <p:cNvSpPr/>
          <p:nvPr/>
        </p:nvSpPr>
        <p:spPr>
          <a:xfrm>
            <a:off x="5742432" y="1170432"/>
            <a:ext cx="1389888" cy="502920"/>
          </a:xfrm>
          <a:prstGeom prst="rect">
            <a:avLst/>
          </a:prstGeom>
          <a:noFill/>
          <a:ln/>
        </p:spPr>
        <p:txBody>
          <a:bodyPr wrap="square" rtlCol="0" anchor="ctr"/>
          <a:lstStyle/>
          <a:p>
            <a:pPr marL="0" indent="0" algn="ctr">
              <a:buNone/>
            </a:pPr>
            <a:r>
              <a:rPr lang="en-US" sz="1150" b="1" dirty="0">
                <a:solidFill>
                  <a:srgbClr val="00C9B1"/>
                </a:solidFill>
                <a:latin typeface="Calibri" pitchFamily="34" charset="0"/>
                <a:ea typeface="Calibri" pitchFamily="34" charset="-122"/>
                <a:cs typeface="Calibri" pitchFamily="34" charset="-120"/>
              </a:rPr>
              <a:t>22/22</a:t>
            </a:r>
            <a:endParaRPr lang="en-US" sz="1150" dirty="0"/>
          </a:p>
          <a:p>
            <a:pPr marL="0" indent="0" algn="ctr">
              <a:buNone/>
            </a:pPr>
            <a:r>
              <a:rPr lang="en-US" sz="1150" b="1" dirty="0">
                <a:solidFill>
                  <a:srgbClr val="00C9B1"/>
                </a:solidFill>
                <a:latin typeface="Calibri" pitchFamily="34" charset="0"/>
                <a:ea typeface="Calibri" pitchFamily="34" charset="-122"/>
                <a:cs typeface="Calibri" pitchFamily="34" charset="-120"/>
              </a:rPr>
              <a:t>Tests</a:t>
            </a:r>
            <a:endParaRPr lang="en-US" sz="1150" dirty="0"/>
          </a:p>
        </p:txBody>
      </p:sp>
      <p:sp>
        <p:nvSpPr>
          <p:cNvPr id="18" name="Text 16"/>
          <p:cNvSpPr/>
          <p:nvPr/>
        </p:nvSpPr>
        <p:spPr>
          <a:xfrm>
            <a:off x="5760720" y="1719072"/>
            <a:ext cx="1353312" cy="1234440"/>
          </a:xfrm>
          <a:prstGeom prst="rect">
            <a:avLst/>
          </a:prstGeom>
          <a:noFill/>
          <a:ln/>
        </p:spPr>
        <p:txBody>
          <a:bodyPr wrap="square" rtlCol="0" anchor="ctr"/>
          <a:lstStyle/>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pytest assertions</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Invariant checks</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Edge case coverage</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All green ✓</a:t>
            </a:r>
            <a:endParaRPr lang="en-US" sz="900" dirty="0"/>
          </a:p>
        </p:txBody>
      </p:sp>
      <p:sp>
        <p:nvSpPr>
          <p:cNvPr id="19" name="Text 17"/>
          <p:cNvSpPr/>
          <p:nvPr/>
        </p:nvSpPr>
        <p:spPr>
          <a:xfrm>
            <a:off x="7205472" y="1737360"/>
            <a:ext cx="201168" cy="384048"/>
          </a:xfrm>
          <a:prstGeom prst="rect">
            <a:avLst/>
          </a:prstGeom>
          <a:noFill/>
          <a:ln/>
        </p:spPr>
        <p:txBody>
          <a:bodyPr wrap="square" rtlCol="0" anchor="ctr"/>
          <a:lstStyle/>
          <a:p>
            <a:pPr marL="0" indent="0" algn="ctr">
              <a:buNone/>
            </a:pPr>
            <a:r>
              <a:rPr lang="en-US" sz="1600" b="1" dirty="0">
                <a:solidFill>
                  <a:srgbClr val="00C9B1"/>
                </a:solidFill>
              </a:rPr>
              <a:t>→</a:t>
            </a:r>
            <a:endParaRPr lang="en-US" sz="1600" dirty="0"/>
          </a:p>
        </p:txBody>
      </p:sp>
      <p:sp>
        <p:nvSpPr>
          <p:cNvPr id="20" name="Shape 18"/>
          <p:cNvSpPr/>
          <p:nvPr/>
        </p:nvSpPr>
        <p:spPr>
          <a:xfrm>
            <a:off x="7406640" y="1097280"/>
            <a:ext cx="1536192" cy="1920240"/>
          </a:xfrm>
          <a:prstGeom prst="roundRect">
            <a:avLst>
              <a:gd name="adj" fmla="val 7143"/>
            </a:avLst>
          </a:prstGeom>
          <a:solidFill>
            <a:srgbClr val="152642"/>
          </a:solidFill>
          <a:ln/>
          <a:effectLst>
            <a:outerShdw blurRad="101600" dist="38100" dir="2700000" algn="bl" rotWithShape="0">
              <a:srgbClr val="000000">
                <a:alpha val="20000"/>
              </a:srgbClr>
            </a:outerShdw>
          </a:effectLst>
        </p:spPr>
      </p:sp>
      <p:sp>
        <p:nvSpPr>
          <p:cNvPr id="21" name="Text 19"/>
          <p:cNvSpPr/>
          <p:nvPr/>
        </p:nvSpPr>
        <p:spPr>
          <a:xfrm>
            <a:off x="7479792" y="1170432"/>
            <a:ext cx="1389888" cy="502920"/>
          </a:xfrm>
          <a:prstGeom prst="rect">
            <a:avLst/>
          </a:prstGeom>
          <a:noFill/>
          <a:ln/>
        </p:spPr>
        <p:txBody>
          <a:bodyPr wrap="square" rtlCol="0" anchor="ctr"/>
          <a:lstStyle/>
          <a:p>
            <a:pPr marL="0" indent="0" algn="ctr">
              <a:buNone/>
            </a:pPr>
            <a:r>
              <a:rPr lang="en-US" sz="1150" b="1" dirty="0">
                <a:solidFill>
                  <a:srgbClr val="00C9B1"/>
                </a:solidFill>
                <a:latin typeface="Calibri" pitchFamily="34" charset="0"/>
                <a:ea typeface="Calibri" pitchFamily="34" charset="-122"/>
                <a:cs typeface="Calibri" pitchFamily="34" charset="-120"/>
              </a:rPr>
              <a:t>Streamlit</a:t>
            </a:r>
            <a:endParaRPr lang="en-US" sz="1150" dirty="0"/>
          </a:p>
          <a:p>
            <a:pPr marL="0" indent="0" algn="ctr">
              <a:buNone/>
            </a:pPr>
            <a:r>
              <a:rPr lang="en-US" sz="1150" b="1" dirty="0">
                <a:solidFill>
                  <a:srgbClr val="00C9B1"/>
                </a:solidFill>
                <a:latin typeface="Calibri" pitchFamily="34" charset="0"/>
                <a:ea typeface="Calibri" pitchFamily="34" charset="-122"/>
                <a:cs typeface="Calibri" pitchFamily="34" charset="-120"/>
              </a:rPr>
              <a:t>Dashboard</a:t>
            </a:r>
            <a:endParaRPr lang="en-US" sz="1150" dirty="0"/>
          </a:p>
        </p:txBody>
      </p:sp>
      <p:sp>
        <p:nvSpPr>
          <p:cNvPr id="22" name="Text 20"/>
          <p:cNvSpPr/>
          <p:nvPr/>
        </p:nvSpPr>
        <p:spPr>
          <a:xfrm>
            <a:off x="7498080" y="1719072"/>
            <a:ext cx="1353312" cy="1234440"/>
          </a:xfrm>
          <a:prstGeom prst="rect">
            <a:avLst/>
          </a:prstGeom>
          <a:noFill/>
          <a:ln/>
        </p:spPr>
        <p:txBody>
          <a:bodyPr wrap="square" rtlCol="0" anchor="ctr"/>
          <a:lstStyle/>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Portfolio view</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Region/Rep drill</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Month selector</a:t>
            </a:r>
            <a:endParaRPr lang="en-US" sz="900" dirty="0"/>
          </a:p>
          <a:p>
            <a:pPr marL="0" indent="0" algn="ctr">
              <a:lnSpc>
                <a:spcPct val="125000"/>
              </a:lnSpc>
              <a:buNone/>
            </a:pPr>
            <a:r>
              <a:rPr lang="en-US" sz="900" dirty="0">
                <a:solidFill>
                  <a:srgbClr val="E8F4F8"/>
                </a:solidFill>
                <a:latin typeface="Calibri" pitchFamily="34" charset="0"/>
                <a:ea typeface="Calibri" pitchFamily="34" charset="-122"/>
                <a:cs typeface="Calibri" pitchFamily="34" charset="-120"/>
              </a:rPr>
              <a:t>Live on cloud</a:t>
            </a:r>
            <a:endParaRPr lang="en-US" sz="900" dirty="0"/>
          </a:p>
        </p:txBody>
      </p:sp>
      <p:sp>
        <p:nvSpPr>
          <p:cNvPr id="23" name="Text 21"/>
          <p:cNvSpPr/>
          <p:nvPr/>
        </p:nvSpPr>
        <p:spPr>
          <a:xfrm>
            <a:off x="457200" y="3182112"/>
            <a:ext cx="822960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5 Injected Anomalies — All Handled:</a:t>
            </a:r>
            <a:endParaRPr lang="en-US" sz="1300" dirty="0"/>
          </a:p>
        </p:txBody>
      </p:sp>
      <p:sp>
        <p:nvSpPr>
          <p:cNvPr id="24" name="Shape 22"/>
          <p:cNvSpPr/>
          <p:nvPr/>
        </p:nvSpPr>
        <p:spPr>
          <a:xfrm>
            <a:off x="457200" y="3547872"/>
            <a:ext cx="1664208" cy="1325880"/>
          </a:xfrm>
          <a:prstGeom prst="roundRect">
            <a:avLst>
              <a:gd name="adj" fmla="val 6897"/>
            </a:avLst>
          </a:prstGeom>
          <a:solidFill>
            <a:srgbClr val="0D1F3C"/>
          </a:solidFill>
          <a:ln/>
          <a:effectLst>
            <a:outerShdw blurRad="101600" dist="38100" dir="2700000" algn="bl" rotWithShape="0">
              <a:srgbClr val="000000">
                <a:alpha val="20000"/>
              </a:srgbClr>
            </a:outerShdw>
          </a:effectLst>
        </p:spPr>
      </p:sp>
      <p:sp>
        <p:nvSpPr>
          <p:cNvPr id="25" name="Text 23"/>
          <p:cNvSpPr/>
          <p:nvPr/>
        </p:nvSpPr>
        <p:spPr>
          <a:xfrm>
            <a:off x="548640" y="3602736"/>
            <a:ext cx="1481328" cy="292608"/>
          </a:xfrm>
          <a:prstGeom prst="rect">
            <a:avLst/>
          </a:prstGeom>
          <a:noFill/>
          <a:ln/>
        </p:spPr>
        <p:txBody>
          <a:bodyPr wrap="square" rtlCol="0" anchor="ctr"/>
          <a:lstStyle/>
          <a:p>
            <a:pPr marL="0" indent="0" algn="l">
              <a:buNone/>
            </a:pPr>
            <a:r>
              <a:rPr lang="en-US" sz="1050" b="1" dirty="0">
                <a:solidFill>
                  <a:srgbClr val="D85A30"/>
                </a:solidFill>
                <a:latin typeface="Calibri" pitchFamily="34" charset="0"/>
                <a:ea typeface="Calibri" pitchFamily="34" charset="-122"/>
                <a:cs typeface="Calibri" pitchFamily="34" charset="-120"/>
              </a:rPr>
              <a:t>1. Spike &amp; Drop</a:t>
            </a:r>
            <a:endParaRPr lang="en-US" sz="1050" dirty="0"/>
          </a:p>
        </p:txBody>
      </p:sp>
      <p:sp>
        <p:nvSpPr>
          <p:cNvPr id="26" name="Text 24"/>
          <p:cNvSpPr/>
          <p:nvPr/>
        </p:nvSpPr>
        <p:spPr>
          <a:xfrm>
            <a:off x="548640" y="3895344"/>
            <a:ext cx="1481328" cy="822960"/>
          </a:xfrm>
          <a:prstGeom prst="rect">
            <a:avLst/>
          </a:prstGeom>
          <a:noFill/>
          <a:ln/>
        </p:spPr>
        <p:txBody>
          <a:bodyPr wrap="square" rtlCol="0" anchor="ctr"/>
          <a:lstStyle/>
          <a:p>
            <a:pPr marL="0" indent="0" algn="l">
              <a:lnSpc>
                <a:spcPct val="125000"/>
              </a:lnSpc>
              <a:buNone/>
            </a:pPr>
            <a:r>
              <a:rPr lang="en-US" sz="850" dirty="0">
                <a:solidFill>
                  <a:srgbClr val="8FB3CC"/>
                </a:solidFill>
                <a:latin typeface="Calibri" pitchFamily="34" charset="0"/>
                <a:ea typeface="Calibri" pitchFamily="34" charset="-122"/>
                <a:cs typeface="Calibri" pitchFamily="34" charset="-120"/>
              </a:rPr>
              <a:t>5% of accounts — trailing CoV penalizes Sustained Usage Score</a:t>
            </a:r>
            <a:endParaRPr lang="en-US" sz="850" dirty="0"/>
          </a:p>
        </p:txBody>
      </p:sp>
      <p:sp>
        <p:nvSpPr>
          <p:cNvPr id="27" name="Shape 25"/>
          <p:cNvSpPr/>
          <p:nvPr/>
        </p:nvSpPr>
        <p:spPr>
          <a:xfrm>
            <a:off x="2144268" y="3547872"/>
            <a:ext cx="1664208" cy="1325880"/>
          </a:xfrm>
          <a:prstGeom prst="roundRect">
            <a:avLst>
              <a:gd name="adj" fmla="val 6897"/>
            </a:avLst>
          </a:prstGeom>
          <a:solidFill>
            <a:srgbClr val="0D1F3C"/>
          </a:solidFill>
          <a:ln/>
          <a:effectLst>
            <a:outerShdw blurRad="101600" dist="38100" dir="2700000" algn="bl" rotWithShape="0">
              <a:srgbClr val="000000">
                <a:alpha val="20000"/>
              </a:srgbClr>
            </a:outerShdw>
          </a:effectLst>
        </p:spPr>
      </p:sp>
      <p:sp>
        <p:nvSpPr>
          <p:cNvPr id="28" name="Text 26"/>
          <p:cNvSpPr/>
          <p:nvPr/>
        </p:nvSpPr>
        <p:spPr>
          <a:xfrm>
            <a:off x="2235708" y="3602736"/>
            <a:ext cx="1481328" cy="292608"/>
          </a:xfrm>
          <a:prstGeom prst="rect">
            <a:avLst/>
          </a:prstGeom>
          <a:noFill/>
          <a:ln/>
        </p:spPr>
        <p:txBody>
          <a:bodyPr wrap="square" rtlCol="0" anchor="ctr"/>
          <a:lstStyle/>
          <a:p>
            <a:pPr marL="0" indent="0" algn="l">
              <a:buNone/>
            </a:pPr>
            <a:r>
              <a:rPr lang="en-US" sz="1050" b="1" dirty="0">
                <a:solidFill>
                  <a:srgbClr val="A32D2D"/>
                </a:solidFill>
                <a:latin typeface="Calibri" pitchFamily="34" charset="0"/>
                <a:ea typeface="Calibri" pitchFamily="34" charset="-122"/>
                <a:cs typeface="Calibri" pitchFamily="34" charset="-120"/>
              </a:rPr>
              <a:t>2. Shelfware</a:t>
            </a:r>
            <a:endParaRPr lang="en-US" sz="1050" dirty="0"/>
          </a:p>
        </p:txBody>
      </p:sp>
      <p:sp>
        <p:nvSpPr>
          <p:cNvPr id="29" name="Text 27"/>
          <p:cNvSpPr/>
          <p:nvPr/>
        </p:nvSpPr>
        <p:spPr>
          <a:xfrm>
            <a:off x="2235708" y="3895344"/>
            <a:ext cx="1481328" cy="822960"/>
          </a:xfrm>
          <a:prstGeom prst="rect">
            <a:avLst/>
          </a:prstGeom>
          <a:noFill/>
          <a:ln/>
        </p:spPr>
        <p:txBody>
          <a:bodyPr wrap="square" rtlCol="0" anchor="ctr"/>
          <a:lstStyle/>
          <a:p>
            <a:pPr marL="0" indent="0" algn="l">
              <a:lnSpc>
                <a:spcPct val="125000"/>
              </a:lnSpc>
              <a:buNone/>
            </a:pPr>
            <a:r>
              <a:rPr lang="en-US" sz="850" dirty="0">
                <a:solidFill>
                  <a:srgbClr val="8FB3CC"/>
                </a:solidFill>
                <a:latin typeface="Calibri" pitchFamily="34" charset="0"/>
                <a:ea typeface="Calibri" pitchFamily="34" charset="-122"/>
                <a:cs typeface="Calibri" pitchFamily="34" charset="-120"/>
              </a:rPr>
              <a:t>10% — hard floor override forces PRS → 0.00 exactly</a:t>
            </a:r>
            <a:endParaRPr lang="en-US" sz="850" dirty="0"/>
          </a:p>
        </p:txBody>
      </p:sp>
      <p:sp>
        <p:nvSpPr>
          <p:cNvPr id="30" name="Shape 28"/>
          <p:cNvSpPr/>
          <p:nvPr/>
        </p:nvSpPr>
        <p:spPr>
          <a:xfrm>
            <a:off x="3831336" y="3547872"/>
            <a:ext cx="1664208" cy="1325880"/>
          </a:xfrm>
          <a:prstGeom prst="roundRect">
            <a:avLst>
              <a:gd name="adj" fmla="val 6897"/>
            </a:avLst>
          </a:prstGeom>
          <a:solidFill>
            <a:srgbClr val="0D1F3C"/>
          </a:solidFill>
          <a:ln/>
          <a:effectLst>
            <a:outerShdw blurRad="101600" dist="38100" dir="2700000" algn="bl" rotWithShape="0">
              <a:srgbClr val="000000">
                <a:alpha val="20000"/>
              </a:srgbClr>
            </a:outerShdw>
          </a:effectLst>
        </p:spPr>
      </p:sp>
      <p:sp>
        <p:nvSpPr>
          <p:cNvPr id="31" name="Text 29"/>
          <p:cNvSpPr/>
          <p:nvPr/>
        </p:nvSpPr>
        <p:spPr>
          <a:xfrm>
            <a:off x="3922776" y="3602736"/>
            <a:ext cx="1481328" cy="292608"/>
          </a:xfrm>
          <a:prstGeom prst="rect">
            <a:avLst/>
          </a:prstGeom>
          <a:noFill/>
          <a:ln/>
        </p:spPr>
        <p:txBody>
          <a:bodyPr wrap="square" rtlCol="0" anchor="ctr"/>
          <a:lstStyle/>
          <a:p>
            <a:pPr marL="0" indent="0" algn="l">
              <a:buNone/>
            </a:pPr>
            <a:r>
              <a:rPr lang="en-US" sz="1050" b="1" dirty="0">
                <a:solidFill>
                  <a:srgbClr val="BA7517"/>
                </a:solidFill>
                <a:latin typeface="Calibri" pitchFamily="34" charset="0"/>
                <a:ea typeface="Calibri" pitchFamily="34" charset="-122"/>
                <a:cs typeface="Calibri" pitchFamily="34" charset="-120"/>
              </a:rPr>
              <a:t>3. Overages</a:t>
            </a:r>
            <a:endParaRPr lang="en-US" sz="1050" dirty="0"/>
          </a:p>
        </p:txBody>
      </p:sp>
      <p:sp>
        <p:nvSpPr>
          <p:cNvPr id="32" name="Text 30"/>
          <p:cNvSpPr/>
          <p:nvPr/>
        </p:nvSpPr>
        <p:spPr>
          <a:xfrm>
            <a:off x="3922776" y="3895344"/>
            <a:ext cx="1481328" cy="822960"/>
          </a:xfrm>
          <a:prstGeom prst="rect">
            <a:avLst/>
          </a:prstGeom>
          <a:noFill/>
          <a:ln/>
        </p:spPr>
        <p:txBody>
          <a:bodyPr wrap="square" rtlCol="0" anchor="ctr"/>
          <a:lstStyle/>
          <a:p>
            <a:pPr marL="0" indent="0" algn="l">
              <a:lnSpc>
                <a:spcPct val="125000"/>
              </a:lnSpc>
              <a:buNone/>
            </a:pPr>
            <a:r>
              <a:rPr lang="en-US" sz="850" dirty="0">
                <a:solidFill>
                  <a:srgbClr val="8FB3CC"/>
                </a:solidFill>
                <a:latin typeface="Calibri" pitchFamily="34" charset="0"/>
                <a:ea typeface="Calibri" pitchFamily="34" charset="-122"/>
                <a:cs typeface="Calibri" pitchFamily="34" charset="-120"/>
              </a:rPr>
              <a:t>15% — MIN(1.0) cap + expansion flag fires automatically</a:t>
            </a:r>
            <a:endParaRPr lang="en-US" sz="850" dirty="0"/>
          </a:p>
        </p:txBody>
      </p:sp>
      <p:sp>
        <p:nvSpPr>
          <p:cNvPr id="33" name="Shape 31"/>
          <p:cNvSpPr/>
          <p:nvPr/>
        </p:nvSpPr>
        <p:spPr>
          <a:xfrm>
            <a:off x="5518404" y="3547872"/>
            <a:ext cx="1664208" cy="1325880"/>
          </a:xfrm>
          <a:prstGeom prst="roundRect">
            <a:avLst>
              <a:gd name="adj" fmla="val 6897"/>
            </a:avLst>
          </a:prstGeom>
          <a:solidFill>
            <a:srgbClr val="0D1F3C"/>
          </a:solidFill>
          <a:ln/>
          <a:effectLst>
            <a:outerShdw blurRad="101600" dist="38100" dir="2700000" algn="bl" rotWithShape="0">
              <a:srgbClr val="000000">
                <a:alpha val="20000"/>
              </a:srgbClr>
            </a:outerShdw>
          </a:effectLst>
        </p:spPr>
      </p:sp>
      <p:sp>
        <p:nvSpPr>
          <p:cNvPr id="34" name="Text 32"/>
          <p:cNvSpPr/>
          <p:nvPr/>
        </p:nvSpPr>
        <p:spPr>
          <a:xfrm>
            <a:off x="5609844" y="3602736"/>
            <a:ext cx="1481328" cy="292608"/>
          </a:xfrm>
          <a:prstGeom prst="rect">
            <a:avLst/>
          </a:prstGeom>
          <a:noFill/>
          <a:ln/>
        </p:spPr>
        <p:txBody>
          <a:bodyPr wrap="square" rtlCol="0" anchor="ctr"/>
          <a:lstStyle/>
          <a:p>
            <a:pPr marL="0" indent="0" algn="l">
              <a:buNone/>
            </a:pPr>
            <a:r>
              <a:rPr lang="en-US" sz="1050" b="1" dirty="0">
                <a:solidFill>
                  <a:srgbClr val="00C9B1"/>
                </a:solidFill>
                <a:latin typeface="Calibri" pitchFamily="34" charset="0"/>
                <a:ea typeface="Calibri" pitchFamily="34" charset="-122"/>
                <a:cs typeface="Calibri" pitchFamily="34" charset="-120"/>
              </a:rPr>
              <a:t>4. Mid-Year Exp.</a:t>
            </a:r>
            <a:endParaRPr lang="en-US" sz="1050" dirty="0"/>
          </a:p>
        </p:txBody>
      </p:sp>
      <p:sp>
        <p:nvSpPr>
          <p:cNvPr id="35" name="Text 33"/>
          <p:cNvSpPr/>
          <p:nvPr/>
        </p:nvSpPr>
        <p:spPr>
          <a:xfrm>
            <a:off x="5609844" y="3895344"/>
            <a:ext cx="1481328" cy="822960"/>
          </a:xfrm>
          <a:prstGeom prst="rect">
            <a:avLst/>
          </a:prstGeom>
          <a:noFill/>
          <a:ln/>
        </p:spPr>
        <p:txBody>
          <a:bodyPr wrap="square" rtlCol="0" anchor="ctr"/>
          <a:lstStyle/>
          <a:p>
            <a:pPr marL="0" indent="0" algn="l">
              <a:lnSpc>
                <a:spcPct val="125000"/>
              </a:lnSpc>
              <a:buNone/>
            </a:pPr>
            <a:r>
              <a:rPr lang="en-US" sz="850" dirty="0">
                <a:solidFill>
                  <a:srgbClr val="8FB3CC"/>
                </a:solidFill>
                <a:latin typeface="Calibri" pitchFamily="34" charset="0"/>
                <a:ea typeface="Calibri" pitchFamily="34" charset="-122"/>
                <a:cs typeface="Calibri" pitchFamily="34" charset="-120"/>
              </a:rPr>
              <a:t>MAX() logic prevents double-counting ARR across contracts</a:t>
            </a:r>
            <a:endParaRPr lang="en-US" sz="850" dirty="0"/>
          </a:p>
        </p:txBody>
      </p:sp>
      <p:sp>
        <p:nvSpPr>
          <p:cNvPr id="36" name="Shape 34"/>
          <p:cNvSpPr/>
          <p:nvPr/>
        </p:nvSpPr>
        <p:spPr>
          <a:xfrm>
            <a:off x="7205472" y="3547872"/>
            <a:ext cx="1664208" cy="1325880"/>
          </a:xfrm>
          <a:prstGeom prst="roundRect">
            <a:avLst>
              <a:gd name="adj" fmla="val 6897"/>
            </a:avLst>
          </a:prstGeom>
          <a:solidFill>
            <a:srgbClr val="0D1F3C"/>
          </a:solidFill>
          <a:ln/>
          <a:effectLst>
            <a:outerShdw blurRad="101600" dist="38100" dir="2700000" algn="bl" rotWithShape="0">
              <a:srgbClr val="000000">
                <a:alpha val="20000"/>
              </a:srgbClr>
            </a:outerShdw>
          </a:effectLst>
        </p:spPr>
      </p:sp>
      <p:sp>
        <p:nvSpPr>
          <p:cNvPr id="37" name="Text 35"/>
          <p:cNvSpPr/>
          <p:nvPr/>
        </p:nvSpPr>
        <p:spPr>
          <a:xfrm>
            <a:off x="7296912" y="3602736"/>
            <a:ext cx="1481328" cy="292608"/>
          </a:xfrm>
          <a:prstGeom prst="rect">
            <a:avLst/>
          </a:prstGeom>
          <a:noFill/>
          <a:ln/>
        </p:spPr>
        <p:txBody>
          <a:bodyPr wrap="square" rtlCol="0" anchor="ctr"/>
          <a:lstStyle/>
          <a:p>
            <a:pPr marL="0" indent="0" algn="l">
              <a:buNone/>
            </a:pPr>
            <a:r>
              <a:rPr lang="en-US" sz="1050" b="1" dirty="0">
                <a:solidFill>
                  <a:srgbClr val="8FB3CC"/>
                </a:solidFill>
                <a:latin typeface="Calibri" pitchFamily="34" charset="0"/>
                <a:ea typeface="Calibri" pitchFamily="34" charset="-122"/>
                <a:cs typeface="Calibri" pitchFamily="34" charset="-120"/>
              </a:rPr>
              <a:t>5. Orphaned Logs</a:t>
            </a:r>
            <a:endParaRPr lang="en-US" sz="1050" dirty="0"/>
          </a:p>
        </p:txBody>
      </p:sp>
      <p:sp>
        <p:nvSpPr>
          <p:cNvPr id="38" name="Text 36"/>
          <p:cNvSpPr/>
          <p:nvPr/>
        </p:nvSpPr>
        <p:spPr>
          <a:xfrm>
            <a:off x="7296912" y="3895344"/>
            <a:ext cx="1481328" cy="822960"/>
          </a:xfrm>
          <a:prstGeom prst="rect">
            <a:avLst/>
          </a:prstGeom>
          <a:noFill/>
          <a:ln/>
        </p:spPr>
        <p:txBody>
          <a:bodyPr wrap="square" rtlCol="0" anchor="ctr"/>
          <a:lstStyle/>
          <a:p>
            <a:pPr marL="0" indent="0" algn="l">
              <a:lnSpc>
                <a:spcPct val="125000"/>
              </a:lnSpc>
              <a:buNone/>
            </a:pPr>
            <a:r>
              <a:rPr lang="en-US" sz="850" dirty="0">
                <a:solidFill>
                  <a:srgbClr val="8FB3CC"/>
                </a:solidFill>
                <a:latin typeface="Calibri" pitchFamily="34" charset="0"/>
                <a:ea typeface="Calibri" pitchFamily="34" charset="-122"/>
                <a:cs typeface="Calibri" pitchFamily="34" charset="-120"/>
              </a:rPr>
              <a:t>DQ-001 / DQ-002 gates filter before any PRS calculation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We Handle Messy B2B Data</a:t>
            </a:r>
            <a:endParaRPr lang="en-US" sz="2800" dirty="0"/>
          </a:p>
        </p:txBody>
      </p:sp>
      <p:sp>
        <p:nvSpPr>
          <p:cNvPr id="3" name="Text 1"/>
          <p:cNvSpPr/>
          <p:nvPr/>
        </p:nvSpPr>
        <p:spPr>
          <a:xfrm>
            <a:off x="457200" y="713232"/>
            <a:ext cx="8229600" cy="274320"/>
          </a:xfrm>
          <a:prstGeom prst="rect">
            <a:avLst/>
          </a:prstGeom>
          <a:noFill/>
          <a:ln/>
        </p:spPr>
        <p:txBody>
          <a:bodyPr wrap="square" rtlCol="0" anchor="ctr"/>
          <a:lstStyle/>
          <a:p>
            <a:pPr marL="0" indent="0">
              <a:buNone/>
            </a:pPr>
            <a:r>
              <a:rPr lang="en-US" sz="1250" i="1" dirty="0">
                <a:solidFill>
                  <a:srgbClr val="00C9B1"/>
                </a:solidFill>
                <a:latin typeface="Calibri" pitchFamily="34" charset="0"/>
                <a:ea typeface="Calibri" pitchFamily="34" charset="-122"/>
                <a:cs typeface="Calibri" pitchFamily="34" charset="-120"/>
              </a:rPr>
              <a:t>Every edge case maps to a GTM or post-sales pain point — not just a data problem</a:t>
            </a:r>
            <a:endParaRPr lang="en-US" sz="1250" dirty="0"/>
          </a:p>
        </p:txBody>
      </p:sp>
      <p:sp>
        <p:nvSpPr>
          <p:cNvPr id="4" name="Shape 2"/>
          <p:cNvSpPr/>
          <p:nvPr/>
        </p:nvSpPr>
        <p:spPr>
          <a:xfrm>
            <a:off x="457200" y="1078992"/>
            <a:ext cx="8229600" cy="1170432"/>
          </a:xfrm>
          <a:prstGeom prst="roundRect">
            <a:avLst>
              <a:gd name="adj" fmla="val 7813"/>
            </a:avLst>
          </a:prstGeom>
          <a:solidFill>
            <a:srgbClr val="0D1F3C"/>
          </a:solidFill>
          <a:ln/>
          <a:effectLst>
            <a:outerShdw blurRad="101600" dist="38100" dir="2700000" algn="bl" rotWithShape="0">
              <a:srgbClr val="000000">
                <a:alpha val="20000"/>
              </a:srgbClr>
            </a:outerShdw>
          </a:effectLst>
        </p:spPr>
      </p:sp>
      <p:sp>
        <p:nvSpPr>
          <p:cNvPr id="5" name="Text 3"/>
          <p:cNvSpPr/>
          <p:nvPr/>
        </p:nvSpPr>
        <p:spPr>
          <a:xfrm>
            <a:off x="594360" y="1152144"/>
            <a:ext cx="3108960" cy="292608"/>
          </a:xfrm>
          <a:prstGeom prst="rect">
            <a:avLst/>
          </a:prstGeom>
          <a:noFill/>
          <a:ln/>
        </p:spPr>
        <p:txBody>
          <a:bodyPr wrap="square" rtlCol="0" anchor="ctr"/>
          <a:lstStyle/>
          <a:p>
            <a:pPr marL="0" indent="0">
              <a:buNone/>
            </a:pPr>
            <a:r>
              <a:rPr lang="en-US" sz="1200" b="1" dirty="0">
                <a:solidFill>
                  <a:srgbClr val="A32D2D"/>
                </a:solidFill>
                <a:latin typeface="Calibri" pitchFamily="34" charset="0"/>
                <a:ea typeface="Calibri" pitchFamily="34" charset="-122"/>
                <a:cs typeface="Calibri" pitchFamily="34" charset="-120"/>
              </a:rPr>
              <a:t>🛡️  Shelfware Hard-Floor Override</a:t>
            </a:r>
            <a:endParaRPr lang="en-US" sz="1200" dirty="0"/>
          </a:p>
        </p:txBody>
      </p:sp>
      <p:sp>
        <p:nvSpPr>
          <p:cNvPr id="6" name="Shape 4"/>
          <p:cNvSpPr/>
          <p:nvPr/>
        </p:nvSpPr>
        <p:spPr>
          <a:xfrm>
            <a:off x="594360" y="1463040"/>
            <a:ext cx="2468880" cy="658368"/>
          </a:xfrm>
          <a:prstGeom prst="roundRect">
            <a:avLst>
              <a:gd name="adj" fmla="val 8333"/>
            </a:avLst>
          </a:prstGeom>
          <a:solidFill>
            <a:srgbClr val="0A1628"/>
          </a:solidFill>
          <a:ln/>
        </p:spPr>
      </p:sp>
      <p:sp>
        <p:nvSpPr>
          <p:cNvPr id="7" name="Text 5"/>
          <p:cNvSpPr/>
          <p:nvPr/>
        </p:nvSpPr>
        <p:spPr>
          <a:xfrm>
            <a:off x="658368" y="1499616"/>
            <a:ext cx="2340864" cy="585216"/>
          </a:xfrm>
          <a:prstGeom prst="rect">
            <a:avLst/>
          </a:prstGeom>
          <a:noFill/>
          <a:ln/>
        </p:spPr>
        <p:txBody>
          <a:bodyPr wrap="square" rtlCol="0" anchor="ctr"/>
          <a:lstStyle/>
          <a:p>
            <a:pPr marL="0" indent="0">
              <a:lnSpc>
                <a:spcPct val="130000"/>
              </a:lnSpc>
              <a:buNone/>
            </a:pPr>
            <a:r>
              <a:rPr lang="en-US" sz="850" dirty="0">
                <a:solidFill>
                  <a:srgbClr val="00C9B1"/>
                </a:solidFill>
                <a:latin typeface="Courier New" pitchFamily="34" charset="0"/>
                <a:ea typeface="Courier New" pitchFamily="34" charset="-122"/>
                <a:cs typeface="Courier New" pitchFamily="34" charset="-120"/>
              </a:rPr>
              <a:t>IF Deployment = 0 AND Usage = 0</a:t>
            </a:r>
            <a:endParaRPr lang="en-US" sz="850" dirty="0"/>
          </a:p>
          <a:p>
            <a:pPr marL="0" indent="0">
              <a:lnSpc>
                <a:spcPct val="130000"/>
              </a:lnSpc>
              <a:buNone/>
            </a:pPr>
            <a:r>
              <a:rPr lang="en-US" sz="850" dirty="0">
                <a:solidFill>
                  <a:srgbClr val="00C9B1"/>
                </a:solidFill>
                <a:latin typeface="Courier New" pitchFamily="34" charset="0"/>
                <a:ea typeface="Courier New" pitchFamily="34" charset="-122"/>
                <a:cs typeface="Courier New" pitchFamily="34" charset="-120"/>
              </a:rPr>
              <a:t>THEN PRS = 0.00</a:t>
            </a:r>
            <a:endParaRPr lang="en-US" sz="850" dirty="0"/>
          </a:p>
        </p:txBody>
      </p:sp>
      <p:sp>
        <p:nvSpPr>
          <p:cNvPr id="8" name="Text 6"/>
          <p:cNvSpPr/>
          <p:nvPr/>
        </p:nvSpPr>
        <p:spPr>
          <a:xfrm>
            <a:off x="3246120" y="1152144"/>
            <a:ext cx="3246120" cy="1024128"/>
          </a:xfrm>
          <a:prstGeom prst="rect">
            <a:avLst/>
          </a:prstGeom>
          <a:noFill/>
          <a:ln/>
        </p:spPr>
        <p:txBody>
          <a:bodyPr wrap="square" rtlCol="0" anchor="ctr"/>
          <a:lstStyle/>
          <a:p>
            <a:pPr marL="0" indent="0">
              <a:lnSpc>
                <a:spcPct val="130000"/>
              </a:lnSpc>
              <a:buNone/>
            </a:pPr>
            <a:r>
              <a:rPr lang="en-US" sz="950" dirty="0">
                <a:solidFill>
                  <a:srgbClr val="E8F4F8"/>
                </a:solidFill>
                <a:latin typeface="Calibri" pitchFamily="34" charset="0"/>
                <a:ea typeface="Calibri" pitchFamily="34" charset="-122"/>
                <a:cs typeface="Calibri" pitchFamily="34" charset="-120"/>
              </a:rPr>
              <a:t>In cybersecurity, undeployed software = unprotected attack surface. No partial credit for phantom value. Forces CSM to run deployment play immediately.</a:t>
            </a:r>
            <a:endParaRPr lang="en-US" sz="950" dirty="0"/>
          </a:p>
        </p:txBody>
      </p:sp>
      <p:sp>
        <p:nvSpPr>
          <p:cNvPr id="9" name="Text 7"/>
          <p:cNvSpPr/>
          <p:nvPr/>
        </p:nvSpPr>
        <p:spPr>
          <a:xfrm>
            <a:off x="6583680" y="1152144"/>
            <a:ext cx="1965960" cy="1024128"/>
          </a:xfrm>
          <a:prstGeom prst="rect">
            <a:avLst/>
          </a:prstGeom>
          <a:noFill/>
          <a:ln/>
        </p:spPr>
        <p:txBody>
          <a:bodyPr wrap="square" rtlCol="0" anchor="ctr"/>
          <a:lstStyle/>
          <a:p>
            <a:pPr marL="0" indent="0">
              <a:lnSpc>
                <a:spcPct val="130000"/>
              </a:lnSpc>
              <a:buNone/>
            </a:pPr>
            <a:r>
              <a:rPr lang="en-US" sz="900" i="1" dirty="0">
                <a:solidFill>
                  <a:srgbClr val="A32D2D"/>
                </a:solidFill>
                <a:latin typeface="Calibri" pitchFamily="34" charset="0"/>
                <a:ea typeface="Calibri" pitchFamily="34" charset="-122"/>
                <a:cs typeface="Calibri" pitchFamily="34" charset="-120"/>
              </a:rPr>
              <a:t>For CS VP: strips toxic ARR from portfolio view in real-time.</a:t>
            </a:r>
            <a:endParaRPr lang="en-US" sz="900" dirty="0"/>
          </a:p>
        </p:txBody>
      </p:sp>
      <p:sp>
        <p:nvSpPr>
          <p:cNvPr id="10" name="Shape 8"/>
          <p:cNvSpPr/>
          <p:nvPr/>
        </p:nvSpPr>
        <p:spPr>
          <a:xfrm>
            <a:off x="457200" y="2340864"/>
            <a:ext cx="8229600" cy="1170432"/>
          </a:xfrm>
          <a:prstGeom prst="roundRect">
            <a:avLst>
              <a:gd name="adj" fmla="val 7813"/>
            </a:avLst>
          </a:prstGeom>
          <a:solidFill>
            <a:srgbClr val="0D1F3C"/>
          </a:solidFill>
          <a:ln/>
          <a:effectLst>
            <a:outerShdw blurRad="101600" dist="38100" dir="2700000" algn="bl" rotWithShape="0">
              <a:srgbClr val="000000">
                <a:alpha val="20000"/>
              </a:srgbClr>
            </a:outerShdw>
          </a:effectLst>
        </p:spPr>
      </p:sp>
      <p:sp>
        <p:nvSpPr>
          <p:cNvPr id="11" name="Text 9"/>
          <p:cNvSpPr/>
          <p:nvPr/>
        </p:nvSpPr>
        <p:spPr>
          <a:xfrm>
            <a:off x="594360" y="2414016"/>
            <a:ext cx="3108960" cy="292608"/>
          </a:xfrm>
          <a:prstGeom prst="rect">
            <a:avLst/>
          </a:prstGeom>
          <a:noFill/>
          <a:ln/>
        </p:spPr>
        <p:txBody>
          <a:bodyPr wrap="square" rtlCol="0" anchor="ctr"/>
          <a:lstStyle/>
          <a:p>
            <a:pPr marL="0" indent="0">
              <a:buNone/>
            </a:pPr>
            <a:r>
              <a:rPr lang="en-US" sz="1200" b="1" dirty="0">
                <a:solidFill>
                  <a:srgbClr val="00C9B1"/>
                </a:solidFill>
                <a:latin typeface="Calibri" pitchFamily="34" charset="0"/>
                <a:ea typeface="Calibri" pitchFamily="34" charset="-122"/>
                <a:cs typeface="Calibri" pitchFamily="34" charset="-120"/>
              </a:rPr>
              <a:t>📋  Mid-Year Expansion / Overlap Fix</a:t>
            </a:r>
            <a:endParaRPr lang="en-US" sz="1200" dirty="0"/>
          </a:p>
        </p:txBody>
      </p:sp>
      <p:sp>
        <p:nvSpPr>
          <p:cNvPr id="12" name="Shape 10"/>
          <p:cNvSpPr/>
          <p:nvPr/>
        </p:nvSpPr>
        <p:spPr>
          <a:xfrm>
            <a:off x="594360" y="2724912"/>
            <a:ext cx="2468880" cy="658368"/>
          </a:xfrm>
          <a:prstGeom prst="roundRect">
            <a:avLst>
              <a:gd name="adj" fmla="val 8333"/>
            </a:avLst>
          </a:prstGeom>
          <a:solidFill>
            <a:srgbClr val="0A1628"/>
          </a:solidFill>
          <a:ln/>
        </p:spPr>
      </p:sp>
      <p:sp>
        <p:nvSpPr>
          <p:cNvPr id="13" name="Text 11"/>
          <p:cNvSpPr/>
          <p:nvPr/>
        </p:nvSpPr>
        <p:spPr>
          <a:xfrm>
            <a:off x="658368" y="2761488"/>
            <a:ext cx="2340864" cy="585216"/>
          </a:xfrm>
          <a:prstGeom prst="rect">
            <a:avLst/>
          </a:prstGeom>
          <a:noFill/>
          <a:ln/>
        </p:spPr>
        <p:txBody>
          <a:bodyPr wrap="square" rtlCol="0" anchor="ctr"/>
          <a:lstStyle/>
          <a:p>
            <a:pPr marL="0" indent="0">
              <a:lnSpc>
                <a:spcPct val="130000"/>
              </a:lnSpc>
              <a:buNone/>
            </a:pPr>
            <a:r>
              <a:rPr lang="en-US" sz="850" dirty="0">
                <a:solidFill>
                  <a:srgbClr val="00C9B1"/>
                </a:solidFill>
                <a:latin typeface="Courier New" pitchFamily="34" charset="0"/>
                <a:ea typeface="Courier New" pitchFamily="34" charset="-122"/>
                <a:cs typeface="Courier New" pitchFamily="34" charset="-120"/>
              </a:rPr>
              <a:t>SELECT MAX(annual_commit_dollars)</a:t>
            </a:r>
            <a:endParaRPr lang="en-US" sz="850" dirty="0"/>
          </a:p>
          <a:p>
            <a:pPr marL="0" indent="0">
              <a:lnSpc>
                <a:spcPct val="130000"/>
              </a:lnSpc>
              <a:buNone/>
            </a:pPr>
            <a:r>
              <a:rPr lang="en-US" sz="850" dirty="0">
                <a:solidFill>
                  <a:srgbClr val="00C9B1"/>
                </a:solidFill>
                <a:latin typeface="Courier New" pitchFamily="34" charset="0"/>
                <a:ea typeface="Courier New" pitchFamily="34" charset="-122"/>
                <a:cs typeface="Courier New" pitchFamily="34" charset="-120"/>
              </a:rPr>
              <a:t>WHERE month BETWEEN start AND end</a:t>
            </a:r>
            <a:endParaRPr lang="en-US" sz="850" dirty="0"/>
          </a:p>
        </p:txBody>
      </p:sp>
      <p:sp>
        <p:nvSpPr>
          <p:cNvPr id="14" name="Text 12"/>
          <p:cNvSpPr/>
          <p:nvPr/>
        </p:nvSpPr>
        <p:spPr>
          <a:xfrm>
            <a:off x="3246120" y="2414016"/>
            <a:ext cx="3246120" cy="1024128"/>
          </a:xfrm>
          <a:prstGeom prst="rect">
            <a:avLst/>
          </a:prstGeom>
          <a:noFill/>
          <a:ln/>
        </p:spPr>
        <p:txBody>
          <a:bodyPr wrap="square" rtlCol="0" anchor="ctr"/>
          <a:lstStyle/>
          <a:p>
            <a:pPr marL="0" indent="0">
              <a:lnSpc>
                <a:spcPct val="130000"/>
              </a:lnSpc>
              <a:buNone/>
            </a:pPr>
            <a:r>
              <a:rPr lang="en-US" sz="950" dirty="0">
                <a:solidFill>
                  <a:srgbClr val="E8F4F8"/>
                </a:solidFill>
                <a:latin typeface="Calibri" pitchFamily="34" charset="0"/>
                <a:ea typeface="Calibri" pitchFamily="34" charset="-122"/>
                <a:cs typeface="Calibri" pitchFamily="34" charset="-120"/>
              </a:rPr>
              <a:t>Overlapping contracts create double-counted ARR in a naive JOIN. MAX() logic selects the highest active commitment at point-in-time — preventing false quota inflation.</a:t>
            </a:r>
            <a:endParaRPr lang="en-US" sz="950" dirty="0"/>
          </a:p>
        </p:txBody>
      </p:sp>
      <p:sp>
        <p:nvSpPr>
          <p:cNvPr id="15" name="Text 13"/>
          <p:cNvSpPr/>
          <p:nvPr/>
        </p:nvSpPr>
        <p:spPr>
          <a:xfrm>
            <a:off x="6583680" y="2414016"/>
            <a:ext cx="1965960" cy="1024128"/>
          </a:xfrm>
          <a:prstGeom prst="rect">
            <a:avLst/>
          </a:prstGeom>
          <a:noFill/>
          <a:ln/>
        </p:spPr>
        <p:txBody>
          <a:bodyPr wrap="square" rtlCol="0" anchor="ctr"/>
          <a:lstStyle/>
          <a:p>
            <a:pPr marL="0" indent="0">
              <a:lnSpc>
                <a:spcPct val="130000"/>
              </a:lnSpc>
              <a:buNone/>
            </a:pPr>
            <a:r>
              <a:rPr lang="en-US" sz="900" i="1" dirty="0">
                <a:solidFill>
                  <a:srgbClr val="00C9B1"/>
                </a:solidFill>
                <a:latin typeface="Calibri" pitchFamily="34" charset="0"/>
                <a:ea typeface="Calibri" pitchFamily="34" charset="-122"/>
                <a:cs typeface="Calibri" pitchFamily="34" charset="-120"/>
              </a:rPr>
              <a:t>For Analytics Lead: prevents Cartesian explosion that distorts every CSM's book of business.</a:t>
            </a:r>
            <a:endParaRPr lang="en-US" sz="900" dirty="0"/>
          </a:p>
        </p:txBody>
      </p:sp>
      <p:sp>
        <p:nvSpPr>
          <p:cNvPr id="16" name="Shape 14"/>
          <p:cNvSpPr/>
          <p:nvPr/>
        </p:nvSpPr>
        <p:spPr>
          <a:xfrm>
            <a:off x="457200" y="3602736"/>
            <a:ext cx="8229600" cy="1170432"/>
          </a:xfrm>
          <a:prstGeom prst="roundRect">
            <a:avLst>
              <a:gd name="adj" fmla="val 7813"/>
            </a:avLst>
          </a:prstGeom>
          <a:solidFill>
            <a:srgbClr val="0D1F3C"/>
          </a:solidFill>
          <a:ln/>
          <a:effectLst>
            <a:outerShdw blurRad="101600" dist="38100" dir="2700000" algn="bl" rotWithShape="0">
              <a:srgbClr val="000000">
                <a:alpha val="20000"/>
              </a:srgbClr>
            </a:outerShdw>
          </a:effectLst>
        </p:spPr>
      </p:sp>
      <p:sp>
        <p:nvSpPr>
          <p:cNvPr id="17" name="Text 15"/>
          <p:cNvSpPr/>
          <p:nvPr/>
        </p:nvSpPr>
        <p:spPr>
          <a:xfrm>
            <a:off x="594360" y="3675888"/>
            <a:ext cx="3108960" cy="292608"/>
          </a:xfrm>
          <a:prstGeom prst="rect">
            <a:avLst/>
          </a:prstGeom>
          <a:noFill/>
          <a:ln/>
        </p:spPr>
        <p:txBody>
          <a:bodyPr wrap="square" rtlCol="0" anchor="ctr"/>
          <a:lstStyle/>
          <a:p>
            <a:pPr marL="0" indent="0">
              <a:buNone/>
            </a:pPr>
            <a:r>
              <a:rPr lang="en-US" sz="1200" b="1" dirty="0">
                <a:solidFill>
                  <a:srgbClr val="F4A522"/>
                </a:solidFill>
                <a:latin typeface="Calibri" pitchFamily="34" charset="0"/>
                <a:ea typeface="Calibri" pitchFamily="34" charset="-122"/>
                <a:cs typeface="Calibri" pitchFamily="34" charset="-120"/>
              </a:rPr>
              <a:t>🚀  Consistent Overager → Expansion Signal</a:t>
            </a:r>
            <a:endParaRPr lang="en-US" sz="1200" dirty="0"/>
          </a:p>
        </p:txBody>
      </p:sp>
      <p:sp>
        <p:nvSpPr>
          <p:cNvPr id="18" name="Shape 16"/>
          <p:cNvSpPr/>
          <p:nvPr/>
        </p:nvSpPr>
        <p:spPr>
          <a:xfrm>
            <a:off x="594360" y="3986784"/>
            <a:ext cx="2468880" cy="658368"/>
          </a:xfrm>
          <a:prstGeom prst="roundRect">
            <a:avLst>
              <a:gd name="adj" fmla="val 8333"/>
            </a:avLst>
          </a:prstGeom>
          <a:solidFill>
            <a:srgbClr val="0A1628"/>
          </a:solidFill>
          <a:ln/>
        </p:spPr>
      </p:sp>
      <p:sp>
        <p:nvSpPr>
          <p:cNvPr id="19" name="Text 17"/>
          <p:cNvSpPr/>
          <p:nvPr/>
        </p:nvSpPr>
        <p:spPr>
          <a:xfrm>
            <a:off x="658368" y="4023360"/>
            <a:ext cx="2340864" cy="585216"/>
          </a:xfrm>
          <a:prstGeom prst="rect">
            <a:avLst/>
          </a:prstGeom>
          <a:noFill/>
          <a:ln/>
        </p:spPr>
        <p:txBody>
          <a:bodyPr wrap="square" rtlCol="0" anchor="ctr"/>
          <a:lstStyle/>
          <a:p>
            <a:pPr marL="0" indent="0">
              <a:lnSpc>
                <a:spcPct val="130000"/>
              </a:lnSpc>
              <a:buNone/>
            </a:pPr>
            <a:r>
              <a:rPr lang="en-US" sz="850" dirty="0">
                <a:solidFill>
                  <a:srgbClr val="00C9B1"/>
                </a:solidFill>
                <a:latin typeface="Courier New" pitchFamily="34" charset="0"/>
                <a:ea typeface="Courier New" pitchFamily="34" charset="-122"/>
                <a:cs typeface="Courier New" pitchFamily="34" charset="-120"/>
              </a:rPr>
              <a:t>deployment_score = MIN(1.0, consumed/committed)</a:t>
            </a:r>
            <a:endParaRPr lang="en-US" sz="850" dirty="0"/>
          </a:p>
          <a:p>
            <a:pPr marL="0" indent="0">
              <a:lnSpc>
                <a:spcPct val="130000"/>
              </a:lnSpc>
              <a:buNone/>
            </a:pPr>
            <a:r>
              <a:rPr lang="en-US" sz="850" dirty="0">
                <a:solidFill>
                  <a:srgbClr val="00C9B1"/>
                </a:solidFill>
                <a:latin typeface="Courier New" pitchFamily="34" charset="0"/>
                <a:ea typeface="Courier New" pitchFamily="34" charset="-122"/>
                <a:cs typeface="Courier New" pitchFamily="34" charset="-120"/>
              </a:rPr>
              <a:t>flag_overage = consumed &gt; 1.20 × committed</a:t>
            </a:r>
            <a:endParaRPr lang="en-US" sz="850" dirty="0"/>
          </a:p>
        </p:txBody>
      </p:sp>
      <p:sp>
        <p:nvSpPr>
          <p:cNvPr id="20" name="Text 18"/>
          <p:cNvSpPr/>
          <p:nvPr/>
        </p:nvSpPr>
        <p:spPr>
          <a:xfrm>
            <a:off x="3246120" y="3675888"/>
            <a:ext cx="3246120" cy="1024128"/>
          </a:xfrm>
          <a:prstGeom prst="rect">
            <a:avLst/>
          </a:prstGeom>
          <a:noFill/>
          <a:ln/>
        </p:spPr>
        <p:txBody>
          <a:bodyPr wrap="square" rtlCol="0" anchor="ctr"/>
          <a:lstStyle/>
          <a:p>
            <a:pPr marL="0" indent="0">
              <a:lnSpc>
                <a:spcPct val="130000"/>
              </a:lnSpc>
              <a:buNone/>
            </a:pPr>
            <a:r>
              <a:rPr lang="en-US" sz="950" dirty="0">
                <a:solidFill>
                  <a:srgbClr val="E8F4F8"/>
                </a:solidFill>
                <a:latin typeface="Calibri" pitchFamily="34" charset="0"/>
                <a:ea typeface="Calibri" pitchFamily="34" charset="-122"/>
                <a:cs typeface="Calibri" pitchFamily="34" charset="-120"/>
              </a:rPr>
              <a:t>15% of accounts exceed 120% of monthly credits. Cap prevents score inflation, but a separate flag fires automatically — turning a billing risk into an upsell conversation.</a:t>
            </a:r>
            <a:endParaRPr lang="en-US" sz="950" dirty="0"/>
          </a:p>
        </p:txBody>
      </p:sp>
      <p:sp>
        <p:nvSpPr>
          <p:cNvPr id="21" name="Text 19"/>
          <p:cNvSpPr/>
          <p:nvPr/>
        </p:nvSpPr>
        <p:spPr>
          <a:xfrm>
            <a:off x="6583680" y="3675888"/>
            <a:ext cx="1965960" cy="1024128"/>
          </a:xfrm>
          <a:prstGeom prst="rect">
            <a:avLst/>
          </a:prstGeom>
          <a:noFill/>
          <a:ln/>
        </p:spPr>
        <p:txBody>
          <a:bodyPr wrap="square" rtlCol="0" anchor="ctr"/>
          <a:lstStyle/>
          <a:p>
            <a:pPr marL="0" indent="0">
              <a:lnSpc>
                <a:spcPct val="130000"/>
              </a:lnSpc>
              <a:buNone/>
            </a:pPr>
            <a:r>
              <a:rPr lang="en-US" sz="900" i="1" dirty="0">
                <a:solidFill>
                  <a:srgbClr val="F4A522"/>
                </a:solidFill>
                <a:latin typeface="Calibri" pitchFamily="34" charset="0"/>
                <a:ea typeface="Calibri" pitchFamily="34" charset="-122"/>
                <a:cs typeface="Calibri" pitchFamily="34" charset="-120"/>
              </a:rPr>
              <a:t>For SC: overage accounts are the highest-quality expansion pipeline in the portfolio.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8ABEF2E9-0F72-5D5B-52C0-BCFE458926C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C6D4998-D8C5-B4AF-B19A-6D6BFE9708D2}"/>
              </a:ext>
            </a:extLst>
          </p:cNvPr>
          <p:cNvSpPr/>
          <p:nvPr/>
        </p:nvSpPr>
        <p:spPr>
          <a:xfrm>
            <a:off x="457200" y="676560"/>
            <a:ext cx="8229600" cy="274320"/>
          </a:xfrm>
          <a:prstGeom prst="rect">
            <a:avLst/>
          </a:prstGeom>
          <a:noFill/>
          <a:ln/>
        </p:spPr>
        <p:txBody>
          <a:bodyPr wrap="square" rtlCol="0" anchor="ctr"/>
          <a:lstStyle/>
          <a:p>
            <a:r>
              <a:rPr lang="en-US" sz="1250" i="1" dirty="0">
                <a:solidFill>
                  <a:srgbClr val="00A896"/>
                </a:solidFill>
                <a:latin typeface="Calibri" pitchFamily="34" charset="0"/>
                <a:ea typeface="Calibri" pitchFamily="34" charset="-122"/>
                <a:cs typeface="Calibri" pitchFamily="34" charset="-120"/>
              </a:rPr>
              <a:t>Moving beyond loss functions — tied directly to business KPIs and GTM outcomes</a:t>
            </a:r>
            <a:endParaRPr lang="en-US" sz="1250" dirty="0"/>
          </a:p>
        </p:txBody>
      </p:sp>
      <p:sp>
        <p:nvSpPr>
          <p:cNvPr id="23" name="Shape 3">
            <a:extLst>
              <a:ext uri="{FF2B5EF4-FFF2-40B4-BE49-F238E27FC236}">
                <a16:creationId xmlns:a16="http://schemas.microsoft.com/office/drawing/2014/main" id="{C1B78660-2897-A7A7-2977-5B82C498E7F3}"/>
              </a:ext>
            </a:extLst>
          </p:cNvPr>
          <p:cNvSpPr/>
          <p:nvPr/>
        </p:nvSpPr>
        <p:spPr>
          <a:xfrm>
            <a:off x="457200" y="1298448"/>
            <a:ext cx="4023360" cy="640080"/>
          </a:xfrm>
          <a:prstGeom prst="roundRect">
            <a:avLst>
              <a:gd name="adj" fmla="val 11429"/>
            </a:avLst>
          </a:prstGeom>
          <a:solidFill>
            <a:srgbClr val="E6F7F2"/>
          </a:solidFill>
          <a:ln/>
          <a:effectLst>
            <a:outerShdw blurRad="38100" dist="12700" dir="2700000" algn="bl" rotWithShape="0">
              <a:srgbClr val="000000">
                <a:alpha val="8000"/>
              </a:srgbClr>
            </a:outerShdw>
          </a:effectLst>
        </p:spPr>
      </p:sp>
      <p:sp>
        <p:nvSpPr>
          <p:cNvPr id="24" name="Text 4">
            <a:extLst>
              <a:ext uri="{FF2B5EF4-FFF2-40B4-BE49-F238E27FC236}">
                <a16:creationId xmlns:a16="http://schemas.microsoft.com/office/drawing/2014/main" id="{6AA9D4DC-84E3-41FA-29C3-40C0EED04A4C}"/>
              </a:ext>
            </a:extLst>
          </p:cNvPr>
          <p:cNvSpPr/>
          <p:nvPr/>
        </p:nvSpPr>
        <p:spPr>
          <a:xfrm>
            <a:off x="594360" y="1344168"/>
            <a:ext cx="2103120" cy="256032"/>
          </a:xfrm>
          <a:prstGeom prst="rect">
            <a:avLst/>
          </a:prstGeom>
          <a:noFill/>
          <a:ln/>
        </p:spPr>
        <p:txBody>
          <a:bodyPr wrap="square" rtlCol="0" anchor="ctr"/>
          <a:lstStyle/>
          <a:p>
            <a:pPr marL="0" indent="0">
              <a:buNone/>
            </a:pPr>
            <a:r>
              <a:rPr lang="en-US" sz="1000" b="1" dirty="0">
                <a:solidFill>
                  <a:srgbClr val="1D9E75"/>
                </a:solidFill>
                <a:latin typeface="Calibri" pitchFamily="34" charset="0"/>
                <a:ea typeface="Calibri" pitchFamily="34" charset="-122"/>
                <a:cs typeface="Calibri" pitchFamily="34" charset="-120"/>
              </a:rPr>
              <a:t>🟢 GREEN  0.80–1.00</a:t>
            </a:r>
            <a:endParaRPr lang="en-US" sz="1000" dirty="0"/>
          </a:p>
        </p:txBody>
      </p:sp>
      <p:sp>
        <p:nvSpPr>
          <p:cNvPr id="25" name="Text 5">
            <a:extLst>
              <a:ext uri="{FF2B5EF4-FFF2-40B4-BE49-F238E27FC236}">
                <a16:creationId xmlns:a16="http://schemas.microsoft.com/office/drawing/2014/main" id="{05282BFA-7AD8-BBFF-C32A-2E01A2590B5D}"/>
              </a:ext>
            </a:extLst>
          </p:cNvPr>
          <p:cNvSpPr/>
          <p:nvPr/>
        </p:nvSpPr>
        <p:spPr>
          <a:xfrm>
            <a:off x="594360" y="1618488"/>
            <a:ext cx="2103120" cy="22860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~55% of accounts</a:t>
            </a:r>
            <a:endParaRPr lang="en-US" sz="900" dirty="0"/>
          </a:p>
        </p:txBody>
      </p:sp>
      <p:sp>
        <p:nvSpPr>
          <p:cNvPr id="26" name="Text 6">
            <a:extLst>
              <a:ext uri="{FF2B5EF4-FFF2-40B4-BE49-F238E27FC236}">
                <a16:creationId xmlns:a16="http://schemas.microsoft.com/office/drawing/2014/main" id="{255983CE-ECD1-2E28-DF57-8613F0AC9BA2}"/>
              </a:ext>
            </a:extLst>
          </p:cNvPr>
          <p:cNvSpPr/>
          <p:nvPr/>
        </p:nvSpPr>
        <p:spPr>
          <a:xfrm>
            <a:off x="2743200" y="1435608"/>
            <a:ext cx="1645920" cy="365760"/>
          </a:xfrm>
          <a:prstGeom prst="rect">
            <a:avLst/>
          </a:prstGeom>
          <a:noFill/>
          <a:ln/>
        </p:spPr>
        <p:txBody>
          <a:bodyPr wrap="square" rtlCol="0" anchor="ctr"/>
          <a:lstStyle/>
          <a:p>
            <a:pPr marL="0" indent="0">
              <a:lnSpc>
                <a:spcPct val="120000"/>
              </a:lnSpc>
              <a:buNone/>
            </a:pPr>
            <a:r>
              <a:rPr lang="en-US" sz="900" dirty="0">
                <a:solidFill>
                  <a:srgbClr val="333333"/>
                </a:solidFill>
                <a:latin typeface="Calibri" pitchFamily="34" charset="0"/>
                <a:ea typeface="Calibri" pitchFamily="34" charset="-122"/>
                <a:cs typeface="Calibri" pitchFamily="34" charset="-120"/>
              </a:rPr>
              <a:t>QBR maintenance + expansion play</a:t>
            </a:r>
            <a:endParaRPr lang="en-US" sz="900" dirty="0"/>
          </a:p>
        </p:txBody>
      </p:sp>
      <p:sp>
        <p:nvSpPr>
          <p:cNvPr id="27" name="Shape 7">
            <a:extLst>
              <a:ext uri="{FF2B5EF4-FFF2-40B4-BE49-F238E27FC236}">
                <a16:creationId xmlns:a16="http://schemas.microsoft.com/office/drawing/2014/main" id="{C751413B-8BCB-2501-34BC-8ED2CEBC71A1}"/>
              </a:ext>
            </a:extLst>
          </p:cNvPr>
          <p:cNvSpPr/>
          <p:nvPr/>
        </p:nvSpPr>
        <p:spPr>
          <a:xfrm>
            <a:off x="457200" y="2029968"/>
            <a:ext cx="4023360" cy="640080"/>
          </a:xfrm>
          <a:prstGeom prst="roundRect">
            <a:avLst>
              <a:gd name="adj" fmla="val 11429"/>
            </a:avLst>
          </a:prstGeom>
          <a:solidFill>
            <a:srgbClr val="FFF8E6"/>
          </a:solidFill>
          <a:ln/>
          <a:effectLst>
            <a:outerShdw blurRad="38100" dist="12700" dir="2700000" algn="bl" rotWithShape="0">
              <a:srgbClr val="000000">
                <a:alpha val="8000"/>
              </a:srgbClr>
            </a:outerShdw>
          </a:effectLst>
        </p:spPr>
      </p:sp>
      <p:sp>
        <p:nvSpPr>
          <p:cNvPr id="28" name="Text 8">
            <a:extLst>
              <a:ext uri="{FF2B5EF4-FFF2-40B4-BE49-F238E27FC236}">
                <a16:creationId xmlns:a16="http://schemas.microsoft.com/office/drawing/2014/main" id="{A7AF28FD-E5EE-DE4E-30A1-AC627DB1CAD9}"/>
              </a:ext>
            </a:extLst>
          </p:cNvPr>
          <p:cNvSpPr/>
          <p:nvPr/>
        </p:nvSpPr>
        <p:spPr>
          <a:xfrm>
            <a:off x="594360" y="2075688"/>
            <a:ext cx="2103120" cy="256032"/>
          </a:xfrm>
          <a:prstGeom prst="rect">
            <a:avLst/>
          </a:prstGeom>
          <a:noFill/>
          <a:ln/>
        </p:spPr>
        <p:txBody>
          <a:bodyPr wrap="square" rtlCol="0" anchor="ctr"/>
          <a:lstStyle/>
          <a:p>
            <a:pPr marL="0" indent="0">
              <a:buNone/>
            </a:pPr>
            <a:r>
              <a:rPr lang="en-US" sz="1000" b="1" dirty="0">
                <a:solidFill>
                  <a:srgbClr val="BA7517"/>
                </a:solidFill>
                <a:latin typeface="Calibri" pitchFamily="34" charset="0"/>
                <a:ea typeface="Calibri" pitchFamily="34" charset="-122"/>
                <a:cs typeface="Calibri" pitchFamily="34" charset="-120"/>
              </a:rPr>
              <a:t>🟡 YELLOW 0.60–0.79</a:t>
            </a:r>
            <a:endParaRPr lang="en-US" sz="1000" dirty="0"/>
          </a:p>
        </p:txBody>
      </p:sp>
      <p:sp>
        <p:nvSpPr>
          <p:cNvPr id="29" name="Text 9">
            <a:extLst>
              <a:ext uri="{FF2B5EF4-FFF2-40B4-BE49-F238E27FC236}">
                <a16:creationId xmlns:a16="http://schemas.microsoft.com/office/drawing/2014/main" id="{4DDBD91B-6E84-09B1-F915-A8163586DF70}"/>
              </a:ext>
            </a:extLst>
          </p:cNvPr>
          <p:cNvSpPr/>
          <p:nvPr/>
        </p:nvSpPr>
        <p:spPr>
          <a:xfrm>
            <a:off x="594360" y="2350008"/>
            <a:ext cx="2103120" cy="22860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~20% of accounts</a:t>
            </a:r>
            <a:endParaRPr lang="en-US" sz="900" dirty="0"/>
          </a:p>
        </p:txBody>
      </p:sp>
      <p:sp>
        <p:nvSpPr>
          <p:cNvPr id="30" name="Text 10">
            <a:extLst>
              <a:ext uri="{FF2B5EF4-FFF2-40B4-BE49-F238E27FC236}">
                <a16:creationId xmlns:a16="http://schemas.microsoft.com/office/drawing/2014/main" id="{DB218C8D-CE6A-2414-58DA-4DEDC33F7CE1}"/>
              </a:ext>
            </a:extLst>
          </p:cNvPr>
          <p:cNvSpPr/>
          <p:nvPr/>
        </p:nvSpPr>
        <p:spPr>
          <a:xfrm>
            <a:off x="2743200" y="2167128"/>
            <a:ext cx="1645920" cy="365760"/>
          </a:xfrm>
          <a:prstGeom prst="rect">
            <a:avLst/>
          </a:prstGeom>
          <a:noFill/>
          <a:ln/>
        </p:spPr>
        <p:txBody>
          <a:bodyPr wrap="square" rtlCol="0" anchor="ctr"/>
          <a:lstStyle/>
          <a:p>
            <a:pPr marL="0" indent="0">
              <a:lnSpc>
                <a:spcPct val="120000"/>
              </a:lnSpc>
              <a:buNone/>
            </a:pPr>
            <a:r>
              <a:rPr lang="en-US" sz="900" dirty="0">
                <a:solidFill>
                  <a:srgbClr val="333333"/>
                </a:solidFill>
                <a:latin typeface="Calibri" pitchFamily="34" charset="0"/>
                <a:ea typeface="Calibri" pitchFamily="34" charset="-122"/>
                <a:cs typeface="Calibri" pitchFamily="34" charset="-120"/>
              </a:rPr>
              <a:t>Proactive outreach, check CBV</a:t>
            </a:r>
            <a:endParaRPr lang="en-US" sz="900" dirty="0"/>
          </a:p>
        </p:txBody>
      </p:sp>
      <p:sp>
        <p:nvSpPr>
          <p:cNvPr id="31" name="Shape 11">
            <a:extLst>
              <a:ext uri="{FF2B5EF4-FFF2-40B4-BE49-F238E27FC236}">
                <a16:creationId xmlns:a16="http://schemas.microsoft.com/office/drawing/2014/main" id="{714B9274-7FF7-DCAD-95C0-F16B10B682FC}"/>
              </a:ext>
            </a:extLst>
          </p:cNvPr>
          <p:cNvSpPr/>
          <p:nvPr/>
        </p:nvSpPr>
        <p:spPr>
          <a:xfrm>
            <a:off x="457200" y="2761488"/>
            <a:ext cx="4023360" cy="640080"/>
          </a:xfrm>
          <a:prstGeom prst="roundRect">
            <a:avLst>
              <a:gd name="adj" fmla="val 11429"/>
            </a:avLst>
          </a:prstGeom>
          <a:solidFill>
            <a:srgbClr val="FFF0E6"/>
          </a:solidFill>
          <a:ln/>
          <a:effectLst>
            <a:outerShdw blurRad="38100" dist="12700" dir="2700000" algn="bl" rotWithShape="0">
              <a:srgbClr val="000000">
                <a:alpha val="8000"/>
              </a:srgbClr>
            </a:outerShdw>
          </a:effectLst>
        </p:spPr>
      </p:sp>
      <p:sp>
        <p:nvSpPr>
          <p:cNvPr id="32" name="Text 12">
            <a:extLst>
              <a:ext uri="{FF2B5EF4-FFF2-40B4-BE49-F238E27FC236}">
                <a16:creationId xmlns:a16="http://schemas.microsoft.com/office/drawing/2014/main" id="{F7EAAD82-A525-5E8F-0CF9-CC12AB490A5D}"/>
              </a:ext>
            </a:extLst>
          </p:cNvPr>
          <p:cNvSpPr/>
          <p:nvPr/>
        </p:nvSpPr>
        <p:spPr>
          <a:xfrm>
            <a:off x="594360" y="2807208"/>
            <a:ext cx="2103120" cy="256032"/>
          </a:xfrm>
          <a:prstGeom prst="rect">
            <a:avLst/>
          </a:prstGeom>
          <a:noFill/>
          <a:ln/>
        </p:spPr>
        <p:txBody>
          <a:bodyPr wrap="square" rtlCol="0" anchor="ctr"/>
          <a:lstStyle/>
          <a:p>
            <a:pPr marL="0" indent="0">
              <a:buNone/>
            </a:pPr>
            <a:r>
              <a:rPr lang="en-US" sz="1000" b="1" dirty="0">
                <a:solidFill>
                  <a:srgbClr val="D85A30"/>
                </a:solidFill>
                <a:latin typeface="Calibri" pitchFamily="34" charset="0"/>
                <a:ea typeface="Calibri" pitchFamily="34" charset="-122"/>
                <a:cs typeface="Calibri" pitchFamily="34" charset="-120"/>
              </a:rPr>
              <a:t>🟠 ORANGE 0.30–0.59</a:t>
            </a:r>
            <a:endParaRPr lang="en-US" sz="1000" dirty="0"/>
          </a:p>
        </p:txBody>
      </p:sp>
      <p:sp>
        <p:nvSpPr>
          <p:cNvPr id="33" name="Text 13">
            <a:extLst>
              <a:ext uri="{FF2B5EF4-FFF2-40B4-BE49-F238E27FC236}">
                <a16:creationId xmlns:a16="http://schemas.microsoft.com/office/drawing/2014/main" id="{652939AA-99C4-F923-9C18-A98C1AAC97CD}"/>
              </a:ext>
            </a:extLst>
          </p:cNvPr>
          <p:cNvSpPr/>
          <p:nvPr/>
        </p:nvSpPr>
        <p:spPr>
          <a:xfrm>
            <a:off x="594360" y="3081528"/>
            <a:ext cx="2103120" cy="22860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~15% of accounts</a:t>
            </a:r>
            <a:endParaRPr lang="en-US" sz="900" dirty="0"/>
          </a:p>
        </p:txBody>
      </p:sp>
      <p:sp>
        <p:nvSpPr>
          <p:cNvPr id="34" name="Text 14">
            <a:extLst>
              <a:ext uri="{FF2B5EF4-FFF2-40B4-BE49-F238E27FC236}">
                <a16:creationId xmlns:a16="http://schemas.microsoft.com/office/drawing/2014/main" id="{6945FDCE-1E79-54A8-74BA-74556C7FA94A}"/>
              </a:ext>
            </a:extLst>
          </p:cNvPr>
          <p:cNvSpPr/>
          <p:nvPr/>
        </p:nvSpPr>
        <p:spPr>
          <a:xfrm>
            <a:off x="2743200" y="2898648"/>
            <a:ext cx="1645920" cy="365760"/>
          </a:xfrm>
          <a:prstGeom prst="rect">
            <a:avLst/>
          </a:prstGeom>
          <a:noFill/>
          <a:ln/>
        </p:spPr>
        <p:txBody>
          <a:bodyPr wrap="square" rtlCol="0" anchor="ctr"/>
          <a:lstStyle/>
          <a:p>
            <a:pPr marL="0" indent="0">
              <a:lnSpc>
                <a:spcPct val="120000"/>
              </a:lnSpc>
              <a:buNone/>
            </a:pPr>
            <a:r>
              <a:rPr lang="en-US" sz="900" dirty="0">
                <a:solidFill>
                  <a:srgbClr val="333333"/>
                </a:solidFill>
                <a:latin typeface="Calibri" pitchFamily="34" charset="0"/>
                <a:ea typeface="Calibri" pitchFamily="34" charset="-122"/>
                <a:cs typeface="Calibri" pitchFamily="34" charset="-120"/>
              </a:rPr>
              <a:t>CSM intervention + PS support</a:t>
            </a:r>
            <a:endParaRPr lang="en-US" sz="900" dirty="0"/>
          </a:p>
        </p:txBody>
      </p:sp>
      <p:sp>
        <p:nvSpPr>
          <p:cNvPr id="35" name="Shape 15">
            <a:extLst>
              <a:ext uri="{FF2B5EF4-FFF2-40B4-BE49-F238E27FC236}">
                <a16:creationId xmlns:a16="http://schemas.microsoft.com/office/drawing/2014/main" id="{8C6DA255-7F91-DFD5-35B0-073DD626B8ED}"/>
              </a:ext>
            </a:extLst>
          </p:cNvPr>
          <p:cNvSpPr/>
          <p:nvPr/>
        </p:nvSpPr>
        <p:spPr>
          <a:xfrm>
            <a:off x="457200" y="3493008"/>
            <a:ext cx="4023360" cy="640080"/>
          </a:xfrm>
          <a:prstGeom prst="roundRect">
            <a:avLst>
              <a:gd name="adj" fmla="val 11429"/>
            </a:avLst>
          </a:prstGeom>
          <a:solidFill>
            <a:srgbClr val="F9E6E6"/>
          </a:solidFill>
          <a:ln/>
          <a:effectLst>
            <a:outerShdw blurRad="38100" dist="12700" dir="2700000" algn="bl" rotWithShape="0">
              <a:srgbClr val="000000">
                <a:alpha val="8000"/>
              </a:srgbClr>
            </a:outerShdw>
          </a:effectLst>
        </p:spPr>
      </p:sp>
      <p:sp>
        <p:nvSpPr>
          <p:cNvPr id="36" name="Text 16">
            <a:extLst>
              <a:ext uri="{FF2B5EF4-FFF2-40B4-BE49-F238E27FC236}">
                <a16:creationId xmlns:a16="http://schemas.microsoft.com/office/drawing/2014/main" id="{9905AE62-C1B3-28D1-2DBE-65727654BF5C}"/>
              </a:ext>
            </a:extLst>
          </p:cNvPr>
          <p:cNvSpPr/>
          <p:nvPr/>
        </p:nvSpPr>
        <p:spPr>
          <a:xfrm>
            <a:off x="594360" y="3538728"/>
            <a:ext cx="2103120" cy="256032"/>
          </a:xfrm>
          <a:prstGeom prst="rect">
            <a:avLst/>
          </a:prstGeom>
          <a:noFill/>
          <a:ln/>
        </p:spPr>
        <p:txBody>
          <a:bodyPr wrap="square" rtlCol="0" anchor="ctr"/>
          <a:lstStyle/>
          <a:p>
            <a:pPr marL="0" indent="0">
              <a:buNone/>
            </a:pPr>
            <a:r>
              <a:rPr lang="en-US" sz="1000" b="1" dirty="0">
                <a:solidFill>
                  <a:srgbClr val="A32D2D"/>
                </a:solidFill>
                <a:latin typeface="Calibri" pitchFamily="34" charset="0"/>
                <a:ea typeface="Calibri" pitchFamily="34" charset="-122"/>
                <a:cs typeface="Calibri" pitchFamily="34" charset="-120"/>
              </a:rPr>
              <a:t>🔴 RED    0.00–0.29</a:t>
            </a:r>
            <a:endParaRPr lang="en-US" sz="1000" dirty="0"/>
          </a:p>
        </p:txBody>
      </p:sp>
      <p:sp>
        <p:nvSpPr>
          <p:cNvPr id="37" name="Text 17">
            <a:extLst>
              <a:ext uri="{FF2B5EF4-FFF2-40B4-BE49-F238E27FC236}">
                <a16:creationId xmlns:a16="http://schemas.microsoft.com/office/drawing/2014/main" id="{7B6791D8-94F5-1531-C5C3-013D563DC247}"/>
              </a:ext>
            </a:extLst>
          </p:cNvPr>
          <p:cNvSpPr/>
          <p:nvPr/>
        </p:nvSpPr>
        <p:spPr>
          <a:xfrm>
            <a:off x="594360" y="3813048"/>
            <a:ext cx="2103120" cy="22860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~10% of accounts</a:t>
            </a:r>
            <a:endParaRPr lang="en-US" sz="900" dirty="0"/>
          </a:p>
        </p:txBody>
      </p:sp>
      <p:sp>
        <p:nvSpPr>
          <p:cNvPr id="38" name="Text 18">
            <a:extLst>
              <a:ext uri="{FF2B5EF4-FFF2-40B4-BE49-F238E27FC236}">
                <a16:creationId xmlns:a16="http://schemas.microsoft.com/office/drawing/2014/main" id="{C37FD433-CABC-A0BD-8AF7-9E031C5E20D9}"/>
              </a:ext>
            </a:extLst>
          </p:cNvPr>
          <p:cNvSpPr/>
          <p:nvPr/>
        </p:nvSpPr>
        <p:spPr>
          <a:xfrm>
            <a:off x="2743200" y="3630168"/>
            <a:ext cx="1645920" cy="365760"/>
          </a:xfrm>
          <a:prstGeom prst="rect">
            <a:avLst/>
          </a:prstGeom>
          <a:noFill/>
          <a:ln/>
        </p:spPr>
        <p:txBody>
          <a:bodyPr wrap="square" rtlCol="0" anchor="ctr"/>
          <a:lstStyle/>
          <a:p>
            <a:pPr marL="0" indent="0">
              <a:lnSpc>
                <a:spcPct val="120000"/>
              </a:lnSpc>
              <a:buNone/>
            </a:pPr>
            <a:r>
              <a:rPr lang="en-US" sz="900" dirty="0">
                <a:solidFill>
                  <a:srgbClr val="333333"/>
                </a:solidFill>
                <a:latin typeface="Calibri" pitchFamily="34" charset="0"/>
                <a:ea typeface="Calibri" pitchFamily="34" charset="-122"/>
                <a:cs typeface="Calibri" pitchFamily="34" charset="-120"/>
              </a:rPr>
              <a:t>Executive escalation + sprint</a:t>
            </a:r>
            <a:endParaRPr lang="en-US" sz="900" dirty="0"/>
          </a:p>
        </p:txBody>
      </p:sp>
      <p:sp>
        <p:nvSpPr>
          <p:cNvPr id="39" name="Shape 19">
            <a:extLst>
              <a:ext uri="{FF2B5EF4-FFF2-40B4-BE49-F238E27FC236}">
                <a16:creationId xmlns:a16="http://schemas.microsoft.com/office/drawing/2014/main" id="{B86F5E76-2463-31C7-7FE6-6A63200C9D16}"/>
              </a:ext>
            </a:extLst>
          </p:cNvPr>
          <p:cNvSpPr/>
          <p:nvPr/>
        </p:nvSpPr>
        <p:spPr>
          <a:xfrm>
            <a:off x="4663440" y="987552"/>
            <a:ext cx="4023360" cy="4064508"/>
          </a:xfrm>
          <a:prstGeom prst="roundRect">
            <a:avLst>
              <a:gd name="adj" fmla="val 3000"/>
            </a:avLst>
          </a:prstGeom>
          <a:solidFill>
            <a:srgbClr val="0D1F3C"/>
          </a:solidFill>
          <a:ln/>
          <a:effectLst>
            <a:outerShdw blurRad="101600" dist="38100" dir="2700000" algn="bl" rotWithShape="0">
              <a:srgbClr val="000000">
                <a:alpha val="20000"/>
              </a:srgbClr>
            </a:outerShdw>
          </a:effectLst>
        </p:spPr>
      </p:sp>
      <p:sp>
        <p:nvSpPr>
          <p:cNvPr id="40" name="Text 20">
            <a:extLst>
              <a:ext uri="{FF2B5EF4-FFF2-40B4-BE49-F238E27FC236}">
                <a16:creationId xmlns:a16="http://schemas.microsoft.com/office/drawing/2014/main" id="{50E3899D-C8FE-DA25-DE9F-D334BC1265F7}"/>
              </a:ext>
            </a:extLst>
          </p:cNvPr>
          <p:cNvSpPr/>
          <p:nvPr/>
        </p:nvSpPr>
        <p:spPr>
          <a:xfrm>
            <a:off x="4800600" y="1078992"/>
            <a:ext cx="3749040" cy="320040"/>
          </a:xfrm>
          <a:prstGeom prst="rect">
            <a:avLst/>
          </a:prstGeom>
          <a:noFill/>
          <a:ln/>
        </p:spPr>
        <p:txBody>
          <a:bodyPr wrap="square" rtlCol="0" anchor="ctr"/>
          <a:lstStyle/>
          <a:p>
            <a:pPr marL="0" indent="0">
              <a:buNone/>
            </a:pPr>
            <a:r>
              <a:rPr lang="en-US" sz="1200" b="1" dirty="0">
                <a:solidFill>
                  <a:schemeClr val="bg1"/>
                </a:solidFill>
                <a:latin typeface="Calibri" pitchFamily="34" charset="0"/>
                <a:ea typeface="Calibri" pitchFamily="34" charset="-122"/>
                <a:cs typeface="Calibri" pitchFamily="34" charset="-120"/>
              </a:rPr>
              <a:t>22/22 Automated Tests — ALL PASS</a:t>
            </a:r>
            <a:endParaRPr lang="en-US" sz="1200" dirty="0">
              <a:solidFill>
                <a:schemeClr val="bg1"/>
              </a:solidFill>
            </a:endParaRPr>
          </a:p>
        </p:txBody>
      </p:sp>
      <p:sp>
        <p:nvSpPr>
          <p:cNvPr id="41" name="Text 21">
            <a:extLst>
              <a:ext uri="{FF2B5EF4-FFF2-40B4-BE49-F238E27FC236}">
                <a16:creationId xmlns:a16="http://schemas.microsoft.com/office/drawing/2014/main" id="{6EAE1940-552A-D123-4C58-0464599D5258}"/>
              </a:ext>
            </a:extLst>
          </p:cNvPr>
          <p:cNvSpPr/>
          <p:nvPr/>
        </p:nvSpPr>
        <p:spPr>
          <a:xfrm>
            <a:off x="4800600" y="1481328"/>
            <a:ext cx="3749040" cy="22860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DQ Gate Tests</a:t>
            </a:r>
            <a:endParaRPr lang="en-US" sz="1000" dirty="0"/>
          </a:p>
        </p:txBody>
      </p:sp>
      <p:sp>
        <p:nvSpPr>
          <p:cNvPr id="42" name="Text 22">
            <a:extLst>
              <a:ext uri="{FF2B5EF4-FFF2-40B4-BE49-F238E27FC236}">
                <a16:creationId xmlns:a16="http://schemas.microsoft.com/office/drawing/2014/main" id="{E83E7768-0B2A-B67B-52DD-6C293EFAF593}"/>
              </a:ext>
            </a:extLst>
          </p:cNvPr>
          <p:cNvSpPr/>
          <p:nvPr/>
        </p:nvSpPr>
        <p:spPr>
          <a:xfrm>
            <a:off x="4892040" y="1728216"/>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No orphaned logs in clean view</a:t>
            </a:r>
            <a:endParaRPr lang="en-US" sz="950" dirty="0">
              <a:solidFill>
                <a:schemeClr val="bg1"/>
              </a:solidFill>
            </a:endParaRPr>
          </a:p>
        </p:txBody>
      </p:sp>
      <p:sp>
        <p:nvSpPr>
          <p:cNvPr id="43" name="Text 23">
            <a:extLst>
              <a:ext uri="{FF2B5EF4-FFF2-40B4-BE49-F238E27FC236}">
                <a16:creationId xmlns:a16="http://schemas.microsoft.com/office/drawing/2014/main" id="{64AFF604-3576-7950-F1BC-48780ADB2B50}"/>
              </a:ext>
            </a:extLst>
          </p:cNvPr>
          <p:cNvSpPr/>
          <p:nvPr/>
        </p:nvSpPr>
        <p:spPr>
          <a:xfrm>
            <a:off x="4892040" y="1947672"/>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No rogue dates in clean view</a:t>
            </a:r>
            <a:endParaRPr lang="en-US" sz="950" dirty="0">
              <a:solidFill>
                <a:schemeClr val="bg1"/>
              </a:solidFill>
            </a:endParaRPr>
          </a:p>
        </p:txBody>
      </p:sp>
      <p:sp>
        <p:nvSpPr>
          <p:cNvPr id="44" name="Text 24">
            <a:extLst>
              <a:ext uri="{FF2B5EF4-FFF2-40B4-BE49-F238E27FC236}">
                <a16:creationId xmlns:a16="http://schemas.microsoft.com/office/drawing/2014/main" id="{E37F6BBA-E004-DFB3-E655-67EDC1DA8BE9}"/>
              </a:ext>
            </a:extLst>
          </p:cNvPr>
          <p:cNvSpPr/>
          <p:nvPr/>
        </p:nvSpPr>
        <p:spPr>
          <a:xfrm>
            <a:off x="4892040" y="2167128"/>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350 flagged rows in dq_report</a:t>
            </a:r>
            <a:endParaRPr lang="en-US" sz="950" dirty="0">
              <a:solidFill>
                <a:schemeClr val="bg1"/>
              </a:solidFill>
            </a:endParaRPr>
          </a:p>
        </p:txBody>
      </p:sp>
      <p:sp>
        <p:nvSpPr>
          <p:cNvPr id="45" name="Text 25">
            <a:extLst>
              <a:ext uri="{FF2B5EF4-FFF2-40B4-BE49-F238E27FC236}">
                <a16:creationId xmlns:a16="http://schemas.microsoft.com/office/drawing/2014/main" id="{948D41C0-A472-62DE-455D-754359323D93}"/>
              </a:ext>
            </a:extLst>
          </p:cNvPr>
          <p:cNvSpPr/>
          <p:nvPr/>
        </p:nvSpPr>
        <p:spPr>
          <a:xfrm>
            <a:off x="4892040" y="2386584"/>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Zero negative consumption</a:t>
            </a:r>
            <a:endParaRPr lang="en-US" sz="950" dirty="0">
              <a:solidFill>
                <a:schemeClr val="bg1"/>
              </a:solidFill>
            </a:endParaRPr>
          </a:p>
        </p:txBody>
      </p:sp>
      <p:sp>
        <p:nvSpPr>
          <p:cNvPr id="46" name="Text 26">
            <a:extLst>
              <a:ext uri="{FF2B5EF4-FFF2-40B4-BE49-F238E27FC236}">
                <a16:creationId xmlns:a16="http://schemas.microsoft.com/office/drawing/2014/main" id="{8A6024CA-6A90-E266-5E39-A99649E365EE}"/>
              </a:ext>
            </a:extLst>
          </p:cNvPr>
          <p:cNvSpPr/>
          <p:nvPr/>
        </p:nvSpPr>
        <p:spPr>
          <a:xfrm>
            <a:off x="4800600" y="2660904"/>
            <a:ext cx="3749040" cy="22860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Invariant Tests</a:t>
            </a:r>
            <a:endParaRPr lang="en-US" sz="1000" dirty="0"/>
          </a:p>
        </p:txBody>
      </p:sp>
      <p:sp>
        <p:nvSpPr>
          <p:cNvPr id="47" name="Text 27">
            <a:extLst>
              <a:ext uri="{FF2B5EF4-FFF2-40B4-BE49-F238E27FC236}">
                <a16:creationId xmlns:a16="http://schemas.microsoft.com/office/drawing/2014/main" id="{586494C2-A70A-3A7A-A8BE-BC5B5D5F67B3}"/>
              </a:ext>
            </a:extLst>
          </p:cNvPr>
          <p:cNvSpPr/>
          <p:nvPr/>
        </p:nvSpPr>
        <p:spPr>
          <a:xfrm>
            <a:off x="4892040" y="2907792"/>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Deployment score ≤ 1.0 always</a:t>
            </a:r>
            <a:endParaRPr lang="en-US" sz="950" dirty="0">
              <a:solidFill>
                <a:schemeClr val="bg1"/>
              </a:solidFill>
            </a:endParaRPr>
          </a:p>
        </p:txBody>
      </p:sp>
      <p:sp>
        <p:nvSpPr>
          <p:cNvPr id="48" name="Text 28">
            <a:extLst>
              <a:ext uri="{FF2B5EF4-FFF2-40B4-BE49-F238E27FC236}">
                <a16:creationId xmlns:a16="http://schemas.microsoft.com/office/drawing/2014/main" id="{DDCCA030-FBA4-5917-D598-3E621B3A9736}"/>
              </a:ext>
            </a:extLst>
          </p:cNvPr>
          <p:cNvSpPr/>
          <p:nvPr/>
        </p:nvSpPr>
        <p:spPr>
          <a:xfrm>
            <a:off x="4892040" y="3127248"/>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Realized ARR ≤ Contracted ARR</a:t>
            </a:r>
            <a:endParaRPr lang="en-US" sz="950" dirty="0">
              <a:solidFill>
                <a:schemeClr val="bg1"/>
              </a:solidFill>
            </a:endParaRPr>
          </a:p>
        </p:txBody>
      </p:sp>
      <p:sp>
        <p:nvSpPr>
          <p:cNvPr id="49" name="Text 29">
            <a:extLst>
              <a:ext uri="{FF2B5EF4-FFF2-40B4-BE49-F238E27FC236}">
                <a16:creationId xmlns:a16="http://schemas.microsoft.com/office/drawing/2014/main" id="{104076C6-5EF6-7FEB-226D-51F8C1F5B721}"/>
              </a:ext>
            </a:extLst>
          </p:cNvPr>
          <p:cNvSpPr/>
          <p:nvPr/>
        </p:nvSpPr>
        <p:spPr>
          <a:xfrm>
            <a:off x="4892040" y="3346704"/>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Shelfware PRS = 0.00 exactly</a:t>
            </a:r>
            <a:endParaRPr lang="en-US" sz="950" dirty="0">
              <a:solidFill>
                <a:schemeClr val="bg1"/>
              </a:solidFill>
            </a:endParaRPr>
          </a:p>
        </p:txBody>
      </p:sp>
      <p:sp>
        <p:nvSpPr>
          <p:cNvPr id="50" name="Text 30">
            <a:extLst>
              <a:ext uri="{FF2B5EF4-FFF2-40B4-BE49-F238E27FC236}">
                <a16:creationId xmlns:a16="http://schemas.microsoft.com/office/drawing/2014/main" id="{79A34D35-3649-7CCF-6B8B-74B743F35092}"/>
              </a:ext>
            </a:extLst>
          </p:cNvPr>
          <p:cNvSpPr/>
          <p:nvPr/>
        </p:nvSpPr>
        <p:spPr>
          <a:xfrm>
            <a:off x="4892040" y="3566160"/>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Portfolio PRS weighted correctly</a:t>
            </a:r>
            <a:endParaRPr lang="en-US" sz="950" dirty="0">
              <a:solidFill>
                <a:schemeClr val="bg1"/>
              </a:solidFill>
            </a:endParaRPr>
          </a:p>
        </p:txBody>
      </p:sp>
      <p:sp>
        <p:nvSpPr>
          <p:cNvPr id="51" name="Text 31">
            <a:extLst>
              <a:ext uri="{FF2B5EF4-FFF2-40B4-BE49-F238E27FC236}">
                <a16:creationId xmlns:a16="http://schemas.microsoft.com/office/drawing/2014/main" id="{7D943A8A-C5B0-20DB-CE7A-64FC23091EAA}"/>
              </a:ext>
            </a:extLst>
          </p:cNvPr>
          <p:cNvSpPr/>
          <p:nvPr/>
        </p:nvSpPr>
        <p:spPr>
          <a:xfrm>
            <a:off x="4800600" y="3840480"/>
            <a:ext cx="3749040" cy="228600"/>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Edge Case Tests</a:t>
            </a:r>
            <a:endParaRPr lang="en-US" sz="1000" dirty="0"/>
          </a:p>
        </p:txBody>
      </p:sp>
      <p:sp>
        <p:nvSpPr>
          <p:cNvPr id="52" name="Text 32">
            <a:extLst>
              <a:ext uri="{FF2B5EF4-FFF2-40B4-BE49-F238E27FC236}">
                <a16:creationId xmlns:a16="http://schemas.microsoft.com/office/drawing/2014/main" id="{199E73EE-7B06-8F85-3760-44EF20D0788D}"/>
              </a:ext>
            </a:extLst>
          </p:cNvPr>
          <p:cNvSpPr/>
          <p:nvPr/>
        </p:nvSpPr>
        <p:spPr>
          <a:xfrm>
            <a:off x="4892040" y="4087368"/>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Shelfware → zero realized ARR</a:t>
            </a:r>
            <a:endParaRPr lang="en-US" sz="950" dirty="0">
              <a:solidFill>
                <a:schemeClr val="bg1"/>
              </a:solidFill>
            </a:endParaRPr>
          </a:p>
        </p:txBody>
      </p:sp>
      <p:sp>
        <p:nvSpPr>
          <p:cNvPr id="53" name="Text 33">
            <a:extLst>
              <a:ext uri="{FF2B5EF4-FFF2-40B4-BE49-F238E27FC236}">
                <a16:creationId xmlns:a16="http://schemas.microsoft.com/office/drawing/2014/main" id="{8DE3CBCA-ED68-E72B-08AB-88354D6D3A53}"/>
              </a:ext>
            </a:extLst>
          </p:cNvPr>
          <p:cNvSpPr/>
          <p:nvPr/>
        </p:nvSpPr>
        <p:spPr>
          <a:xfrm>
            <a:off x="4892040" y="4306824"/>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Spike-drop → Orange/Red band</a:t>
            </a:r>
            <a:endParaRPr lang="en-US" sz="950" dirty="0">
              <a:solidFill>
                <a:schemeClr val="bg1"/>
              </a:solidFill>
            </a:endParaRPr>
          </a:p>
        </p:txBody>
      </p:sp>
      <p:sp>
        <p:nvSpPr>
          <p:cNvPr id="54" name="Text 34">
            <a:extLst>
              <a:ext uri="{FF2B5EF4-FFF2-40B4-BE49-F238E27FC236}">
                <a16:creationId xmlns:a16="http://schemas.microsoft.com/office/drawing/2014/main" id="{30954573-3BE0-C5C7-BB19-4EAC088AE1AE}"/>
              </a:ext>
            </a:extLst>
          </p:cNvPr>
          <p:cNvSpPr/>
          <p:nvPr/>
        </p:nvSpPr>
        <p:spPr>
          <a:xfrm>
            <a:off x="4892040" y="4526280"/>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Overagers → flag_overage = TRUE</a:t>
            </a:r>
            <a:endParaRPr lang="en-US" sz="950" dirty="0">
              <a:solidFill>
                <a:schemeClr val="bg1"/>
              </a:solidFill>
            </a:endParaRPr>
          </a:p>
        </p:txBody>
      </p:sp>
      <p:sp>
        <p:nvSpPr>
          <p:cNvPr id="55" name="Text 35">
            <a:extLst>
              <a:ext uri="{FF2B5EF4-FFF2-40B4-BE49-F238E27FC236}">
                <a16:creationId xmlns:a16="http://schemas.microsoft.com/office/drawing/2014/main" id="{5205FFA7-7F0D-7B77-EC95-E46634A8830E}"/>
              </a:ext>
            </a:extLst>
          </p:cNvPr>
          <p:cNvSpPr/>
          <p:nvPr/>
        </p:nvSpPr>
        <p:spPr>
          <a:xfrm>
            <a:off x="4892040" y="4745736"/>
            <a:ext cx="3657600" cy="201168"/>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  </a:t>
            </a:r>
            <a:r>
              <a:rPr lang="en-US" sz="950" dirty="0">
                <a:solidFill>
                  <a:schemeClr val="bg1"/>
                </a:solidFill>
                <a:latin typeface="Calibri" pitchFamily="34" charset="0"/>
                <a:ea typeface="Calibri" pitchFamily="34" charset="-122"/>
                <a:cs typeface="Calibri" pitchFamily="34" charset="-120"/>
              </a:rPr>
              <a:t>Mid-year → no double-count ARR</a:t>
            </a:r>
            <a:endParaRPr lang="en-US" sz="950" dirty="0">
              <a:solidFill>
                <a:schemeClr val="bg1"/>
              </a:solidFill>
            </a:endParaRPr>
          </a:p>
        </p:txBody>
      </p:sp>
      <p:sp>
        <p:nvSpPr>
          <p:cNvPr id="56" name="Text 0">
            <a:extLst>
              <a:ext uri="{FF2B5EF4-FFF2-40B4-BE49-F238E27FC236}">
                <a16:creationId xmlns:a16="http://schemas.microsoft.com/office/drawing/2014/main" id="{3063B245-B3F8-1DCC-8666-3A9CD9C6715C}"/>
              </a:ext>
            </a:extLst>
          </p:cNvPr>
          <p:cNvSpPr/>
          <p:nvPr/>
        </p:nvSpPr>
        <p:spPr>
          <a:xfrm>
            <a:off x="457200" y="256032"/>
            <a:ext cx="8229600" cy="457200"/>
          </a:xfrm>
          <a:prstGeom prst="rect">
            <a:avLst/>
          </a:prstGeom>
          <a:noFill/>
          <a:ln/>
        </p:spPr>
        <p:txBody>
          <a:bodyPr wrap="square"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Evaluation Framework &amp; Results</a:t>
            </a:r>
            <a:endParaRPr lang="en-US" sz="2800" dirty="0">
              <a:solidFill>
                <a:schemeClr val="bg1"/>
              </a:solidFill>
            </a:endParaRPr>
          </a:p>
        </p:txBody>
      </p:sp>
      <p:sp>
        <p:nvSpPr>
          <p:cNvPr id="57" name="Text 2">
            <a:extLst>
              <a:ext uri="{FF2B5EF4-FFF2-40B4-BE49-F238E27FC236}">
                <a16:creationId xmlns:a16="http://schemas.microsoft.com/office/drawing/2014/main" id="{4CD447BB-39E7-4A93-4A0E-2130D180DF07}"/>
              </a:ext>
            </a:extLst>
          </p:cNvPr>
          <p:cNvSpPr/>
          <p:nvPr/>
        </p:nvSpPr>
        <p:spPr>
          <a:xfrm>
            <a:off x="500287" y="976708"/>
            <a:ext cx="4023360" cy="274320"/>
          </a:xfrm>
          <a:prstGeom prst="rect">
            <a:avLst/>
          </a:prstGeom>
          <a:noFill/>
          <a:ln/>
        </p:spPr>
        <p:txBody>
          <a:bodyPr wrap="square"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PRS Health Bands → CSM Action Triggers</a:t>
            </a:r>
            <a:endParaRPr lang="en-US" sz="1300" dirty="0">
              <a:solidFill>
                <a:schemeClr val="bg1"/>
              </a:solidFill>
            </a:endParaRPr>
          </a:p>
        </p:txBody>
      </p:sp>
    </p:spTree>
    <p:extLst>
      <p:ext uri="{BB962C8B-B14F-4D97-AF65-F5344CB8AC3E}">
        <p14:creationId xmlns:p14="http://schemas.microsoft.com/office/powerpoint/2010/main" val="2122089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Live Dashboard — Streamlit Demo</a:t>
            </a:r>
            <a:endParaRPr lang="en-US" sz="2800" dirty="0"/>
          </a:p>
        </p:txBody>
      </p:sp>
      <p:sp>
        <p:nvSpPr>
          <p:cNvPr id="3" name="Text 1"/>
          <p:cNvSpPr/>
          <p:nvPr/>
        </p:nvSpPr>
        <p:spPr>
          <a:xfrm>
            <a:off x="457200" y="713232"/>
            <a:ext cx="8229600" cy="274320"/>
          </a:xfrm>
          <a:prstGeom prst="rect">
            <a:avLst/>
          </a:prstGeom>
          <a:noFill/>
          <a:ln/>
        </p:spPr>
        <p:txBody>
          <a:bodyPr wrap="square" rtlCol="0" anchor="ctr"/>
          <a:lstStyle/>
          <a:p>
            <a:pPr marL="0" indent="0">
              <a:buNone/>
            </a:pPr>
            <a:r>
              <a:rPr lang="en-US" sz="1250" i="1" dirty="0">
                <a:solidFill>
                  <a:srgbClr val="00C9B1"/>
                </a:solidFill>
                <a:latin typeface="Calibri" pitchFamily="34" charset="0"/>
                <a:ea typeface="Calibri" pitchFamily="34" charset="-122"/>
                <a:cs typeface="Calibri" pitchFamily="34" charset="-120"/>
              </a:rPr>
              <a:t>Executive account health view · Built with Claude Code · Connected to BigQuery</a:t>
            </a:r>
            <a:endParaRPr lang="en-US" sz="1250" dirty="0"/>
          </a:p>
        </p:txBody>
      </p:sp>
      <p:sp>
        <p:nvSpPr>
          <p:cNvPr id="4" name="Shape 2"/>
          <p:cNvSpPr/>
          <p:nvPr/>
        </p:nvSpPr>
        <p:spPr>
          <a:xfrm>
            <a:off x="457200" y="987552"/>
            <a:ext cx="8311896" cy="3648456"/>
          </a:xfrm>
          <a:prstGeom prst="roundRect">
            <a:avLst>
              <a:gd name="adj" fmla="val 3896"/>
            </a:avLst>
          </a:prstGeom>
          <a:solidFill>
            <a:srgbClr val="0D1F3C"/>
          </a:solidFill>
          <a:ln/>
          <a:effectLst>
            <a:outerShdw blurRad="101600" dist="38100" dir="2700000" algn="bl" rotWithShape="0">
              <a:srgbClr val="000000">
                <a:alpha val="20000"/>
              </a:srgbClr>
            </a:outerShdw>
          </a:effectLst>
        </p:spPr>
        <p:txBody>
          <a:bodyPr/>
          <a:lstStyle/>
          <a:p>
            <a:endParaRPr lang="en-US" dirty="0"/>
          </a:p>
        </p:txBody>
      </p:sp>
      <p:sp>
        <p:nvSpPr>
          <p:cNvPr id="5" name="Shape 3"/>
          <p:cNvSpPr/>
          <p:nvPr/>
        </p:nvSpPr>
        <p:spPr>
          <a:xfrm>
            <a:off x="457200" y="1051560"/>
            <a:ext cx="8229600" cy="438912"/>
          </a:xfrm>
          <a:prstGeom prst="roundRect">
            <a:avLst>
              <a:gd name="adj" fmla="val 31250"/>
            </a:avLst>
          </a:prstGeom>
          <a:solidFill>
            <a:srgbClr val="0D2137"/>
          </a:solidFill>
          <a:ln/>
        </p:spPr>
      </p:sp>
      <p:sp>
        <p:nvSpPr>
          <p:cNvPr id="6" name="Text 4"/>
          <p:cNvSpPr/>
          <p:nvPr/>
        </p:nvSpPr>
        <p:spPr>
          <a:xfrm>
            <a:off x="457200" y="1065275"/>
            <a:ext cx="2263515" cy="1160763"/>
          </a:xfrm>
          <a:prstGeom prst="rect">
            <a:avLst/>
          </a:prstGeom>
          <a:noFill/>
          <a:ln/>
        </p:spPr>
        <p:txBody>
          <a:bodyPr wrap="square" rtlCol="0" anchor="ctr"/>
          <a:lstStyle/>
          <a:p>
            <a:pPr marL="0" indent="0">
              <a:buNone/>
            </a:pPr>
            <a:r>
              <a:rPr lang="en-US" sz="950" dirty="0">
                <a:solidFill>
                  <a:srgbClr val="00C9B1"/>
                </a:solidFill>
                <a:latin typeface="Calibri" pitchFamily="34" charset="0"/>
                <a:ea typeface="Calibri" pitchFamily="34" charset="-122"/>
                <a:cs typeface="Calibri" pitchFamily="34" charset="-120"/>
              </a:rPr>
              <a:t>🔷  GCS Account Health </a:t>
            </a:r>
          </a:p>
          <a:p>
            <a:pPr marL="0" indent="0">
              <a:buNone/>
            </a:pPr>
            <a:r>
              <a:rPr lang="en-US" sz="950" dirty="0">
                <a:solidFill>
                  <a:srgbClr val="00C9B1"/>
                </a:solidFill>
                <a:latin typeface="Calibri" pitchFamily="34" charset="0"/>
                <a:ea typeface="Calibri" pitchFamily="34" charset="-122"/>
                <a:cs typeface="Calibri" pitchFamily="34" charset="-120"/>
              </a:rPr>
              <a:t>· North Star Dashboard  |  </a:t>
            </a:r>
          </a:p>
          <a:p>
            <a:pPr marL="0" indent="0">
              <a:buNone/>
            </a:pPr>
            <a:r>
              <a:rPr lang="en-US" sz="950" dirty="0">
                <a:solidFill>
                  <a:srgbClr val="00C9B1"/>
                </a:solidFill>
                <a:latin typeface="Calibri" pitchFamily="34" charset="0"/>
                <a:ea typeface="Calibri" pitchFamily="34" charset="-122"/>
                <a:cs typeface="Calibri" pitchFamily="34" charset="-120"/>
              </a:rPr>
              <a:t>Month: Dec 2024  | </a:t>
            </a:r>
          </a:p>
          <a:p>
            <a:pPr marL="0" indent="0">
              <a:buNone/>
            </a:pPr>
            <a:r>
              <a:rPr lang="en-US" sz="950" dirty="0">
                <a:solidFill>
                  <a:srgbClr val="00C9B1"/>
                </a:solidFill>
                <a:latin typeface="Calibri" pitchFamily="34" charset="0"/>
                <a:ea typeface="Calibri" pitchFamily="34" charset="-122"/>
                <a:cs typeface="Calibri" pitchFamily="34" charset="-120"/>
              </a:rPr>
              <a:t>Region: All  |  Segment: All</a:t>
            </a:r>
            <a:endParaRPr lang="en-US" sz="950" dirty="0"/>
          </a:p>
        </p:txBody>
      </p:sp>
      <p:sp>
        <p:nvSpPr>
          <p:cNvPr id="41" name="Shape 39"/>
          <p:cNvSpPr/>
          <p:nvPr/>
        </p:nvSpPr>
        <p:spPr>
          <a:xfrm>
            <a:off x="457200" y="4663440"/>
            <a:ext cx="8229600" cy="347472"/>
          </a:xfrm>
          <a:prstGeom prst="roundRect">
            <a:avLst>
              <a:gd name="adj" fmla="val 21053"/>
            </a:avLst>
          </a:prstGeom>
          <a:solidFill>
            <a:srgbClr val="00C9B1">
              <a:alpha val="18000"/>
            </a:srgbClr>
          </a:solidFill>
          <a:ln/>
        </p:spPr>
      </p:sp>
      <p:sp>
        <p:nvSpPr>
          <p:cNvPr id="42" name="Text 40"/>
          <p:cNvSpPr/>
          <p:nvPr/>
        </p:nvSpPr>
        <p:spPr>
          <a:xfrm>
            <a:off x="594360" y="4690872"/>
            <a:ext cx="7955280" cy="29260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  Live at: dbhagatnsdemo.streamlit.app  ·  Code: github.com/DharmeshBhagat/panw-gcs-northstar</a:t>
            </a:r>
            <a:endParaRPr lang="en-US" sz="1100" dirty="0"/>
          </a:p>
        </p:txBody>
      </p:sp>
      <p:pic>
        <p:nvPicPr>
          <p:cNvPr id="44" name="Picture 43">
            <a:extLst>
              <a:ext uri="{FF2B5EF4-FFF2-40B4-BE49-F238E27FC236}">
                <a16:creationId xmlns:a16="http://schemas.microsoft.com/office/drawing/2014/main" id="{2763245B-E82B-D145-E736-F1462C5FAD5A}"/>
              </a:ext>
            </a:extLst>
          </p:cNvPr>
          <p:cNvPicPr>
            <a:picLocks noChangeAspect="1"/>
          </p:cNvPicPr>
          <p:nvPr/>
        </p:nvPicPr>
        <p:blipFill>
          <a:blip r:embed="rId3"/>
          <a:stretch>
            <a:fillRect/>
          </a:stretch>
        </p:blipFill>
        <p:spPr>
          <a:xfrm>
            <a:off x="3013023" y="1135603"/>
            <a:ext cx="5673777" cy="3352354"/>
          </a:xfrm>
          <a:prstGeom prst="rect">
            <a:avLst/>
          </a:prstGeom>
        </p:spPr>
      </p:pic>
      <p:sp>
        <p:nvSpPr>
          <p:cNvPr id="7" name="Shape 3">
            <a:extLst>
              <a:ext uri="{FF2B5EF4-FFF2-40B4-BE49-F238E27FC236}">
                <a16:creationId xmlns:a16="http://schemas.microsoft.com/office/drawing/2014/main" id="{28CDEBB9-63C1-DFCC-EFB1-C4E15EEE147D}"/>
              </a:ext>
            </a:extLst>
          </p:cNvPr>
          <p:cNvSpPr/>
          <p:nvPr/>
        </p:nvSpPr>
        <p:spPr>
          <a:xfrm>
            <a:off x="623092" y="3011296"/>
            <a:ext cx="1931729" cy="440564"/>
          </a:xfrm>
          <a:prstGeom prst="roundRect">
            <a:avLst>
              <a:gd name="adj" fmla="val 11429"/>
            </a:avLst>
          </a:prstGeom>
          <a:solidFill>
            <a:srgbClr val="E6F7F2"/>
          </a:solidFill>
          <a:ln/>
          <a:effectLst>
            <a:outerShdw blurRad="38100" dist="12700" dir="2700000" algn="bl" rotWithShape="0">
              <a:srgbClr val="000000">
                <a:alpha val="8000"/>
              </a:srgbClr>
            </a:outerShdw>
          </a:effectLst>
        </p:spPr>
        <p:txBody>
          <a:bodyPr/>
          <a:lstStyle/>
          <a:p>
            <a:pPr algn="ctr"/>
            <a:r>
              <a:rPr lang="en-US" dirty="0">
                <a:hlinkClick r:id="rId4"/>
              </a:rPr>
              <a:t>Demo</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Retrospective: If I Did This Again</a:t>
            </a:r>
            <a:endParaRPr lang="en-US" sz="2800" dirty="0"/>
          </a:p>
        </p:txBody>
      </p:sp>
      <p:sp>
        <p:nvSpPr>
          <p:cNvPr id="3" name="Text 1"/>
          <p:cNvSpPr/>
          <p:nvPr/>
        </p:nvSpPr>
        <p:spPr>
          <a:xfrm>
            <a:off x="457200" y="713232"/>
            <a:ext cx="8229600" cy="274320"/>
          </a:xfrm>
          <a:prstGeom prst="rect">
            <a:avLst/>
          </a:prstGeom>
          <a:noFill/>
          <a:ln/>
        </p:spPr>
        <p:txBody>
          <a:bodyPr wrap="square" rtlCol="0" anchor="ctr"/>
          <a:lstStyle/>
          <a:p>
            <a:pPr marL="0" indent="0">
              <a:buNone/>
            </a:pPr>
            <a:r>
              <a:rPr lang="en-US" sz="1250" i="1" dirty="0">
                <a:solidFill>
                  <a:srgbClr val="00C9B1"/>
                </a:solidFill>
                <a:latin typeface="Calibri" pitchFamily="34" charset="0"/>
                <a:ea typeface="Calibri" pitchFamily="34" charset="-122"/>
                <a:cs typeface="Calibri" pitchFamily="34" charset="-120"/>
              </a:rPr>
              <a:t>Honest hard truths + what the next-gen tech stack unlocks</a:t>
            </a:r>
            <a:endParaRPr lang="en-US" sz="1250" dirty="0"/>
          </a:p>
        </p:txBody>
      </p:sp>
      <p:sp>
        <p:nvSpPr>
          <p:cNvPr id="4" name="Text 2"/>
          <p:cNvSpPr/>
          <p:nvPr/>
        </p:nvSpPr>
        <p:spPr>
          <a:xfrm>
            <a:off x="457200" y="1051560"/>
            <a:ext cx="402336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Hard Truths Learned</a:t>
            </a:r>
            <a:endParaRPr lang="en-US" sz="1400" dirty="0"/>
          </a:p>
        </p:txBody>
      </p:sp>
      <p:sp>
        <p:nvSpPr>
          <p:cNvPr id="5" name="Shape 3"/>
          <p:cNvSpPr/>
          <p:nvPr/>
        </p:nvSpPr>
        <p:spPr>
          <a:xfrm>
            <a:off x="457200" y="1389888"/>
            <a:ext cx="4023360" cy="713232"/>
          </a:xfrm>
          <a:prstGeom prst="roundRect">
            <a:avLst>
              <a:gd name="adj" fmla="val 12821"/>
            </a:avLst>
          </a:prstGeom>
          <a:solidFill>
            <a:srgbClr val="152642"/>
          </a:solidFill>
          <a:ln/>
          <a:effectLst>
            <a:outerShdw blurRad="101600" dist="38100" dir="2700000" algn="bl" rotWithShape="0">
              <a:srgbClr val="000000">
                <a:alpha val="20000"/>
              </a:srgbClr>
            </a:outerShdw>
          </a:effectLst>
        </p:spPr>
      </p:sp>
      <p:sp>
        <p:nvSpPr>
          <p:cNvPr id="6" name="Text 4"/>
          <p:cNvSpPr/>
          <p:nvPr/>
        </p:nvSpPr>
        <p:spPr>
          <a:xfrm>
            <a:off x="566928" y="1444752"/>
            <a:ext cx="457200" cy="347472"/>
          </a:xfrm>
          <a:prstGeom prst="rect">
            <a:avLst/>
          </a:prstGeom>
          <a:noFill/>
          <a:ln/>
        </p:spPr>
        <p:txBody>
          <a:bodyPr wrap="square" rtlCol="0" anchor="ctr"/>
          <a:lstStyle/>
          <a:p>
            <a:pPr marL="0" indent="0">
              <a:buNone/>
            </a:pPr>
            <a:r>
              <a:rPr lang="en-US" sz="1800" b="1" dirty="0">
                <a:solidFill>
                  <a:srgbClr val="00C9B1"/>
                </a:solidFill>
                <a:latin typeface="Cambria" pitchFamily="34" charset="0"/>
                <a:ea typeface="Cambria" pitchFamily="34" charset="-122"/>
                <a:cs typeface="Cambria" pitchFamily="34" charset="-120"/>
              </a:rPr>
              <a:t>01</a:t>
            </a:r>
            <a:endParaRPr lang="en-US" sz="1800" dirty="0"/>
          </a:p>
        </p:txBody>
      </p:sp>
      <p:sp>
        <p:nvSpPr>
          <p:cNvPr id="7" name="Text 5"/>
          <p:cNvSpPr/>
          <p:nvPr/>
        </p:nvSpPr>
        <p:spPr>
          <a:xfrm>
            <a:off x="1078992" y="1444752"/>
            <a:ext cx="333756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Start cross-platform data cleanup in parallel</a:t>
            </a:r>
            <a:endParaRPr lang="en-US" sz="1050" dirty="0"/>
          </a:p>
        </p:txBody>
      </p:sp>
      <p:sp>
        <p:nvSpPr>
          <p:cNvPr id="8" name="Text 6"/>
          <p:cNvSpPr/>
          <p:nvPr/>
        </p:nvSpPr>
        <p:spPr>
          <a:xfrm>
            <a:off x="1078992" y="1719072"/>
            <a:ext cx="3337560" cy="320040"/>
          </a:xfrm>
          <a:prstGeom prst="rect">
            <a:avLst/>
          </a:prstGeom>
          <a:noFill/>
          <a:ln/>
        </p:spPr>
        <p:txBody>
          <a:bodyPr wrap="square" rtlCol="0" anchor="ctr"/>
          <a:lstStyle/>
          <a:p>
            <a:pPr marL="0" indent="0">
              <a:buNone/>
            </a:pPr>
            <a:r>
              <a:rPr lang="en-US" sz="850" dirty="0">
                <a:solidFill>
                  <a:srgbClr val="8FB3CC"/>
                </a:solidFill>
                <a:latin typeface="Calibri" pitchFamily="34" charset="0"/>
                <a:ea typeface="Calibri" pitchFamily="34" charset="-122"/>
                <a:cs typeface="Calibri" pitchFamily="34" charset="-120"/>
              </a:rPr>
              <a:t>Don't sequence PRS v1 → v2. Clean platform entitlement data Week 1, so Phase 2 is a formula change, not a data project.</a:t>
            </a:r>
            <a:endParaRPr lang="en-US" sz="850" dirty="0"/>
          </a:p>
        </p:txBody>
      </p:sp>
      <p:sp>
        <p:nvSpPr>
          <p:cNvPr id="9" name="Shape 7"/>
          <p:cNvSpPr/>
          <p:nvPr/>
        </p:nvSpPr>
        <p:spPr>
          <a:xfrm>
            <a:off x="457200" y="2194560"/>
            <a:ext cx="4023360" cy="713232"/>
          </a:xfrm>
          <a:prstGeom prst="roundRect">
            <a:avLst>
              <a:gd name="adj" fmla="val 12821"/>
            </a:avLst>
          </a:prstGeom>
          <a:solidFill>
            <a:srgbClr val="152642"/>
          </a:solidFill>
          <a:ln/>
          <a:effectLst>
            <a:outerShdw blurRad="101600" dist="38100" dir="2700000" algn="bl" rotWithShape="0">
              <a:srgbClr val="000000">
                <a:alpha val="20000"/>
              </a:srgbClr>
            </a:outerShdw>
          </a:effectLst>
        </p:spPr>
      </p:sp>
      <p:sp>
        <p:nvSpPr>
          <p:cNvPr id="10" name="Text 8"/>
          <p:cNvSpPr/>
          <p:nvPr/>
        </p:nvSpPr>
        <p:spPr>
          <a:xfrm>
            <a:off x="566928" y="2249424"/>
            <a:ext cx="457200" cy="347472"/>
          </a:xfrm>
          <a:prstGeom prst="rect">
            <a:avLst/>
          </a:prstGeom>
          <a:noFill/>
          <a:ln/>
        </p:spPr>
        <p:txBody>
          <a:bodyPr wrap="square" rtlCol="0" anchor="ctr"/>
          <a:lstStyle/>
          <a:p>
            <a:pPr marL="0" indent="0">
              <a:buNone/>
            </a:pPr>
            <a:r>
              <a:rPr lang="en-US" sz="1800" b="1" dirty="0">
                <a:solidFill>
                  <a:srgbClr val="00C9B1"/>
                </a:solidFill>
                <a:latin typeface="Cambria" pitchFamily="34" charset="0"/>
                <a:ea typeface="Cambria" pitchFamily="34" charset="-122"/>
                <a:cs typeface="Cambria" pitchFamily="34" charset="-120"/>
              </a:rPr>
              <a:t>02</a:t>
            </a:r>
            <a:endParaRPr lang="en-US" sz="1800" dirty="0"/>
          </a:p>
        </p:txBody>
      </p:sp>
      <p:sp>
        <p:nvSpPr>
          <p:cNvPr id="11" name="Text 9"/>
          <p:cNvSpPr/>
          <p:nvPr/>
        </p:nvSpPr>
        <p:spPr>
          <a:xfrm>
            <a:off x="1078992" y="2249424"/>
            <a:ext cx="333756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POC-to-Prod tenant mapping is Day 1 work</a:t>
            </a:r>
            <a:endParaRPr lang="en-US" sz="1050" dirty="0"/>
          </a:p>
        </p:txBody>
      </p:sp>
      <p:sp>
        <p:nvSpPr>
          <p:cNvPr id="12" name="Text 10"/>
          <p:cNvSpPr/>
          <p:nvPr/>
        </p:nvSpPr>
        <p:spPr>
          <a:xfrm>
            <a:off x="1078992" y="2523744"/>
            <a:ext cx="3337560" cy="320040"/>
          </a:xfrm>
          <a:prstGeom prst="rect">
            <a:avLst/>
          </a:prstGeom>
          <a:noFill/>
          <a:ln/>
        </p:spPr>
        <p:txBody>
          <a:bodyPr wrap="square" rtlCol="0" anchor="ctr"/>
          <a:lstStyle/>
          <a:p>
            <a:pPr marL="0" indent="0">
              <a:buNone/>
            </a:pPr>
            <a:r>
              <a:rPr lang="en-US" sz="850" dirty="0">
                <a:solidFill>
                  <a:srgbClr val="8FB3CC"/>
                </a:solidFill>
                <a:latin typeface="Calibri" pitchFamily="34" charset="0"/>
                <a:ea typeface="Calibri" pitchFamily="34" charset="-122"/>
                <a:cs typeface="Calibri" pitchFamily="34" charset="-120"/>
              </a:rPr>
              <a:t>Discovered late: healthy accounts look like shelfware when usage logs point to the POC tenant, not production. Invert the signal before you show it to anyone.</a:t>
            </a:r>
            <a:endParaRPr lang="en-US" sz="850" dirty="0"/>
          </a:p>
        </p:txBody>
      </p:sp>
      <p:sp>
        <p:nvSpPr>
          <p:cNvPr id="13" name="Shape 11"/>
          <p:cNvSpPr/>
          <p:nvPr/>
        </p:nvSpPr>
        <p:spPr>
          <a:xfrm>
            <a:off x="457200" y="2999232"/>
            <a:ext cx="4023360" cy="713232"/>
          </a:xfrm>
          <a:prstGeom prst="roundRect">
            <a:avLst>
              <a:gd name="adj" fmla="val 12821"/>
            </a:avLst>
          </a:prstGeom>
          <a:solidFill>
            <a:srgbClr val="152642"/>
          </a:solidFill>
          <a:ln/>
          <a:effectLst>
            <a:outerShdw blurRad="101600" dist="38100" dir="2700000" algn="bl" rotWithShape="0">
              <a:srgbClr val="000000">
                <a:alpha val="20000"/>
              </a:srgbClr>
            </a:outerShdw>
          </a:effectLst>
        </p:spPr>
      </p:sp>
      <p:sp>
        <p:nvSpPr>
          <p:cNvPr id="14" name="Text 12"/>
          <p:cNvSpPr/>
          <p:nvPr/>
        </p:nvSpPr>
        <p:spPr>
          <a:xfrm>
            <a:off x="566928" y="3054096"/>
            <a:ext cx="457200" cy="347472"/>
          </a:xfrm>
          <a:prstGeom prst="rect">
            <a:avLst/>
          </a:prstGeom>
          <a:noFill/>
          <a:ln/>
        </p:spPr>
        <p:txBody>
          <a:bodyPr wrap="square" rtlCol="0" anchor="ctr"/>
          <a:lstStyle/>
          <a:p>
            <a:pPr marL="0" indent="0">
              <a:buNone/>
            </a:pPr>
            <a:r>
              <a:rPr lang="en-US" sz="1800" b="1" dirty="0">
                <a:solidFill>
                  <a:srgbClr val="00C9B1"/>
                </a:solidFill>
                <a:latin typeface="Cambria" pitchFamily="34" charset="0"/>
                <a:ea typeface="Cambria" pitchFamily="34" charset="-122"/>
                <a:cs typeface="Cambria" pitchFamily="34" charset="-120"/>
              </a:rPr>
              <a:t>03</a:t>
            </a:r>
            <a:endParaRPr lang="en-US" sz="1800" dirty="0"/>
          </a:p>
        </p:txBody>
      </p:sp>
      <p:sp>
        <p:nvSpPr>
          <p:cNvPr id="15" name="Text 13"/>
          <p:cNvSpPr/>
          <p:nvPr/>
        </p:nvSpPr>
        <p:spPr>
          <a:xfrm>
            <a:off x="1078992" y="3054096"/>
            <a:ext cx="333756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Commitment Exhaustion Alert is 30 lines of SQL</a:t>
            </a:r>
            <a:endParaRPr lang="en-US" sz="1050" dirty="0"/>
          </a:p>
        </p:txBody>
      </p:sp>
      <p:sp>
        <p:nvSpPr>
          <p:cNvPr id="16" name="Text 14"/>
          <p:cNvSpPr/>
          <p:nvPr/>
        </p:nvSpPr>
        <p:spPr>
          <a:xfrm>
            <a:off x="1078992" y="3328416"/>
            <a:ext cx="3337560" cy="320040"/>
          </a:xfrm>
          <a:prstGeom prst="rect">
            <a:avLst/>
          </a:prstGeom>
          <a:noFill/>
          <a:ln/>
        </p:spPr>
        <p:txBody>
          <a:bodyPr wrap="square" rtlCol="0" anchor="ctr"/>
          <a:lstStyle/>
          <a:p>
            <a:pPr marL="0" indent="0">
              <a:buNone/>
            </a:pPr>
            <a:r>
              <a:rPr lang="en-US" sz="850" dirty="0">
                <a:solidFill>
                  <a:srgbClr val="8FB3CC"/>
                </a:solidFill>
                <a:latin typeface="Calibri" pitchFamily="34" charset="0"/>
                <a:ea typeface="Calibri" pitchFamily="34" charset="-122"/>
                <a:cs typeface="Calibri" pitchFamily="34" charset="-120"/>
              </a:rPr>
              <a:t>Linear regression on credit burn rate fires 30 days before an account goes dark. Cost: 2 hours. Cost of not building it: surprise renewal conversation.</a:t>
            </a:r>
            <a:endParaRPr lang="en-US" sz="850" dirty="0"/>
          </a:p>
        </p:txBody>
      </p:sp>
      <p:sp>
        <p:nvSpPr>
          <p:cNvPr id="17" name="Shape 15"/>
          <p:cNvSpPr/>
          <p:nvPr/>
        </p:nvSpPr>
        <p:spPr>
          <a:xfrm>
            <a:off x="457200" y="3803904"/>
            <a:ext cx="4023360" cy="713232"/>
          </a:xfrm>
          <a:prstGeom prst="roundRect">
            <a:avLst>
              <a:gd name="adj" fmla="val 12821"/>
            </a:avLst>
          </a:prstGeom>
          <a:solidFill>
            <a:srgbClr val="152642"/>
          </a:solidFill>
          <a:ln/>
          <a:effectLst>
            <a:outerShdw blurRad="101600" dist="38100" dir="2700000" algn="bl" rotWithShape="0">
              <a:srgbClr val="000000">
                <a:alpha val="20000"/>
              </a:srgbClr>
            </a:outerShdw>
          </a:effectLst>
        </p:spPr>
      </p:sp>
      <p:sp>
        <p:nvSpPr>
          <p:cNvPr id="18" name="Text 16"/>
          <p:cNvSpPr/>
          <p:nvPr/>
        </p:nvSpPr>
        <p:spPr>
          <a:xfrm>
            <a:off x="566928" y="3858768"/>
            <a:ext cx="457200" cy="347472"/>
          </a:xfrm>
          <a:prstGeom prst="rect">
            <a:avLst/>
          </a:prstGeom>
          <a:noFill/>
          <a:ln/>
        </p:spPr>
        <p:txBody>
          <a:bodyPr wrap="square" rtlCol="0" anchor="ctr"/>
          <a:lstStyle/>
          <a:p>
            <a:pPr marL="0" indent="0">
              <a:buNone/>
            </a:pPr>
            <a:r>
              <a:rPr lang="en-US" sz="1800" b="1" dirty="0">
                <a:solidFill>
                  <a:srgbClr val="00C9B1"/>
                </a:solidFill>
                <a:latin typeface="Cambria" pitchFamily="34" charset="0"/>
                <a:ea typeface="Cambria" pitchFamily="34" charset="-122"/>
                <a:cs typeface="Cambria" pitchFamily="34" charset="-120"/>
              </a:rPr>
              <a:t>04</a:t>
            </a:r>
            <a:endParaRPr lang="en-US" sz="1800" dirty="0"/>
          </a:p>
        </p:txBody>
      </p:sp>
      <p:sp>
        <p:nvSpPr>
          <p:cNvPr id="19" name="Text 17"/>
          <p:cNvSpPr/>
          <p:nvPr/>
        </p:nvSpPr>
        <p:spPr>
          <a:xfrm>
            <a:off x="1078992" y="3858768"/>
            <a:ext cx="333756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Instrument the metric itself</a:t>
            </a:r>
            <a:endParaRPr lang="en-US" sz="1050" dirty="0"/>
          </a:p>
        </p:txBody>
      </p:sp>
      <p:sp>
        <p:nvSpPr>
          <p:cNvPr id="20" name="Text 18"/>
          <p:cNvSpPr/>
          <p:nvPr/>
        </p:nvSpPr>
        <p:spPr>
          <a:xfrm>
            <a:off x="1078992" y="4133088"/>
            <a:ext cx="3337560" cy="320040"/>
          </a:xfrm>
          <a:prstGeom prst="rect">
            <a:avLst/>
          </a:prstGeom>
          <a:noFill/>
          <a:ln/>
        </p:spPr>
        <p:txBody>
          <a:bodyPr wrap="square" rtlCol="0" anchor="ctr"/>
          <a:lstStyle/>
          <a:p>
            <a:pPr marL="0" indent="0">
              <a:buNone/>
            </a:pPr>
            <a:r>
              <a:rPr lang="en-US" sz="850" dirty="0">
                <a:solidFill>
                  <a:srgbClr val="8FB3CC"/>
                </a:solidFill>
                <a:latin typeface="Calibri" pitchFamily="34" charset="0"/>
                <a:ea typeface="Calibri" pitchFamily="34" charset="-122"/>
                <a:cs typeface="Calibri" pitchFamily="34" charset="-120"/>
              </a:rPr>
              <a:t>Build csm_action_log. Measure whether CSM interventions on flagged accounts improve PRS in 60 days. Without this, the feedback loop exists in theory only.</a:t>
            </a:r>
            <a:endParaRPr lang="en-US" sz="850" dirty="0"/>
          </a:p>
        </p:txBody>
      </p:sp>
      <p:sp>
        <p:nvSpPr>
          <p:cNvPr id="21" name="Text 19"/>
          <p:cNvSpPr/>
          <p:nvPr/>
        </p:nvSpPr>
        <p:spPr>
          <a:xfrm>
            <a:off x="4663440" y="1051560"/>
            <a:ext cx="402336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With Today's Tech Stack</a:t>
            </a:r>
            <a:endParaRPr lang="en-US" sz="1400" dirty="0"/>
          </a:p>
        </p:txBody>
      </p:sp>
      <p:sp>
        <p:nvSpPr>
          <p:cNvPr id="22" name="Shape 20"/>
          <p:cNvSpPr/>
          <p:nvPr/>
        </p:nvSpPr>
        <p:spPr>
          <a:xfrm>
            <a:off x="4663440" y="1389888"/>
            <a:ext cx="4023360" cy="713232"/>
          </a:xfrm>
          <a:prstGeom prst="roundRect">
            <a:avLst>
              <a:gd name="adj" fmla="val 12821"/>
            </a:avLst>
          </a:prstGeom>
          <a:solidFill>
            <a:srgbClr val="152642"/>
          </a:solidFill>
          <a:ln/>
          <a:effectLst>
            <a:outerShdw blurRad="101600" dist="38100" dir="2700000" algn="bl" rotWithShape="0">
              <a:srgbClr val="000000">
                <a:alpha val="20000"/>
              </a:srgbClr>
            </a:outerShdw>
          </a:effectLst>
        </p:spPr>
      </p:sp>
      <p:sp>
        <p:nvSpPr>
          <p:cNvPr id="23" name="Text 21"/>
          <p:cNvSpPr/>
          <p:nvPr/>
        </p:nvSpPr>
        <p:spPr>
          <a:xfrm>
            <a:off x="4773168" y="1444752"/>
            <a:ext cx="3822192" cy="256032"/>
          </a:xfrm>
          <a:prstGeom prst="rect">
            <a:avLst/>
          </a:prstGeom>
          <a:noFill/>
          <a:ln/>
        </p:spPr>
        <p:txBody>
          <a:bodyPr wrap="square" rtlCol="0" anchor="ctr"/>
          <a:lstStyle/>
          <a:p>
            <a:pPr marL="0" indent="0">
              <a:buNone/>
            </a:pPr>
            <a:r>
              <a:rPr lang="en-US" sz="1050" b="1" dirty="0">
                <a:solidFill>
                  <a:srgbClr val="F4A522"/>
                </a:solidFill>
                <a:latin typeface="Calibri" pitchFamily="34" charset="0"/>
                <a:ea typeface="Calibri" pitchFamily="34" charset="-122"/>
                <a:cs typeface="Calibri" pitchFamily="34" charset="-120"/>
              </a:rPr>
              <a:t>🤖  Agentic Workflows</a:t>
            </a:r>
            <a:endParaRPr lang="en-US" sz="1050" dirty="0"/>
          </a:p>
        </p:txBody>
      </p:sp>
      <p:sp>
        <p:nvSpPr>
          <p:cNvPr id="24" name="Text 22"/>
          <p:cNvSpPr/>
          <p:nvPr/>
        </p:nvSpPr>
        <p:spPr>
          <a:xfrm>
            <a:off x="4764024" y="1664208"/>
            <a:ext cx="3822192" cy="384048"/>
          </a:xfrm>
          <a:prstGeom prst="rect">
            <a:avLst/>
          </a:prstGeom>
          <a:noFill/>
          <a:ln/>
        </p:spPr>
        <p:txBody>
          <a:bodyPr wrap="square" rtlCol="0" anchor="ctr"/>
          <a:lstStyle/>
          <a:p>
            <a:r>
              <a:rPr lang="en-US" sz="850" dirty="0">
                <a:solidFill>
                  <a:srgbClr val="8FB3CC"/>
                </a:solidFill>
                <a:latin typeface="Calibri" pitchFamily="34" charset="0"/>
                <a:ea typeface="Calibri" pitchFamily="34" charset="-122"/>
                <a:cs typeface="Calibri" pitchFamily="34" charset="-120"/>
              </a:rPr>
              <a:t>Claude Agents that autonomously flag at-risk accounts, draft CSM intervention emails, and schedule QBR prep.</a:t>
            </a:r>
            <a:r>
              <a:rPr lang="en-US" sz="850" dirty="0">
                <a:solidFill>
                  <a:srgbClr val="8FB3CC"/>
                </a:solidFill>
                <a:latin typeface="Calibri" pitchFamily="34" charset="0"/>
                <a:cs typeface="Calibri" pitchFamily="34" charset="-120"/>
              </a:rPr>
              <a:t> </a:t>
            </a:r>
          </a:p>
          <a:p>
            <a:r>
              <a:rPr lang="en-US" sz="850" dirty="0">
                <a:solidFill>
                  <a:srgbClr val="8FB3CC"/>
                </a:solidFill>
                <a:latin typeface="Calibri" pitchFamily="34" charset="0"/>
                <a:cs typeface="Calibri" pitchFamily="34" charset="-120"/>
              </a:rPr>
              <a:t>Agent drafts. Human approves. System logs the action.</a:t>
            </a:r>
          </a:p>
        </p:txBody>
      </p:sp>
      <p:sp>
        <p:nvSpPr>
          <p:cNvPr id="25" name="Shape 23"/>
          <p:cNvSpPr/>
          <p:nvPr/>
        </p:nvSpPr>
        <p:spPr>
          <a:xfrm>
            <a:off x="4663440" y="2194560"/>
            <a:ext cx="4023360" cy="713232"/>
          </a:xfrm>
          <a:prstGeom prst="roundRect">
            <a:avLst>
              <a:gd name="adj" fmla="val 12821"/>
            </a:avLst>
          </a:prstGeom>
          <a:solidFill>
            <a:srgbClr val="152642"/>
          </a:solidFill>
          <a:ln/>
          <a:effectLst>
            <a:outerShdw blurRad="101600" dist="38100" dir="2700000" algn="bl" rotWithShape="0">
              <a:srgbClr val="000000">
                <a:alpha val="20000"/>
              </a:srgbClr>
            </a:outerShdw>
          </a:effectLst>
        </p:spPr>
      </p:sp>
      <p:sp>
        <p:nvSpPr>
          <p:cNvPr id="26" name="Text 24"/>
          <p:cNvSpPr/>
          <p:nvPr/>
        </p:nvSpPr>
        <p:spPr>
          <a:xfrm>
            <a:off x="4773168" y="2249424"/>
            <a:ext cx="3822192" cy="256032"/>
          </a:xfrm>
          <a:prstGeom prst="rect">
            <a:avLst/>
          </a:prstGeom>
          <a:noFill/>
          <a:ln/>
        </p:spPr>
        <p:txBody>
          <a:bodyPr wrap="square" rtlCol="0" anchor="ctr"/>
          <a:lstStyle/>
          <a:p>
            <a:pPr marL="0" indent="0">
              <a:buNone/>
            </a:pPr>
            <a:r>
              <a:rPr lang="en-US" sz="1050" b="1" dirty="0">
                <a:solidFill>
                  <a:srgbClr val="F4A522"/>
                </a:solidFill>
                <a:latin typeface="Calibri" pitchFamily="34" charset="0"/>
                <a:ea typeface="Calibri" pitchFamily="34" charset="-122"/>
                <a:cs typeface="Calibri" pitchFamily="34" charset="-120"/>
              </a:rPr>
              <a:t>📡  Real-time Streaming</a:t>
            </a:r>
            <a:endParaRPr lang="en-US" sz="1050" dirty="0"/>
          </a:p>
        </p:txBody>
      </p:sp>
      <p:sp>
        <p:nvSpPr>
          <p:cNvPr id="27" name="Text 25"/>
          <p:cNvSpPr/>
          <p:nvPr/>
        </p:nvSpPr>
        <p:spPr>
          <a:xfrm>
            <a:off x="4773168" y="2523744"/>
            <a:ext cx="3822192" cy="329184"/>
          </a:xfrm>
          <a:prstGeom prst="rect">
            <a:avLst/>
          </a:prstGeom>
          <a:noFill/>
          <a:ln/>
        </p:spPr>
        <p:txBody>
          <a:bodyPr wrap="square" rtlCol="0" anchor="ctr"/>
          <a:lstStyle/>
          <a:p>
            <a:pPr marL="0" indent="0">
              <a:buNone/>
            </a:pPr>
            <a:r>
              <a:rPr lang="en-US" sz="850" dirty="0">
                <a:solidFill>
                  <a:srgbClr val="8FB3CC"/>
                </a:solidFill>
                <a:latin typeface="Calibri" pitchFamily="34" charset="0"/>
                <a:ea typeface="Calibri" pitchFamily="34" charset="-122"/>
                <a:cs typeface="Calibri" pitchFamily="34" charset="-120"/>
              </a:rPr>
              <a:t>Replace batch BigQuery runs with Pub/Sub + Dataflow for sub-hour Realized ARR updates. PRS degrades in real-time when telemetry goes dark</a:t>
            </a:r>
            <a:endParaRPr lang="en-US" sz="850" dirty="0"/>
          </a:p>
        </p:txBody>
      </p:sp>
      <p:sp>
        <p:nvSpPr>
          <p:cNvPr id="28" name="Shape 26"/>
          <p:cNvSpPr/>
          <p:nvPr/>
        </p:nvSpPr>
        <p:spPr>
          <a:xfrm>
            <a:off x="4663440" y="2999232"/>
            <a:ext cx="4023360" cy="713232"/>
          </a:xfrm>
          <a:prstGeom prst="roundRect">
            <a:avLst>
              <a:gd name="adj" fmla="val 12821"/>
            </a:avLst>
          </a:prstGeom>
          <a:solidFill>
            <a:srgbClr val="152642"/>
          </a:solidFill>
          <a:ln/>
          <a:effectLst>
            <a:outerShdw blurRad="101600" dist="38100" dir="2700000" algn="bl" rotWithShape="0">
              <a:srgbClr val="000000">
                <a:alpha val="20000"/>
              </a:srgbClr>
            </a:outerShdw>
          </a:effectLst>
        </p:spPr>
      </p:sp>
      <p:sp>
        <p:nvSpPr>
          <p:cNvPr id="29" name="Text 27"/>
          <p:cNvSpPr/>
          <p:nvPr/>
        </p:nvSpPr>
        <p:spPr>
          <a:xfrm>
            <a:off x="4773168" y="3054096"/>
            <a:ext cx="3822192" cy="256032"/>
          </a:xfrm>
          <a:prstGeom prst="rect">
            <a:avLst/>
          </a:prstGeom>
          <a:noFill/>
          <a:ln/>
        </p:spPr>
        <p:txBody>
          <a:bodyPr wrap="square" rtlCol="0" anchor="ctr"/>
          <a:lstStyle/>
          <a:p>
            <a:pPr marL="0" indent="0">
              <a:buNone/>
            </a:pPr>
            <a:r>
              <a:rPr lang="en-US" sz="1050" b="1" dirty="0">
                <a:solidFill>
                  <a:srgbClr val="F4A522"/>
                </a:solidFill>
                <a:latin typeface="Calibri" pitchFamily="34" charset="0"/>
                <a:ea typeface="Calibri" pitchFamily="34" charset="-122"/>
                <a:cs typeface="Calibri" pitchFamily="34" charset="-120"/>
              </a:rPr>
              <a:t>🔮  Predictive PRS</a:t>
            </a:r>
            <a:endParaRPr lang="en-US" sz="1050" dirty="0"/>
          </a:p>
        </p:txBody>
      </p:sp>
      <p:sp>
        <p:nvSpPr>
          <p:cNvPr id="30" name="Text 28"/>
          <p:cNvSpPr/>
          <p:nvPr/>
        </p:nvSpPr>
        <p:spPr>
          <a:xfrm>
            <a:off x="4773168" y="3328416"/>
            <a:ext cx="3822192" cy="329184"/>
          </a:xfrm>
          <a:prstGeom prst="rect">
            <a:avLst/>
          </a:prstGeom>
          <a:noFill/>
          <a:ln/>
        </p:spPr>
        <p:txBody>
          <a:bodyPr wrap="square" rtlCol="0" anchor="ctr"/>
          <a:lstStyle/>
          <a:p>
            <a:pPr marL="0" indent="0">
              <a:buNone/>
            </a:pPr>
            <a:r>
              <a:rPr lang="en-US" sz="850" dirty="0">
                <a:solidFill>
                  <a:srgbClr val="8FB3CC"/>
                </a:solidFill>
                <a:latin typeface="Calibri" pitchFamily="34" charset="0"/>
                <a:ea typeface="Calibri" pitchFamily="34" charset="-122"/>
                <a:cs typeface="Calibri" pitchFamily="34" charset="-120"/>
              </a:rPr>
              <a:t>LightGBM or XGBoost on 12-month PRS sequences predicts which accounts will drop a band 45 days in advance — before the CSM's gut feel fires</a:t>
            </a:r>
            <a:endParaRPr lang="en-US" sz="850" dirty="0"/>
          </a:p>
        </p:txBody>
      </p:sp>
      <p:sp>
        <p:nvSpPr>
          <p:cNvPr id="31" name="Shape 29"/>
          <p:cNvSpPr/>
          <p:nvPr/>
        </p:nvSpPr>
        <p:spPr>
          <a:xfrm>
            <a:off x="4663440" y="3803904"/>
            <a:ext cx="4023360" cy="713232"/>
          </a:xfrm>
          <a:prstGeom prst="roundRect">
            <a:avLst>
              <a:gd name="adj" fmla="val 12821"/>
            </a:avLst>
          </a:prstGeom>
          <a:solidFill>
            <a:srgbClr val="152642"/>
          </a:solidFill>
          <a:ln/>
          <a:effectLst>
            <a:outerShdw blurRad="101600" dist="38100" dir="2700000" algn="bl" rotWithShape="0">
              <a:srgbClr val="000000">
                <a:alpha val="20000"/>
              </a:srgbClr>
            </a:outerShdw>
          </a:effectLst>
        </p:spPr>
      </p:sp>
      <p:sp>
        <p:nvSpPr>
          <p:cNvPr id="32" name="Text 30"/>
          <p:cNvSpPr/>
          <p:nvPr/>
        </p:nvSpPr>
        <p:spPr>
          <a:xfrm>
            <a:off x="4773168" y="3858768"/>
            <a:ext cx="3822192" cy="256032"/>
          </a:xfrm>
          <a:prstGeom prst="rect">
            <a:avLst/>
          </a:prstGeom>
          <a:noFill/>
          <a:ln/>
        </p:spPr>
        <p:txBody>
          <a:bodyPr wrap="square" rtlCol="0" anchor="ctr"/>
          <a:lstStyle/>
          <a:p>
            <a:pPr marL="0" indent="0">
              <a:buNone/>
            </a:pPr>
            <a:r>
              <a:rPr lang="en-US" sz="1050" b="1" dirty="0">
                <a:solidFill>
                  <a:srgbClr val="F4A522"/>
                </a:solidFill>
                <a:latin typeface="Calibri" pitchFamily="34" charset="0"/>
                <a:ea typeface="Calibri" pitchFamily="34" charset="-122"/>
                <a:cs typeface="Calibri" pitchFamily="34" charset="-120"/>
              </a:rPr>
              <a:t>🔗  Phase 2: Platform Breadth</a:t>
            </a:r>
            <a:endParaRPr lang="en-US" sz="1050" dirty="0"/>
          </a:p>
        </p:txBody>
      </p:sp>
      <p:sp>
        <p:nvSpPr>
          <p:cNvPr id="33" name="Text 31"/>
          <p:cNvSpPr/>
          <p:nvPr/>
        </p:nvSpPr>
        <p:spPr>
          <a:xfrm>
            <a:off x="4773168" y="4133088"/>
            <a:ext cx="3822192" cy="329184"/>
          </a:xfrm>
          <a:prstGeom prst="rect">
            <a:avLst/>
          </a:prstGeom>
          <a:noFill/>
          <a:ln/>
        </p:spPr>
        <p:txBody>
          <a:bodyPr wrap="square" rtlCol="0" anchor="ctr"/>
          <a:lstStyle/>
          <a:p>
            <a:pPr marL="0" indent="0">
              <a:buNone/>
            </a:pPr>
            <a:r>
              <a:rPr lang="en-US" sz="850" dirty="0">
                <a:solidFill>
                  <a:srgbClr val="8FB3CC"/>
                </a:solidFill>
                <a:latin typeface="Calibri" pitchFamily="34" charset="0"/>
                <a:ea typeface="Calibri" pitchFamily="34" charset="-122"/>
                <a:cs typeface="Calibri" pitchFamily="34" charset="-120"/>
              </a:rPr>
              <a:t>PRS Option 2 adds Platform Breadth (25% weight). Cross-platform entitlement data is the unlock — 8× ARR multiplier when customers activate 3 platforms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274320" y="3474720"/>
            <a:ext cx="9692640" cy="2743200"/>
          </a:xfrm>
          <a:prstGeom prst="roundRect">
            <a:avLst/>
          </a:prstGeom>
          <a:solidFill>
            <a:srgbClr val="00C9B1">
              <a:alpha val="10000"/>
            </a:srgbClr>
          </a:solidFill>
          <a:ln/>
        </p:spPr>
      </p:sp>
      <p:sp>
        <p:nvSpPr>
          <p:cNvPr id="3" name="Text 1"/>
          <p:cNvSpPr/>
          <p:nvPr/>
        </p:nvSpPr>
        <p:spPr>
          <a:xfrm>
            <a:off x="457200" y="347472"/>
            <a:ext cx="8229600" cy="457200"/>
          </a:xfrm>
          <a:prstGeom prst="rect">
            <a:avLst/>
          </a:prstGeom>
          <a:noFill/>
          <a:ln/>
        </p:spPr>
        <p:txBody>
          <a:bodyPr wrap="square" rtlCol="0" anchor="ctr"/>
          <a:lstStyle/>
          <a:p>
            <a:r>
              <a:rPr lang="en-US" sz="3000" b="1" dirty="0">
                <a:solidFill>
                  <a:srgbClr val="00C9B1"/>
                </a:solidFill>
                <a:latin typeface="Cambria" pitchFamily="34" charset="0"/>
              </a:rPr>
              <a:t>The Ask &amp; Summary</a:t>
            </a:r>
            <a:endParaRPr lang="en-US" sz="2000" b="1" dirty="0">
              <a:solidFill>
                <a:srgbClr val="00C9B1"/>
              </a:solidFill>
              <a:latin typeface="Cambria" pitchFamily="34" charset="0"/>
            </a:endParaRPr>
          </a:p>
        </p:txBody>
      </p:sp>
      <p:sp>
        <p:nvSpPr>
          <p:cNvPr id="4" name="Text 2"/>
          <p:cNvSpPr/>
          <p:nvPr/>
        </p:nvSpPr>
        <p:spPr>
          <a:xfrm>
            <a:off x="457200" y="841248"/>
            <a:ext cx="8229600" cy="841248"/>
          </a:xfrm>
          <a:prstGeom prst="rect">
            <a:avLst/>
          </a:prstGeom>
          <a:noFill/>
          <a:ln/>
        </p:spPr>
        <p:txBody>
          <a:bodyPr wrap="square" rtlCol="0" anchor="ctr"/>
          <a:lstStyle/>
          <a:p>
            <a:pPr marL="0" indent="0">
              <a:lnSpc>
                <a:spcPct val="145000"/>
              </a:lnSpc>
              <a:buNone/>
            </a:pPr>
            <a:r>
              <a:rPr lang="en-US" sz="1450" dirty="0">
                <a:solidFill>
                  <a:srgbClr val="FFFFFF"/>
                </a:solidFill>
                <a:latin typeface="Calibri" pitchFamily="34" charset="0"/>
                <a:ea typeface="Calibri" pitchFamily="34" charset="-122"/>
                <a:cs typeface="Calibri" pitchFamily="34" charset="-120"/>
              </a:rPr>
              <a:t>I built this as a post-sales decision system,  not a metric, not a dashboard.</a:t>
            </a:r>
            <a:endParaRPr lang="en-US" sz="1450" dirty="0"/>
          </a:p>
          <a:p>
            <a:pPr marL="0" indent="0">
              <a:lnSpc>
                <a:spcPct val="145000"/>
              </a:lnSpc>
              <a:buNone/>
            </a:pPr>
            <a:r>
              <a:rPr lang="en-US" sz="1450" dirty="0">
                <a:solidFill>
                  <a:srgbClr val="FFFFFF"/>
                </a:solidFill>
                <a:latin typeface="Calibri" pitchFamily="34" charset="0"/>
                <a:ea typeface="Calibri" pitchFamily="34" charset="-122"/>
                <a:cs typeface="Calibri" pitchFamily="34" charset="-120"/>
              </a:rPr>
              <a:t>The goal: help GCS identify where customer value is being realized,</a:t>
            </a:r>
            <a:endParaRPr lang="en-US" sz="1450" dirty="0"/>
          </a:p>
          <a:p>
            <a:pPr marL="0" indent="0">
              <a:lnSpc>
                <a:spcPct val="145000"/>
              </a:lnSpc>
              <a:buNone/>
            </a:pPr>
            <a:r>
              <a:rPr lang="en-US" sz="1450" dirty="0">
                <a:solidFill>
                  <a:srgbClr val="FFFFFF"/>
                </a:solidFill>
                <a:latin typeface="Calibri" pitchFamily="34" charset="0"/>
                <a:ea typeface="Calibri" pitchFamily="34" charset="-122"/>
                <a:cs typeface="Calibri" pitchFamily="34" charset="-120"/>
              </a:rPr>
              <a:t>where ARR is at risk, and where CS, Support, PS, and GTM teams should act.</a:t>
            </a:r>
            <a:endParaRPr lang="en-US" sz="1450" dirty="0"/>
          </a:p>
        </p:txBody>
      </p:sp>
      <p:sp>
        <p:nvSpPr>
          <p:cNvPr id="5" name="Shape 3"/>
          <p:cNvSpPr/>
          <p:nvPr/>
        </p:nvSpPr>
        <p:spPr>
          <a:xfrm>
            <a:off x="457200" y="1991106"/>
            <a:ext cx="2670048" cy="960120"/>
          </a:xfrm>
          <a:prstGeom prst="roundRect">
            <a:avLst>
              <a:gd name="adj" fmla="val 11429"/>
            </a:avLst>
          </a:prstGeom>
          <a:solidFill>
            <a:srgbClr val="152642"/>
          </a:solidFill>
          <a:ln/>
          <a:effectLst>
            <a:outerShdw blurRad="101600" dist="38100" dir="2700000" algn="bl" rotWithShape="0">
              <a:srgbClr val="000000">
                <a:alpha val="20000"/>
              </a:srgbClr>
            </a:outerShdw>
          </a:effectLst>
        </p:spPr>
      </p:sp>
      <p:sp>
        <p:nvSpPr>
          <p:cNvPr id="6" name="Text 4"/>
          <p:cNvSpPr/>
          <p:nvPr/>
        </p:nvSpPr>
        <p:spPr>
          <a:xfrm>
            <a:off x="457200" y="2064258"/>
            <a:ext cx="2670048" cy="475488"/>
          </a:xfrm>
          <a:prstGeom prst="rect">
            <a:avLst/>
          </a:prstGeom>
          <a:noFill/>
          <a:ln/>
        </p:spPr>
        <p:txBody>
          <a:bodyPr wrap="square" rtlCol="0" anchor="ctr"/>
          <a:lstStyle/>
          <a:p>
            <a:pPr marL="0" indent="0" algn="ctr">
              <a:buNone/>
            </a:pPr>
            <a:r>
              <a:rPr lang="en-US" sz="2800" b="1" dirty="0">
                <a:solidFill>
                  <a:srgbClr val="00C9B1"/>
                </a:solidFill>
                <a:latin typeface="Cambria" pitchFamily="34" charset="0"/>
                <a:ea typeface="Cambria" pitchFamily="34" charset="-122"/>
                <a:cs typeface="Cambria" pitchFamily="34" charset="-120"/>
              </a:rPr>
              <a:t>1,000+</a:t>
            </a:r>
            <a:endParaRPr lang="en-US" sz="2800" dirty="0"/>
          </a:p>
        </p:txBody>
      </p:sp>
      <p:sp>
        <p:nvSpPr>
          <p:cNvPr id="7" name="Text 5"/>
          <p:cNvSpPr/>
          <p:nvPr/>
        </p:nvSpPr>
        <p:spPr>
          <a:xfrm>
            <a:off x="457200" y="2521458"/>
            <a:ext cx="2670048" cy="25603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Accounts in pipeline</a:t>
            </a:r>
            <a:endParaRPr lang="en-US" sz="1000" dirty="0"/>
          </a:p>
        </p:txBody>
      </p:sp>
      <p:sp>
        <p:nvSpPr>
          <p:cNvPr id="8" name="Shape 6"/>
          <p:cNvSpPr/>
          <p:nvPr/>
        </p:nvSpPr>
        <p:spPr>
          <a:xfrm>
            <a:off x="3355848" y="1991106"/>
            <a:ext cx="2670048" cy="960120"/>
          </a:xfrm>
          <a:prstGeom prst="roundRect">
            <a:avLst>
              <a:gd name="adj" fmla="val 11429"/>
            </a:avLst>
          </a:prstGeom>
          <a:solidFill>
            <a:srgbClr val="152642"/>
          </a:solidFill>
          <a:ln/>
          <a:effectLst>
            <a:outerShdw blurRad="101600" dist="38100" dir="2700000" algn="bl" rotWithShape="0">
              <a:srgbClr val="000000">
                <a:alpha val="20000"/>
              </a:srgbClr>
            </a:outerShdw>
          </a:effectLst>
        </p:spPr>
      </p:sp>
      <p:sp>
        <p:nvSpPr>
          <p:cNvPr id="9" name="Text 7"/>
          <p:cNvSpPr/>
          <p:nvPr/>
        </p:nvSpPr>
        <p:spPr>
          <a:xfrm>
            <a:off x="3355848" y="2064258"/>
            <a:ext cx="2670048" cy="475488"/>
          </a:xfrm>
          <a:prstGeom prst="rect">
            <a:avLst/>
          </a:prstGeom>
          <a:noFill/>
          <a:ln/>
        </p:spPr>
        <p:txBody>
          <a:bodyPr wrap="square" rtlCol="0" anchor="ctr"/>
          <a:lstStyle/>
          <a:p>
            <a:pPr marL="0" indent="0" algn="ctr">
              <a:buNone/>
            </a:pPr>
            <a:r>
              <a:rPr lang="en-US" sz="2800" b="1" dirty="0">
                <a:solidFill>
                  <a:srgbClr val="00C9B1"/>
                </a:solidFill>
                <a:latin typeface="Cambria" pitchFamily="34" charset="0"/>
                <a:ea typeface="Cambria" pitchFamily="34" charset="-122"/>
                <a:cs typeface="Cambria" pitchFamily="34" charset="-120"/>
              </a:rPr>
              <a:t>250K+</a:t>
            </a:r>
            <a:endParaRPr lang="en-US" sz="2800" dirty="0"/>
          </a:p>
        </p:txBody>
      </p:sp>
      <p:sp>
        <p:nvSpPr>
          <p:cNvPr id="10" name="Text 8"/>
          <p:cNvSpPr/>
          <p:nvPr/>
        </p:nvSpPr>
        <p:spPr>
          <a:xfrm>
            <a:off x="3355848" y="2521458"/>
            <a:ext cx="2670048" cy="25603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Usage log rows generated</a:t>
            </a:r>
            <a:endParaRPr lang="en-US" sz="1000" dirty="0"/>
          </a:p>
        </p:txBody>
      </p:sp>
      <p:sp>
        <p:nvSpPr>
          <p:cNvPr id="11" name="Shape 9"/>
          <p:cNvSpPr/>
          <p:nvPr/>
        </p:nvSpPr>
        <p:spPr>
          <a:xfrm>
            <a:off x="6254496" y="1991106"/>
            <a:ext cx="2670048" cy="960120"/>
          </a:xfrm>
          <a:prstGeom prst="roundRect">
            <a:avLst>
              <a:gd name="adj" fmla="val 11429"/>
            </a:avLst>
          </a:prstGeom>
          <a:solidFill>
            <a:srgbClr val="152642"/>
          </a:solidFill>
          <a:ln/>
          <a:effectLst>
            <a:outerShdw blurRad="101600" dist="38100" dir="2700000" algn="bl" rotWithShape="0">
              <a:srgbClr val="000000">
                <a:alpha val="20000"/>
              </a:srgbClr>
            </a:outerShdw>
          </a:effectLst>
        </p:spPr>
      </p:sp>
      <p:sp>
        <p:nvSpPr>
          <p:cNvPr id="12" name="Text 10"/>
          <p:cNvSpPr/>
          <p:nvPr/>
        </p:nvSpPr>
        <p:spPr>
          <a:xfrm>
            <a:off x="6254496" y="2064258"/>
            <a:ext cx="2670048" cy="475488"/>
          </a:xfrm>
          <a:prstGeom prst="rect">
            <a:avLst/>
          </a:prstGeom>
          <a:noFill/>
          <a:ln/>
        </p:spPr>
        <p:txBody>
          <a:bodyPr wrap="square" rtlCol="0" anchor="ctr"/>
          <a:lstStyle/>
          <a:p>
            <a:pPr marL="0" indent="0" algn="ctr">
              <a:buNone/>
            </a:pPr>
            <a:r>
              <a:rPr lang="en-US" sz="2800" b="1" dirty="0">
                <a:solidFill>
                  <a:srgbClr val="00C9B1"/>
                </a:solidFill>
                <a:latin typeface="Cambria" pitchFamily="34" charset="0"/>
                <a:ea typeface="Cambria" pitchFamily="34" charset="-122"/>
                <a:cs typeface="Cambria" pitchFamily="34" charset="-120"/>
              </a:rPr>
              <a:t>22/22</a:t>
            </a:r>
            <a:endParaRPr lang="en-US" sz="2800" dirty="0"/>
          </a:p>
        </p:txBody>
      </p:sp>
      <p:sp>
        <p:nvSpPr>
          <p:cNvPr id="13" name="Text 11"/>
          <p:cNvSpPr/>
          <p:nvPr/>
        </p:nvSpPr>
        <p:spPr>
          <a:xfrm>
            <a:off x="6254496" y="2521458"/>
            <a:ext cx="2670048" cy="25603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Tests passing</a:t>
            </a:r>
            <a:endParaRPr lang="en-US" sz="1000" dirty="0"/>
          </a:p>
        </p:txBody>
      </p:sp>
      <p:sp>
        <p:nvSpPr>
          <p:cNvPr id="17" name="Text 12">
            <a:extLst>
              <a:ext uri="{FF2B5EF4-FFF2-40B4-BE49-F238E27FC236}">
                <a16:creationId xmlns:a16="http://schemas.microsoft.com/office/drawing/2014/main" id="{4289EBA9-6DD7-29F2-E066-9316A7B96DF6}"/>
              </a:ext>
            </a:extLst>
          </p:cNvPr>
          <p:cNvSpPr/>
          <p:nvPr/>
        </p:nvSpPr>
        <p:spPr>
          <a:xfrm>
            <a:off x="566928" y="3474720"/>
            <a:ext cx="2670048"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Top 3 ask: </a:t>
            </a:r>
            <a:endParaRPr lang="en-US" sz="1300" dirty="0"/>
          </a:p>
        </p:txBody>
      </p:sp>
      <p:sp>
        <p:nvSpPr>
          <p:cNvPr id="18" name="Text 13">
            <a:extLst>
              <a:ext uri="{FF2B5EF4-FFF2-40B4-BE49-F238E27FC236}">
                <a16:creationId xmlns:a16="http://schemas.microsoft.com/office/drawing/2014/main" id="{1E05A967-1BCF-DFF8-FAAE-318E77649755}"/>
              </a:ext>
            </a:extLst>
          </p:cNvPr>
          <p:cNvSpPr/>
          <p:nvPr/>
        </p:nvSpPr>
        <p:spPr>
          <a:xfrm>
            <a:off x="219456" y="3518573"/>
            <a:ext cx="3947020" cy="1755648"/>
          </a:xfrm>
          <a:prstGeom prst="rect">
            <a:avLst/>
          </a:prstGeom>
          <a:noFill/>
          <a:ln/>
        </p:spPr>
        <p:txBody>
          <a:bodyPr wrap="square" rtlCol="0" anchor="ctr"/>
          <a:lstStyle/>
          <a:p>
            <a:pPr marL="342900" indent="-342900">
              <a:lnSpc>
                <a:spcPct val="145000"/>
              </a:lnSpc>
              <a:buSzPct val="100000"/>
              <a:buChar char="•"/>
            </a:pPr>
            <a:r>
              <a:rPr lang="en-US" sz="1000" dirty="0">
                <a:solidFill>
                  <a:srgbClr val="E8F4F8"/>
                </a:solidFill>
                <a:latin typeface="Calibri" pitchFamily="34" charset="0"/>
                <a:cs typeface="Calibri" pitchFamily="34" charset="-120"/>
              </a:rPr>
              <a:t>Approve Realized ARR as a shadow North Star metric</a:t>
            </a:r>
            <a:br>
              <a:rPr lang="en-US" sz="1000" dirty="0">
                <a:solidFill>
                  <a:srgbClr val="E8F4F8"/>
                </a:solidFill>
                <a:latin typeface="Calibri" pitchFamily="34" charset="0"/>
                <a:cs typeface="Calibri" pitchFamily="34" charset="-120"/>
              </a:rPr>
            </a:br>
            <a:r>
              <a:rPr lang="en-US" sz="1000" dirty="0">
                <a:solidFill>
                  <a:srgbClr val="E8F4F8"/>
                </a:solidFill>
                <a:latin typeface="Calibri" pitchFamily="34" charset="0"/>
                <a:cs typeface="Calibri" pitchFamily="34" charset="-120"/>
              </a:rPr>
              <a:t>Run alongside TCV / ARR for one quarter. </a:t>
            </a:r>
          </a:p>
          <a:p>
            <a:pPr marL="342900" indent="-342900">
              <a:lnSpc>
                <a:spcPct val="145000"/>
              </a:lnSpc>
              <a:buSzPct val="100000"/>
              <a:buChar char="•"/>
            </a:pPr>
            <a:r>
              <a:rPr lang="en-US" sz="1000" dirty="0">
                <a:solidFill>
                  <a:srgbClr val="E8F4F8"/>
                </a:solidFill>
                <a:latin typeface="Calibri" pitchFamily="34" charset="0"/>
                <a:cs typeface="Calibri" pitchFamily="34" charset="-120"/>
              </a:rPr>
              <a:t>Pilot in 1–2 regions: Weekly CSM review, monthly regional review, exception tracking. </a:t>
            </a:r>
          </a:p>
          <a:p>
            <a:pPr marL="342900" indent="-342900">
              <a:lnSpc>
                <a:spcPct val="145000"/>
              </a:lnSpc>
              <a:buSzPct val="100000"/>
              <a:buChar char="•"/>
            </a:pPr>
            <a:r>
              <a:rPr lang="en-US" sz="1000" dirty="0">
                <a:solidFill>
                  <a:srgbClr val="E8F4F8"/>
                </a:solidFill>
                <a:latin typeface="Calibri" pitchFamily="34" charset="0"/>
                <a:cs typeface="Calibri" pitchFamily="34" charset="-120"/>
              </a:rPr>
              <a:t>Assign production data owners: Support tickets, telemetry, contracts, account hierarchy, lifecycle stage. </a:t>
            </a:r>
          </a:p>
        </p:txBody>
      </p:sp>
      <p:sp>
        <p:nvSpPr>
          <p:cNvPr id="19" name="Shape 9">
            <a:extLst>
              <a:ext uri="{FF2B5EF4-FFF2-40B4-BE49-F238E27FC236}">
                <a16:creationId xmlns:a16="http://schemas.microsoft.com/office/drawing/2014/main" id="{B51807EE-2D4F-D22B-02D5-A1C5923F6C43}"/>
              </a:ext>
            </a:extLst>
          </p:cNvPr>
          <p:cNvSpPr/>
          <p:nvPr/>
        </p:nvSpPr>
        <p:spPr>
          <a:xfrm>
            <a:off x="6620719" y="3611880"/>
            <a:ext cx="1937601" cy="1330907"/>
          </a:xfrm>
          <a:prstGeom prst="roundRect">
            <a:avLst>
              <a:gd name="adj" fmla="val 11429"/>
            </a:avLst>
          </a:prstGeom>
          <a:solidFill>
            <a:srgbClr val="152642"/>
          </a:solidFill>
          <a:ln/>
          <a:effectLst>
            <a:outerShdw blurRad="101600" dist="38100" dir="2700000" algn="bl" rotWithShape="0">
              <a:srgbClr val="000000">
                <a:alpha val="20000"/>
              </a:srgbClr>
            </a:outerShdw>
          </a:effectLst>
        </p:spPr>
        <p:txBody>
          <a:bodyPr/>
          <a:lstStyle/>
          <a:p>
            <a:endParaRPr lang="en-US" dirty="0"/>
          </a:p>
        </p:txBody>
      </p:sp>
      <p:sp>
        <p:nvSpPr>
          <p:cNvPr id="20" name="Text 10">
            <a:extLst>
              <a:ext uri="{FF2B5EF4-FFF2-40B4-BE49-F238E27FC236}">
                <a16:creationId xmlns:a16="http://schemas.microsoft.com/office/drawing/2014/main" id="{1F85B6B0-2D50-14D8-F633-F056A9434E61}"/>
              </a:ext>
            </a:extLst>
          </p:cNvPr>
          <p:cNvSpPr/>
          <p:nvPr/>
        </p:nvSpPr>
        <p:spPr>
          <a:xfrm>
            <a:off x="6160020" y="4158653"/>
            <a:ext cx="2670048" cy="475488"/>
          </a:xfrm>
          <a:prstGeom prst="rect">
            <a:avLst/>
          </a:prstGeom>
          <a:noFill/>
          <a:ln/>
        </p:spPr>
        <p:txBody>
          <a:bodyPr wrap="square" rtlCol="0" anchor="ctr"/>
          <a:lstStyle/>
          <a:p>
            <a:pPr algn="ctr">
              <a:lnSpc>
                <a:spcPct val="145000"/>
              </a:lnSpc>
              <a:buSzPct val="100000"/>
            </a:pPr>
            <a:r>
              <a:rPr lang="en-US" sz="1000" b="1" dirty="0">
                <a:solidFill>
                  <a:srgbClr val="00C9B1"/>
                </a:solidFill>
                <a:latin typeface="Cambria" pitchFamily="34" charset="0"/>
              </a:rPr>
              <a:t>Measure first .</a:t>
            </a:r>
          </a:p>
          <a:p>
            <a:pPr algn="ctr">
              <a:lnSpc>
                <a:spcPct val="145000"/>
              </a:lnSpc>
              <a:buSzPct val="100000"/>
            </a:pPr>
            <a:r>
              <a:rPr lang="en-US" sz="1000" b="1" dirty="0">
                <a:solidFill>
                  <a:srgbClr val="00C9B1"/>
                </a:solidFill>
                <a:latin typeface="Cambria" pitchFamily="34" charset="0"/>
              </a:rPr>
              <a:t>Validate behavior. </a:t>
            </a:r>
          </a:p>
          <a:p>
            <a:pPr algn="ctr">
              <a:lnSpc>
                <a:spcPct val="145000"/>
              </a:lnSpc>
              <a:buSzPct val="100000"/>
            </a:pPr>
            <a:r>
              <a:rPr lang="en-US" sz="1000" b="1" dirty="0">
                <a:solidFill>
                  <a:srgbClr val="00C9B1"/>
                </a:solidFill>
                <a:latin typeface="Cambria" pitchFamily="34" charset="0"/>
              </a:rPr>
              <a:t>Govern data. </a:t>
            </a:r>
          </a:p>
          <a:p>
            <a:pPr algn="ctr">
              <a:lnSpc>
                <a:spcPct val="145000"/>
              </a:lnSpc>
              <a:buSzPct val="100000"/>
            </a:pPr>
            <a:r>
              <a:rPr lang="en-US" sz="1000" b="1" dirty="0">
                <a:solidFill>
                  <a:srgbClr val="00C9B1"/>
                </a:solidFill>
                <a:latin typeface="Cambria" pitchFamily="34" charset="0"/>
              </a:rPr>
              <a:t>Then scale.</a:t>
            </a:r>
          </a:p>
          <a:p>
            <a:pPr marL="0" indent="0" algn="ctr">
              <a:buNone/>
            </a:pP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rtlCol="0" anchor="ctr"/>
          <a:lstStyle/>
          <a:p>
            <a:r>
              <a:rPr lang="en-US" sz="2800" b="1" dirty="0">
                <a:solidFill>
                  <a:srgbClr val="0A1628"/>
                </a:solidFill>
                <a:latin typeface="Cambria" pitchFamily="34" charset="0"/>
              </a:rPr>
              <a:t>Future GTM Alignment </a:t>
            </a:r>
            <a:r>
              <a:rPr lang="en-US" sz="1500" b="1" dirty="0">
                <a:solidFill>
                  <a:srgbClr val="0A1628"/>
                </a:solidFill>
                <a:latin typeface="Cambria" pitchFamily="34" charset="0"/>
              </a:rPr>
              <a:t>(not Phase 1 compensation design)</a:t>
            </a:r>
            <a:endParaRPr lang="en-US" sz="1500" dirty="0"/>
          </a:p>
        </p:txBody>
      </p:sp>
      <p:sp>
        <p:nvSpPr>
          <p:cNvPr id="3" name="Text 1"/>
          <p:cNvSpPr/>
          <p:nvPr/>
        </p:nvSpPr>
        <p:spPr>
          <a:xfrm>
            <a:off x="457200" y="713232"/>
            <a:ext cx="8229600" cy="274320"/>
          </a:xfrm>
          <a:prstGeom prst="rect">
            <a:avLst/>
          </a:prstGeom>
          <a:noFill/>
          <a:ln/>
        </p:spPr>
        <p:txBody>
          <a:bodyPr wrap="square" rtlCol="0" anchor="ctr"/>
          <a:lstStyle/>
          <a:p>
            <a:r>
              <a:rPr lang="en-US" sz="1250" i="1" dirty="0">
                <a:solidFill>
                  <a:srgbClr val="00A896"/>
                </a:solidFill>
                <a:latin typeface="Calibri" pitchFamily="34" charset="0"/>
                <a:ea typeface="Calibri" pitchFamily="34" charset="-122"/>
                <a:cs typeface="Calibri" pitchFamily="34" charset="-120"/>
              </a:rPr>
              <a:t>One metric that aligns CS, Support, PS, Sales, and Finance around a shared commercial outcome (</a:t>
            </a:r>
            <a:r>
              <a:rPr lang="en-US" sz="1250" b="1" i="1" dirty="0">
                <a:solidFill>
                  <a:srgbClr val="00A896"/>
                </a:solidFill>
                <a:latin typeface="Calibri" pitchFamily="34" charset="0"/>
                <a:cs typeface="Calibri" pitchFamily="34" charset="-120"/>
              </a:rPr>
              <a:t>Future Incentive Design</a:t>
            </a:r>
            <a:r>
              <a:rPr lang="en-US" sz="1250" i="1" dirty="0">
                <a:solidFill>
                  <a:srgbClr val="00A896"/>
                </a:solidFill>
                <a:latin typeface="Calibri" pitchFamily="34" charset="0"/>
                <a:cs typeface="Calibri" pitchFamily="34" charset="-120"/>
              </a:rPr>
              <a:t>)</a:t>
            </a:r>
          </a:p>
        </p:txBody>
      </p:sp>
      <p:sp>
        <p:nvSpPr>
          <p:cNvPr id="4" name="Shape 2"/>
          <p:cNvSpPr/>
          <p:nvPr/>
        </p:nvSpPr>
        <p:spPr>
          <a:xfrm>
            <a:off x="457200" y="1051560"/>
            <a:ext cx="4160520" cy="3383280"/>
          </a:xfrm>
          <a:prstGeom prst="roundRect">
            <a:avLst>
              <a:gd name="adj" fmla="val 3243"/>
            </a:avLst>
          </a:prstGeom>
          <a:solidFill>
            <a:srgbClr val="FFFFFF"/>
          </a:solidFill>
          <a:ln/>
          <a:effectLst>
            <a:outerShdw blurRad="63500" dist="25400" dir="2700000" algn="bl" rotWithShape="0">
              <a:srgbClr val="000000">
                <a:alpha val="10000"/>
              </a:srgbClr>
            </a:outerShdw>
          </a:effectLst>
        </p:spPr>
      </p:sp>
      <p:sp>
        <p:nvSpPr>
          <p:cNvPr id="5" name="Text 3"/>
          <p:cNvSpPr/>
          <p:nvPr/>
        </p:nvSpPr>
        <p:spPr>
          <a:xfrm>
            <a:off x="594360" y="1143000"/>
            <a:ext cx="3886200" cy="292608"/>
          </a:xfrm>
          <a:prstGeom prst="rect">
            <a:avLst/>
          </a:prstGeom>
          <a:noFill/>
          <a:ln/>
        </p:spPr>
        <p:txBody>
          <a:bodyPr wrap="square" rtlCol="0" anchor="ctr"/>
          <a:lstStyle/>
          <a:p>
            <a:r>
              <a:rPr lang="en-US" sz="1300" b="1" dirty="0">
                <a:solidFill>
                  <a:srgbClr val="0A1628"/>
                </a:solidFill>
                <a:latin typeface="Calibri" pitchFamily="34" charset="0"/>
                <a:cs typeface="Calibri" pitchFamily="34" charset="-120"/>
              </a:rPr>
              <a:t>Illustrative</a:t>
            </a:r>
            <a:r>
              <a:rPr lang="en-US" sz="1400" dirty="0"/>
              <a:t> </a:t>
            </a:r>
            <a:r>
              <a:rPr lang="en-US" sz="1300" b="1" dirty="0">
                <a:solidFill>
                  <a:srgbClr val="0A1628"/>
                </a:solidFill>
                <a:latin typeface="Calibri" pitchFamily="34" charset="0"/>
                <a:cs typeface="Calibri" pitchFamily="34" charset="-120"/>
              </a:rPr>
              <a:t>Future Incentive Design (not Phase 1)</a:t>
            </a:r>
          </a:p>
        </p:txBody>
      </p:sp>
      <p:sp>
        <p:nvSpPr>
          <p:cNvPr id="6" name="Text 4"/>
          <p:cNvSpPr/>
          <p:nvPr/>
        </p:nvSpPr>
        <p:spPr>
          <a:xfrm>
            <a:off x="594360" y="1435608"/>
            <a:ext cx="3886200" cy="228600"/>
          </a:xfrm>
          <a:prstGeom prst="rect">
            <a:avLst/>
          </a:prstGeom>
          <a:noFill/>
          <a:ln/>
        </p:spPr>
        <p:txBody>
          <a:bodyPr wrap="square" rtlCol="0" anchor="ctr"/>
          <a:lstStyle/>
          <a:p>
            <a:pPr marL="0" indent="0">
              <a:buNone/>
            </a:pPr>
            <a:r>
              <a:rPr lang="en-US" sz="950" i="1" dirty="0">
                <a:solidFill>
                  <a:srgbClr val="00A896"/>
                </a:solidFill>
                <a:latin typeface="Calibri" pitchFamily="34" charset="0"/>
                <a:ea typeface="Calibri" pitchFamily="34" charset="-122"/>
                <a:cs typeface="Calibri" pitchFamily="34" charset="-120"/>
              </a:rPr>
              <a:t>Validated by CS Leaders Roundtable · June 2025</a:t>
            </a:r>
            <a:endParaRPr lang="en-US" sz="950" dirty="0"/>
          </a:p>
        </p:txBody>
      </p:sp>
      <p:sp>
        <p:nvSpPr>
          <p:cNvPr id="7" name="Shape 5"/>
          <p:cNvSpPr/>
          <p:nvPr/>
        </p:nvSpPr>
        <p:spPr>
          <a:xfrm>
            <a:off x="594360" y="1755648"/>
            <a:ext cx="3886200" cy="731520"/>
          </a:xfrm>
          <a:prstGeom prst="roundRect">
            <a:avLst>
              <a:gd name="adj" fmla="val 10000"/>
            </a:avLst>
          </a:prstGeom>
          <a:solidFill>
            <a:srgbClr val="F5F8FC"/>
          </a:solidFill>
          <a:ln/>
          <a:effectLst>
            <a:outerShdw blurRad="38100" dist="12700" dir="2700000" algn="bl" rotWithShape="0">
              <a:srgbClr val="000000">
                <a:alpha val="6000"/>
              </a:srgbClr>
            </a:outerShdw>
          </a:effectLst>
        </p:spPr>
      </p:sp>
      <p:sp>
        <p:nvSpPr>
          <p:cNvPr id="8" name="Text 6"/>
          <p:cNvSpPr/>
          <p:nvPr/>
        </p:nvSpPr>
        <p:spPr>
          <a:xfrm>
            <a:off x="685800" y="1828800"/>
            <a:ext cx="640080" cy="411480"/>
          </a:xfrm>
          <a:prstGeom prst="rect">
            <a:avLst/>
          </a:prstGeom>
          <a:noFill/>
          <a:ln/>
        </p:spPr>
        <p:txBody>
          <a:bodyPr wrap="square" rtlCol="0" anchor="ctr"/>
          <a:lstStyle/>
          <a:p>
            <a:pPr marL="0" indent="0">
              <a:buNone/>
            </a:pPr>
            <a:r>
              <a:rPr lang="en-US" sz="2200" b="1" dirty="0">
                <a:solidFill>
                  <a:srgbClr val="0A1628"/>
                </a:solidFill>
                <a:latin typeface="Cambria" pitchFamily="34" charset="0"/>
                <a:ea typeface="Cambria" pitchFamily="34" charset="-122"/>
                <a:cs typeface="Cambria" pitchFamily="34" charset="-120"/>
              </a:rPr>
              <a:t>40%</a:t>
            </a:r>
            <a:endParaRPr lang="en-US" sz="2200" dirty="0"/>
          </a:p>
        </p:txBody>
      </p:sp>
      <p:sp>
        <p:nvSpPr>
          <p:cNvPr id="9" name="Text 7"/>
          <p:cNvSpPr/>
          <p:nvPr/>
        </p:nvSpPr>
        <p:spPr>
          <a:xfrm>
            <a:off x="1371600" y="1810512"/>
            <a:ext cx="3017520" cy="256032"/>
          </a:xfrm>
          <a:prstGeom prst="rect">
            <a:avLst/>
          </a:prstGeom>
          <a:noFill/>
          <a:ln/>
        </p:spPr>
        <p:txBody>
          <a:bodyPr wrap="square" rtlCol="0" anchor="ctr"/>
          <a:lstStyle/>
          <a:p>
            <a:pPr marL="0" indent="0">
              <a:buNone/>
            </a:pPr>
            <a:r>
              <a:rPr lang="en-US" sz="1050" b="1" dirty="0">
                <a:solidFill>
                  <a:srgbClr val="0A1628"/>
                </a:solidFill>
                <a:latin typeface="Calibri" pitchFamily="34" charset="0"/>
                <a:ea typeface="Calibri" pitchFamily="34" charset="-122"/>
                <a:cs typeface="Calibri" pitchFamily="34" charset="-120"/>
              </a:rPr>
              <a:t>Base Commission</a:t>
            </a:r>
            <a:endParaRPr lang="en-US" sz="1050" dirty="0"/>
          </a:p>
        </p:txBody>
      </p:sp>
      <p:sp>
        <p:nvSpPr>
          <p:cNvPr id="10" name="Text 8"/>
          <p:cNvSpPr/>
          <p:nvPr/>
        </p:nvSpPr>
        <p:spPr>
          <a:xfrm>
            <a:off x="1371600" y="2066544"/>
            <a:ext cx="3017520" cy="36576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On contracted ARR at signing — maintains sales momentum</a:t>
            </a:r>
            <a:endParaRPr lang="en-US" sz="900" dirty="0"/>
          </a:p>
        </p:txBody>
      </p:sp>
      <p:sp>
        <p:nvSpPr>
          <p:cNvPr id="11" name="Shape 9"/>
          <p:cNvSpPr/>
          <p:nvPr/>
        </p:nvSpPr>
        <p:spPr>
          <a:xfrm>
            <a:off x="594360" y="2578608"/>
            <a:ext cx="3886200" cy="731520"/>
          </a:xfrm>
          <a:prstGeom prst="roundRect">
            <a:avLst>
              <a:gd name="adj" fmla="val 10000"/>
            </a:avLst>
          </a:prstGeom>
          <a:solidFill>
            <a:srgbClr val="F5F8FC"/>
          </a:solidFill>
          <a:ln/>
          <a:effectLst>
            <a:outerShdw blurRad="38100" dist="12700" dir="2700000" algn="bl" rotWithShape="0">
              <a:srgbClr val="000000">
                <a:alpha val="6000"/>
              </a:srgbClr>
            </a:outerShdw>
          </a:effectLst>
        </p:spPr>
      </p:sp>
      <p:sp>
        <p:nvSpPr>
          <p:cNvPr id="12" name="Text 10"/>
          <p:cNvSpPr/>
          <p:nvPr/>
        </p:nvSpPr>
        <p:spPr>
          <a:xfrm>
            <a:off x="685800" y="2651760"/>
            <a:ext cx="640080" cy="411480"/>
          </a:xfrm>
          <a:prstGeom prst="rect">
            <a:avLst/>
          </a:prstGeom>
          <a:noFill/>
          <a:ln/>
        </p:spPr>
        <p:txBody>
          <a:bodyPr wrap="square" rtlCol="0" anchor="ctr"/>
          <a:lstStyle/>
          <a:p>
            <a:pPr marL="0" indent="0">
              <a:buNone/>
            </a:pPr>
            <a:r>
              <a:rPr lang="en-US" sz="2200" b="1" dirty="0">
                <a:solidFill>
                  <a:srgbClr val="00A896"/>
                </a:solidFill>
                <a:latin typeface="Cambria" pitchFamily="34" charset="0"/>
                <a:ea typeface="Cambria" pitchFamily="34" charset="-122"/>
                <a:cs typeface="Cambria" pitchFamily="34" charset="-120"/>
              </a:rPr>
              <a:t>35%</a:t>
            </a:r>
            <a:endParaRPr lang="en-US" sz="2200" dirty="0"/>
          </a:p>
        </p:txBody>
      </p:sp>
      <p:sp>
        <p:nvSpPr>
          <p:cNvPr id="13" name="Text 11"/>
          <p:cNvSpPr/>
          <p:nvPr/>
        </p:nvSpPr>
        <p:spPr>
          <a:xfrm>
            <a:off x="1371600" y="2633472"/>
            <a:ext cx="3017520" cy="256032"/>
          </a:xfrm>
          <a:prstGeom prst="rect">
            <a:avLst/>
          </a:prstGeom>
          <a:noFill/>
          <a:ln/>
        </p:spPr>
        <p:txBody>
          <a:bodyPr wrap="square" rtlCol="0" anchor="ctr"/>
          <a:lstStyle/>
          <a:p>
            <a:pPr marL="0" indent="0">
              <a:buNone/>
            </a:pPr>
            <a:r>
              <a:rPr lang="en-US" sz="1050" b="1" dirty="0">
                <a:solidFill>
                  <a:srgbClr val="0A1628"/>
                </a:solidFill>
                <a:latin typeface="Calibri" pitchFamily="34" charset="0"/>
                <a:ea typeface="Calibri" pitchFamily="34" charset="-122"/>
                <a:cs typeface="Calibri" pitchFamily="34" charset="-120"/>
              </a:rPr>
              <a:t>eARR Milestone</a:t>
            </a:r>
            <a:endParaRPr lang="en-US" sz="1050" dirty="0"/>
          </a:p>
        </p:txBody>
      </p:sp>
      <p:sp>
        <p:nvSpPr>
          <p:cNvPr id="14" name="Text 12"/>
          <p:cNvSpPr/>
          <p:nvPr/>
        </p:nvSpPr>
        <p:spPr>
          <a:xfrm>
            <a:off x="1371600" y="2889504"/>
            <a:ext cx="3017520" cy="36576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Account hits 80% PRS within 180 days — requires CS+PS+Sales collaboration by design</a:t>
            </a:r>
            <a:endParaRPr lang="en-US" sz="900" dirty="0"/>
          </a:p>
        </p:txBody>
      </p:sp>
      <p:sp>
        <p:nvSpPr>
          <p:cNvPr id="15" name="Shape 13"/>
          <p:cNvSpPr/>
          <p:nvPr/>
        </p:nvSpPr>
        <p:spPr>
          <a:xfrm>
            <a:off x="594360" y="3401568"/>
            <a:ext cx="3886200" cy="731520"/>
          </a:xfrm>
          <a:prstGeom prst="roundRect">
            <a:avLst>
              <a:gd name="adj" fmla="val 10000"/>
            </a:avLst>
          </a:prstGeom>
          <a:solidFill>
            <a:srgbClr val="F5F8FC"/>
          </a:solidFill>
          <a:ln/>
          <a:effectLst>
            <a:outerShdw blurRad="38100" dist="12700" dir="2700000" algn="bl" rotWithShape="0">
              <a:srgbClr val="000000">
                <a:alpha val="6000"/>
              </a:srgbClr>
            </a:outerShdw>
          </a:effectLst>
        </p:spPr>
      </p:sp>
      <p:sp>
        <p:nvSpPr>
          <p:cNvPr id="16" name="Text 14"/>
          <p:cNvSpPr/>
          <p:nvPr/>
        </p:nvSpPr>
        <p:spPr>
          <a:xfrm>
            <a:off x="685800" y="3474720"/>
            <a:ext cx="640080" cy="411480"/>
          </a:xfrm>
          <a:prstGeom prst="rect">
            <a:avLst/>
          </a:prstGeom>
          <a:noFill/>
          <a:ln/>
        </p:spPr>
        <p:txBody>
          <a:bodyPr wrap="square" rtlCol="0" anchor="ctr"/>
          <a:lstStyle/>
          <a:p>
            <a:pPr marL="0" indent="0">
              <a:buNone/>
            </a:pPr>
            <a:r>
              <a:rPr lang="en-US" sz="2200" b="1" dirty="0">
                <a:solidFill>
                  <a:srgbClr val="1D9E75"/>
                </a:solidFill>
                <a:latin typeface="Cambria" pitchFamily="34" charset="0"/>
                <a:ea typeface="Cambria" pitchFamily="34" charset="-122"/>
                <a:cs typeface="Cambria" pitchFamily="34" charset="-120"/>
              </a:rPr>
              <a:t>25%</a:t>
            </a:r>
            <a:endParaRPr lang="en-US" sz="2200" dirty="0"/>
          </a:p>
        </p:txBody>
      </p:sp>
      <p:sp>
        <p:nvSpPr>
          <p:cNvPr id="17" name="Text 15"/>
          <p:cNvSpPr/>
          <p:nvPr/>
        </p:nvSpPr>
        <p:spPr>
          <a:xfrm>
            <a:off x="1371600" y="3456432"/>
            <a:ext cx="3017520" cy="256032"/>
          </a:xfrm>
          <a:prstGeom prst="rect">
            <a:avLst/>
          </a:prstGeom>
          <a:noFill/>
          <a:ln/>
        </p:spPr>
        <p:txBody>
          <a:bodyPr wrap="square" rtlCol="0" anchor="ctr"/>
          <a:lstStyle/>
          <a:p>
            <a:pPr marL="0" indent="0">
              <a:buNone/>
            </a:pPr>
            <a:r>
              <a:rPr lang="en-US" sz="1050" b="1" dirty="0">
                <a:solidFill>
                  <a:srgbClr val="0A1628"/>
                </a:solidFill>
                <a:latin typeface="Calibri" pitchFamily="34" charset="0"/>
                <a:ea typeface="Calibri" pitchFamily="34" charset="-122"/>
                <a:cs typeface="Calibri" pitchFamily="34" charset="-120"/>
              </a:rPr>
              <a:t>Expansion Conversion</a:t>
            </a:r>
            <a:endParaRPr lang="en-US" sz="1050" dirty="0"/>
          </a:p>
        </p:txBody>
      </p:sp>
      <p:sp>
        <p:nvSpPr>
          <p:cNvPr id="18" name="Text 16"/>
          <p:cNvSpPr/>
          <p:nvPr/>
        </p:nvSpPr>
        <p:spPr>
          <a:xfrm>
            <a:off x="1371600" y="3712464"/>
            <a:ext cx="3017520" cy="36576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Overage → new committed ARR — Expansion Cannibalization Rate prevents ghost revenue</a:t>
            </a:r>
            <a:endParaRPr lang="en-US" sz="900" dirty="0"/>
          </a:p>
        </p:txBody>
      </p:sp>
      <p:sp>
        <p:nvSpPr>
          <p:cNvPr id="19" name="Text 17"/>
          <p:cNvSpPr/>
          <p:nvPr/>
        </p:nvSpPr>
        <p:spPr>
          <a:xfrm>
            <a:off x="685800" y="4526280"/>
            <a:ext cx="3886200" cy="365760"/>
          </a:xfrm>
          <a:prstGeom prst="rect">
            <a:avLst/>
          </a:prstGeom>
          <a:noFill/>
          <a:ln/>
        </p:spPr>
        <p:txBody>
          <a:bodyPr wrap="square" rtlCol="0" anchor="ctr"/>
          <a:lstStyle/>
          <a:p>
            <a:pPr marL="0" indent="0">
              <a:buNone/>
            </a:pPr>
            <a:r>
              <a:rPr lang="en-US" sz="900" i="1" dirty="0">
                <a:solidFill>
                  <a:srgbClr val="D85A30"/>
                </a:solidFill>
                <a:latin typeface="Calibri" pitchFamily="34" charset="0"/>
                <a:ea typeface="Calibri" pitchFamily="34" charset="-122"/>
                <a:cs typeface="Calibri" pitchFamily="34" charset="-120"/>
              </a:rPr>
              <a:t>⚠  </a:t>
            </a:r>
            <a:r>
              <a:rPr lang="en-US" sz="900" b="1" i="1" dirty="0">
                <a:solidFill>
                  <a:srgbClr val="D85A30"/>
                </a:solidFill>
                <a:latin typeface="Calibri" pitchFamily="34" charset="0"/>
                <a:ea typeface="Calibri" pitchFamily="34" charset="-122"/>
                <a:cs typeface="Calibri" pitchFamily="34" charset="-120"/>
              </a:rPr>
              <a:t>Key insight</a:t>
            </a:r>
            <a:r>
              <a:rPr lang="en-US" sz="900" i="1" dirty="0">
                <a:solidFill>
                  <a:srgbClr val="D85A30"/>
                </a:solidFill>
                <a:latin typeface="Calibri" pitchFamily="34" charset="0"/>
                <a:ea typeface="Calibri" pitchFamily="34" charset="-122"/>
                <a:cs typeface="Calibri" pitchFamily="34" charset="-120"/>
              </a:rPr>
              <a:t>: Hard expansion quotas on CSMs cause lead hoarding. The 40/35/25 structure makes CS/Sales collaboration a prerequisite, not a choice.</a:t>
            </a:r>
            <a:endParaRPr lang="en-US" sz="900" dirty="0"/>
          </a:p>
        </p:txBody>
      </p:sp>
      <p:sp>
        <p:nvSpPr>
          <p:cNvPr id="20" name="Shape 18"/>
          <p:cNvSpPr/>
          <p:nvPr/>
        </p:nvSpPr>
        <p:spPr>
          <a:xfrm>
            <a:off x="4754880" y="1051560"/>
            <a:ext cx="3931920" cy="3383280"/>
          </a:xfrm>
          <a:prstGeom prst="roundRect">
            <a:avLst>
              <a:gd name="adj" fmla="val 3243"/>
            </a:avLst>
          </a:prstGeom>
          <a:solidFill>
            <a:srgbClr val="FFFFFF"/>
          </a:solidFill>
          <a:ln/>
          <a:effectLst>
            <a:outerShdw blurRad="63500" dist="25400" dir="2700000" algn="bl" rotWithShape="0">
              <a:srgbClr val="000000">
                <a:alpha val="10000"/>
              </a:srgbClr>
            </a:outerShdw>
          </a:effectLst>
        </p:spPr>
      </p:sp>
      <p:sp>
        <p:nvSpPr>
          <p:cNvPr id="21" name="Text 19"/>
          <p:cNvSpPr/>
          <p:nvPr/>
        </p:nvSpPr>
        <p:spPr>
          <a:xfrm>
            <a:off x="4892040" y="1143000"/>
            <a:ext cx="3657600" cy="292608"/>
          </a:xfrm>
          <a:prstGeom prst="rect">
            <a:avLst/>
          </a:prstGeom>
          <a:noFill/>
          <a:ln/>
        </p:spPr>
        <p:txBody>
          <a:bodyPr wrap="square" rtlCol="0" anchor="ctr"/>
          <a:lstStyle/>
          <a:p>
            <a:pPr marL="0" indent="0">
              <a:buNone/>
            </a:pPr>
            <a:r>
              <a:rPr lang="en-US" sz="1300" b="1" dirty="0">
                <a:solidFill>
                  <a:srgbClr val="0A1628"/>
                </a:solidFill>
                <a:latin typeface="Calibri" pitchFamily="34" charset="0"/>
                <a:ea typeface="Calibri" pitchFamily="34" charset="-122"/>
                <a:cs typeface="Calibri" pitchFamily="34" charset="-120"/>
              </a:rPr>
              <a:t>What Each Team Gets</a:t>
            </a:r>
            <a:endParaRPr lang="en-US" sz="1300" dirty="0"/>
          </a:p>
        </p:txBody>
      </p:sp>
      <p:sp>
        <p:nvSpPr>
          <p:cNvPr id="22" name="Text 20"/>
          <p:cNvSpPr/>
          <p:nvPr/>
        </p:nvSpPr>
        <p:spPr>
          <a:xfrm>
            <a:off x="4892040" y="1508760"/>
            <a:ext cx="1097280" cy="228600"/>
          </a:xfrm>
          <a:prstGeom prst="rect">
            <a:avLst/>
          </a:prstGeom>
          <a:noFill/>
          <a:ln/>
        </p:spPr>
        <p:txBody>
          <a:bodyPr wrap="square" rtlCol="0" anchor="ctr"/>
          <a:lstStyle/>
          <a:p>
            <a:pPr marL="0" indent="0">
              <a:buNone/>
            </a:pPr>
            <a:r>
              <a:rPr lang="en-US" sz="950" b="1" dirty="0">
                <a:solidFill>
                  <a:srgbClr val="1D9E75"/>
                </a:solidFill>
                <a:latin typeface="Calibri" pitchFamily="34" charset="0"/>
                <a:ea typeface="Calibri" pitchFamily="34" charset="-122"/>
                <a:cs typeface="Calibri" pitchFamily="34" charset="-120"/>
              </a:rPr>
              <a:t>CS / CSM:</a:t>
            </a:r>
            <a:endParaRPr lang="en-US" sz="950" dirty="0"/>
          </a:p>
        </p:txBody>
      </p:sp>
      <p:sp>
        <p:nvSpPr>
          <p:cNvPr id="23" name="Text 21"/>
          <p:cNvSpPr/>
          <p:nvPr/>
        </p:nvSpPr>
        <p:spPr>
          <a:xfrm>
            <a:off x="6035040" y="1508760"/>
            <a:ext cx="2560320" cy="347472"/>
          </a:xfrm>
          <a:prstGeom prst="rect">
            <a:avLst/>
          </a:prstGeom>
          <a:noFill/>
          <a:ln/>
        </p:spPr>
        <p:txBody>
          <a:bodyPr wrap="square" rtlCol="0" anchor="ctr"/>
          <a:lstStyle/>
          <a:p>
            <a:pPr marL="0" indent="0">
              <a:lnSpc>
                <a:spcPct val="115000"/>
              </a:lnSpc>
              <a:buNone/>
            </a:pPr>
            <a:r>
              <a:rPr lang="en-US" sz="850" dirty="0">
                <a:solidFill>
                  <a:srgbClr val="444444"/>
                </a:solidFill>
                <a:latin typeface="Calibri" pitchFamily="34" charset="0"/>
                <a:ea typeface="Calibri" pitchFamily="34" charset="-122"/>
                <a:cs typeface="Calibri" pitchFamily="34" charset="-120"/>
              </a:rPr>
              <a:t>Dollar-denominated tier tells exactly where to deploy capacity — no subjective gut feel</a:t>
            </a:r>
            <a:endParaRPr lang="en-US" sz="850" dirty="0"/>
          </a:p>
        </p:txBody>
      </p:sp>
      <p:sp>
        <p:nvSpPr>
          <p:cNvPr id="24" name="Text 22"/>
          <p:cNvSpPr/>
          <p:nvPr/>
        </p:nvSpPr>
        <p:spPr>
          <a:xfrm>
            <a:off x="4892040" y="1993392"/>
            <a:ext cx="1097280" cy="228600"/>
          </a:xfrm>
          <a:prstGeom prst="rect">
            <a:avLst/>
          </a:prstGeom>
          <a:noFill/>
          <a:ln/>
        </p:spPr>
        <p:txBody>
          <a:bodyPr wrap="square"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Support:</a:t>
            </a:r>
            <a:endParaRPr lang="en-US" sz="950" dirty="0"/>
          </a:p>
        </p:txBody>
      </p:sp>
      <p:sp>
        <p:nvSpPr>
          <p:cNvPr id="25" name="Text 23"/>
          <p:cNvSpPr/>
          <p:nvPr/>
        </p:nvSpPr>
        <p:spPr>
          <a:xfrm>
            <a:off x="6035040" y="1993392"/>
            <a:ext cx="2560320" cy="347472"/>
          </a:xfrm>
          <a:prstGeom prst="rect">
            <a:avLst/>
          </a:prstGeom>
          <a:noFill/>
          <a:ln/>
        </p:spPr>
        <p:txBody>
          <a:bodyPr wrap="square" rtlCol="0" anchor="ctr"/>
          <a:lstStyle/>
          <a:p>
            <a:pPr marL="0" indent="0">
              <a:lnSpc>
                <a:spcPct val="115000"/>
              </a:lnSpc>
              <a:buNone/>
            </a:pPr>
            <a:r>
              <a:rPr lang="en-US" sz="850" dirty="0">
                <a:solidFill>
                  <a:srgbClr val="444444"/>
                </a:solidFill>
                <a:latin typeface="Calibri" pitchFamily="34" charset="0"/>
                <a:ea typeface="Calibri" pitchFamily="34" charset="-122"/>
                <a:cs typeface="Calibri" pitchFamily="34" charset="-120"/>
              </a:rPr>
              <a:t>THS component connects P1/P2 ticket volume directly to account health band</a:t>
            </a:r>
            <a:endParaRPr lang="en-US" sz="850" dirty="0"/>
          </a:p>
        </p:txBody>
      </p:sp>
      <p:sp>
        <p:nvSpPr>
          <p:cNvPr id="26" name="Text 24"/>
          <p:cNvSpPr/>
          <p:nvPr/>
        </p:nvSpPr>
        <p:spPr>
          <a:xfrm>
            <a:off x="4892040" y="2478024"/>
            <a:ext cx="1097280" cy="228600"/>
          </a:xfrm>
          <a:prstGeom prst="rect">
            <a:avLst/>
          </a:prstGeom>
          <a:noFill/>
          <a:ln/>
        </p:spPr>
        <p:txBody>
          <a:bodyPr wrap="square" rtlCol="0" anchor="ctr"/>
          <a:lstStyle/>
          <a:p>
            <a:pPr marL="0" indent="0">
              <a:buNone/>
            </a:pPr>
            <a:r>
              <a:rPr lang="en-US" sz="950" b="1" dirty="0">
                <a:solidFill>
                  <a:srgbClr val="D85A30"/>
                </a:solidFill>
                <a:latin typeface="Calibri" pitchFamily="34" charset="0"/>
                <a:ea typeface="Calibri" pitchFamily="34" charset="-122"/>
                <a:cs typeface="Calibri" pitchFamily="34" charset="-120"/>
              </a:rPr>
              <a:t>PS / Deploy:</a:t>
            </a:r>
            <a:endParaRPr lang="en-US" sz="950" dirty="0"/>
          </a:p>
        </p:txBody>
      </p:sp>
      <p:sp>
        <p:nvSpPr>
          <p:cNvPr id="27" name="Text 25"/>
          <p:cNvSpPr/>
          <p:nvPr/>
        </p:nvSpPr>
        <p:spPr>
          <a:xfrm>
            <a:off x="6035040" y="2478024"/>
            <a:ext cx="2560320" cy="347472"/>
          </a:xfrm>
          <a:prstGeom prst="rect">
            <a:avLst/>
          </a:prstGeom>
          <a:noFill/>
          <a:ln/>
        </p:spPr>
        <p:txBody>
          <a:bodyPr wrap="square" rtlCol="0" anchor="ctr"/>
          <a:lstStyle/>
          <a:p>
            <a:pPr marL="0" indent="0">
              <a:lnSpc>
                <a:spcPct val="115000"/>
              </a:lnSpc>
              <a:buNone/>
            </a:pPr>
            <a:r>
              <a:rPr lang="en-US" sz="850" dirty="0">
                <a:solidFill>
                  <a:srgbClr val="444444"/>
                </a:solidFill>
                <a:latin typeface="Calibri" pitchFamily="34" charset="0"/>
                <a:ea typeface="Calibri" pitchFamily="34" charset="-122"/>
                <a:cs typeface="Calibri" pitchFamily="34" charset="-120"/>
              </a:rPr>
              <a:t>Orange/Red accounts surface as immediate deployment sprint candidates</a:t>
            </a:r>
            <a:endParaRPr lang="en-US" sz="850" dirty="0"/>
          </a:p>
        </p:txBody>
      </p:sp>
      <p:sp>
        <p:nvSpPr>
          <p:cNvPr id="28" name="Text 26"/>
          <p:cNvSpPr/>
          <p:nvPr/>
        </p:nvSpPr>
        <p:spPr>
          <a:xfrm>
            <a:off x="4892040" y="2962656"/>
            <a:ext cx="1097280" cy="228600"/>
          </a:xfrm>
          <a:prstGeom prst="rect">
            <a:avLst/>
          </a:prstGeom>
          <a:noFill/>
          <a:ln/>
        </p:spPr>
        <p:txBody>
          <a:bodyPr wrap="square" rtlCol="0" anchor="ctr"/>
          <a:lstStyle/>
          <a:p>
            <a:pPr marL="0" indent="0">
              <a:buNone/>
            </a:pPr>
            <a:r>
              <a:rPr lang="en-US" sz="950" b="1" dirty="0">
                <a:solidFill>
                  <a:srgbClr val="BA7517"/>
                </a:solidFill>
                <a:latin typeface="Calibri" pitchFamily="34" charset="0"/>
                <a:ea typeface="Calibri" pitchFamily="34" charset="-122"/>
                <a:cs typeface="Calibri" pitchFamily="34" charset="-120"/>
              </a:rPr>
              <a:t>Sales / SC:</a:t>
            </a:r>
            <a:endParaRPr lang="en-US" sz="950" dirty="0"/>
          </a:p>
        </p:txBody>
      </p:sp>
      <p:sp>
        <p:nvSpPr>
          <p:cNvPr id="29" name="Text 27"/>
          <p:cNvSpPr/>
          <p:nvPr/>
        </p:nvSpPr>
        <p:spPr>
          <a:xfrm>
            <a:off x="6035040" y="2962656"/>
            <a:ext cx="2560320" cy="347472"/>
          </a:xfrm>
          <a:prstGeom prst="rect">
            <a:avLst/>
          </a:prstGeom>
          <a:noFill/>
          <a:ln/>
        </p:spPr>
        <p:txBody>
          <a:bodyPr wrap="square" rtlCol="0" anchor="ctr"/>
          <a:lstStyle/>
          <a:p>
            <a:pPr marL="0" indent="0">
              <a:lnSpc>
                <a:spcPct val="115000"/>
              </a:lnSpc>
              <a:buNone/>
            </a:pPr>
            <a:r>
              <a:rPr lang="en-US" sz="850" dirty="0">
                <a:solidFill>
                  <a:srgbClr val="444444"/>
                </a:solidFill>
                <a:latin typeface="Calibri" pitchFamily="34" charset="0"/>
                <a:ea typeface="Calibri" pitchFamily="34" charset="-122"/>
                <a:cs typeface="Calibri" pitchFamily="34" charset="-120"/>
              </a:rPr>
              <a:t>Overage accounts = expansion pipeline. Overagers are your best expansion targets</a:t>
            </a:r>
            <a:endParaRPr lang="en-US" sz="850" dirty="0"/>
          </a:p>
        </p:txBody>
      </p:sp>
      <p:sp>
        <p:nvSpPr>
          <p:cNvPr id="30" name="Text 28"/>
          <p:cNvSpPr/>
          <p:nvPr/>
        </p:nvSpPr>
        <p:spPr>
          <a:xfrm>
            <a:off x="4892040" y="3447288"/>
            <a:ext cx="1097280" cy="228600"/>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Finance:</a:t>
            </a:r>
            <a:endParaRPr lang="en-US" sz="950" dirty="0"/>
          </a:p>
        </p:txBody>
      </p:sp>
      <p:sp>
        <p:nvSpPr>
          <p:cNvPr id="31" name="Text 29"/>
          <p:cNvSpPr/>
          <p:nvPr/>
        </p:nvSpPr>
        <p:spPr>
          <a:xfrm>
            <a:off x="6035040" y="3447288"/>
            <a:ext cx="2560320" cy="347472"/>
          </a:xfrm>
          <a:prstGeom prst="rect">
            <a:avLst/>
          </a:prstGeom>
          <a:noFill/>
          <a:ln/>
        </p:spPr>
        <p:txBody>
          <a:bodyPr wrap="square" rtlCol="0" anchor="ctr"/>
          <a:lstStyle/>
          <a:p>
            <a:pPr marL="0" indent="0">
              <a:lnSpc>
                <a:spcPct val="115000"/>
              </a:lnSpc>
              <a:buNone/>
            </a:pPr>
            <a:r>
              <a:rPr lang="en-US" sz="850" dirty="0">
                <a:solidFill>
                  <a:srgbClr val="444444"/>
                </a:solidFill>
                <a:latin typeface="Calibri" pitchFamily="34" charset="0"/>
                <a:ea typeface="Calibri" pitchFamily="34" charset="-122"/>
                <a:cs typeface="Calibri" pitchFamily="34" charset="-120"/>
              </a:rPr>
              <a:t>Realized ARR vs Contracted ARR gap = revenue risk reserve calculation</a:t>
            </a:r>
            <a:endParaRPr lang="en-US" sz="850" dirty="0"/>
          </a:p>
        </p:txBody>
      </p:sp>
      <p:sp>
        <p:nvSpPr>
          <p:cNvPr id="32" name="Text 30"/>
          <p:cNvSpPr/>
          <p:nvPr/>
        </p:nvSpPr>
        <p:spPr>
          <a:xfrm>
            <a:off x="4892040" y="3931920"/>
            <a:ext cx="1097280" cy="228600"/>
          </a:xfrm>
          <a:prstGeom prst="rect">
            <a:avLst/>
          </a:prstGeom>
          <a:noFill/>
          <a:ln/>
        </p:spPr>
        <p:txBody>
          <a:bodyPr wrap="square" rtlCol="0" anchor="ctr"/>
          <a:lstStyle/>
          <a:p>
            <a:pPr marL="0" indent="0">
              <a:buNone/>
            </a:pPr>
            <a:r>
              <a:rPr lang="en-US" sz="950" b="1" dirty="0">
                <a:solidFill>
                  <a:srgbClr val="A32D2D"/>
                </a:solidFill>
                <a:latin typeface="Calibri" pitchFamily="34" charset="0"/>
                <a:ea typeface="Calibri" pitchFamily="34" charset="-122"/>
                <a:cs typeface="Calibri" pitchFamily="34" charset="-120"/>
              </a:rPr>
              <a:t>Exec / VP:</a:t>
            </a:r>
            <a:endParaRPr lang="en-US" sz="950" dirty="0"/>
          </a:p>
        </p:txBody>
      </p:sp>
      <p:sp>
        <p:nvSpPr>
          <p:cNvPr id="33" name="Text 31"/>
          <p:cNvSpPr/>
          <p:nvPr/>
        </p:nvSpPr>
        <p:spPr>
          <a:xfrm>
            <a:off x="6035040" y="3931920"/>
            <a:ext cx="2560320" cy="347472"/>
          </a:xfrm>
          <a:prstGeom prst="rect">
            <a:avLst/>
          </a:prstGeom>
          <a:noFill/>
          <a:ln/>
        </p:spPr>
        <p:txBody>
          <a:bodyPr wrap="square" rtlCol="0" anchor="ctr"/>
          <a:lstStyle/>
          <a:p>
            <a:pPr marL="0" indent="0">
              <a:lnSpc>
                <a:spcPct val="115000"/>
              </a:lnSpc>
              <a:buNone/>
            </a:pPr>
            <a:r>
              <a:rPr lang="en-US" sz="850" dirty="0">
                <a:solidFill>
                  <a:srgbClr val="444444"/>
                </a:solidFill>
                <a:latin typeface="Calibri" pitchFamily="34" charset="0"/>
                <a:ea typeface="Calibri" pitchFamily="34" charset="-122"/>
                <a:cs typeface="Calibri" pitchFamily="34" charset="-120"/>
              </a:rPr>
              <a:t>Portfolio PRS% is a board-level number — $665K unrealized in banking segment</a:t>
            </a:r>
            <a:endParaRPr lang="en-US" sz="850" dirty="0"/>
          </a:p>
        </p:txBody>
      </p:sp>
      <p:sp>
        <p:nvSpPr>
          <p:cNvPr id="34" name="Text 17">
            <a:extLst>
              <a:ext uri="{FF2B5EF4-FFF2-40B4-BE49-F238E27FC236}">
                <a16:creationId xmlns:a16="http://schemas.microsoft.com/office/drawing/2014/main" id="{711F613A-1D22-A1AC-1E09-34274B5BC297}"/>
              </a:ext>
            </a:extLst>
          </p:cNvPr>
          <p:cNvSpPr/>
          <p:nvPr/>
        </p:nvSpPr>
        <p:spPr>
          <a:xfrm>
            <a:off x="4754880" y="4538572"/>
            <a:ext cx="3886200" cy="365760"/>
          </a:xfrm>
          <a:prstGeom prst="rect">
            <a:avLst/>
          </a:prstGeom>
          <a:noFill/>
          <a:ln/>
        </p:spPr>
        <p:txBody>
          <a:bodyPr wrap="square" rtlCol="0" anchor="ctr"/>
          <a:lstStyle/>
          <a:p>
            <a:r>
              <a:rPr lang="en-US" sz="900" i="1" dirty="0">
                <a:solidFill>
                  <a:srgbClr val="D85A30"/>
                </a:solidFill>
                <a:latin typeface="Calibri" pitchFamily="34" charset="0"/>
                <a:cs typeface="Calibri" pitchFamily="34" charset="-120"/>
              </a:rPr>
              <a:t>⚠  </a:t>
            </a:r>
            <a:r>
              <a:rPr lang="en-US" sz="900" b="1" i="1" dirty="0">
                <a:solidFill>
                  <a:srgbClr val="D85A30"/>
                </a:solidFill>
                <a:latin typeface="Calibri" pitchFamily="34" charset="0"/>
                <a:cs typeface="Calibri" pitchFamily="34" charset="-120"/>
              </a:rPr>
              <a:t>Note</a:t>
            </a:r>
            <a:r>
              <a:rPr lang="en-US" sz="900" i="1" dirty="0">
                <a:solidFill>
                  <a:srgbClr val="D85A30"/>
                </a:solidFill>
                <a:latin typeface="Calibri" pitchFamily="34" charset="0"/>
                <a:cs typeface="Calibri" pitchFamily="34" charset="-120"/>
              </a:rPr>
              <a:t>: Not recommended until PRS is back-tested against renewal, expansion, support, and deployment outcomes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2648</Words>
  <Application>Microsoft Macintosh PowerPoint</Application>
  <PresentationFormat>On-screen Show (16:9)</PresentationFormat>
  <Paragraphs>270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 Account Health &amp; Realized ARR</dc:title>
  <dc:subject>PptxGenJS Presentation</dc:subject>
  <dc:creator>Dharmesh Bhagat</dc:creator>
  <cp:lastModifiedBy>Dharmesh Bhagat</cp:lastModifiedBy>
  <cp:revision>21</cp:revision>
  <dcterms:created xsi:type="dcterms:W3CDTF">2026-06-16T07:30:41Z</dcterms:created>
  <dcterms:modified xsi:type="dcterms:W3CDTF">2026-06-16T08:49:29Z</dcterms:modified>
</cp:coreProperties>
</file>