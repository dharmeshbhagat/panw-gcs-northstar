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80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bhagatnsdemo.streamlit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28016"/>
            <a:ext cx="2487168" cy="329184"/>
          </a:xfrm>
          <a:prstGeom prst="rect">
            <a:avLst/>
          </a:prstGeom>
          <a:solidFill>
            <a:srgbClr val="0F3D2A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280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dbhagatnsdemo.streamlit.app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420624"/>
            <a:ext cx="8366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ARR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Working Product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North Star metric to move GCS from contract value to customer value realization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8366760" cy="27432"/>
          </a:xfrm>
          <a:prstGeom prst="rect">
            <a:avLst/>
          </a:prstGeom>
          <a:solidFill>
            <a:srgbClr val="1E2E3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86685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Dharmesh Bhagat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497581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Product Manager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Product &amp; CX Analytics Leader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1629"/>
            <a:ext cx="8366760" cy="502920"/>
          </a:xfrm>
          <a:prstGeom prst="rect">
            <a:avLst/>
          </a:prstGeom>
          <a:solidFill>
            <a:srgbClr val="0A1F30"/>
          </a:solidFill>
          <a:ln w="1524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81629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build decision systems that help products scale."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 &amp; What I Do Best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business first  ·  Change &amp; adapt  ·  Collaborate &amp; communicate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8412480" cy="475488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60704"/>
            <a:ext cx="841248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06424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decision systems that help products scale.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724912" cy="257860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64208"/>
            <a:ext cx="272491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556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Business First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" y="2395728"/>
            <a:ext cx="73152" cy="73152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4942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decision and customer outcome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3054096"/>
            <a:ext cx="73152" cy="73152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0779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signals into measurable business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3712464"/>
            <a:ext cx="73152" cy="73152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6616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adoption, trust, risk, and expansion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6704" y="1664208"/>
            <a:ext cx="2724912" cy="257860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46704" y="1664208"/>
            <a:ext cx="2724912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3483864" y="17556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Adapt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11296" y="2395728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3666744" y="2187198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ambiguity into product direction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11296" y="3054096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3666744" y="2845566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MVPs fast with AI/spec-driven execution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11296" y="3712464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3666744" y="350393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after data confidence and adoption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1664208"/>
            <a:ext cx="2724912" cy="257860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0488" y="1664208"/>
            <a:ext cx="2724912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17556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&amp; Communicate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2395728"/>
            <a:ext cx="73152" cy="731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2231136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across executives, CS, PS, Support, Data/AI, and Engineering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3054096"/>
            <a:ext cx="73152" cy="731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28895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technical trade-offs simple and explainable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3712464"/>
            <a:ext cx="73152" cy="731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528" y="35478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the loop before automation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352544"/>
            <a:ext cx="8412480" cy="594360"/>
          </a:xfrm>
          <a:prstGeom prst="rect">
            <a:avLst/>
          </a:prstGeom>
          <a:solidFill>
            <a:srgbClr val="0A152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3525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case: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applied the same approach to Realized ARR — from metric concept to BigQuery pipeline, tests, dashboard, and executive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won or lost after the contract is signed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measures the contract. GCS also needs to measure realized customer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2715768" cy="230428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2715768" cy="457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stakes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069848"/>
            <a:ext cx="2715768" cy="230428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069848"/>
            <a:ext cx="2715768" cy="457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blind spots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53912" y="1069848"/>
            <a:ext cx="2715768" cy="230428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1069848"/>
            <a:ext cx="2715768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6281928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GCS needs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" y="1508760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15453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$86.3M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18488" y="1563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ARR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" y="1984248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2020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$56.3M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18488" y="2039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ARR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" y="2459736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2496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8488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 gap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" y="2935224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18488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6432" y="1508760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7" name="Text 25"/>
          <p:cNvSpPr/>
          <p:nvPr/>
        </p:nvSpPr>
        <p:spPr>
          <a:xfrm>
            <a:off x="3511296" y="15087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31336" y="154533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Shelfware is invisible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1984248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0" name="Text 28"/>
          <p:cNvSpPr/>
          <p:nvPr/>
        </p:nvSpPr>
        <p:spPr>
          <a:xfrm>
            <a:off x="3511296" y="19842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31336" y="202082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risk appears late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56432" y="2459736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3" name="Text 31"/>
          <p:cNvSpPr/>
          <p:nvPr/>
        </p:nvSpPr>
        <p:spPr>
          <a:xfrm>
            <a:off x="3511296" y="245973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31336" y="249631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≠ deployed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56432" y="2935224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6" name="Text 34"/>
          <p:cNvSpPr/>
          <p:nvPr/>
        </p:nvSpPr>
        <p:spPr>
          <a:xfrm>
            <a:off x="3511296" y="293522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31336" y="297180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needs health context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81928" y="1508760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9" name="Text 37"/>
          <p:cNvSpPr/>
          <p:nvPr/>
        </p:nvSpPr>
        <p:spPr>
          <a:xfrm>
            <a:off x="6336792" y="1508760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11112" y="154533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are truly healthy?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1984248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198424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611112" y="2020824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need CSM/PS action?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81928" y="2459736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2459736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611112" y="249631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are expansion-ready?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81928" y="2935224"/>
            <a:ext cx="2459736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293522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611112" y="297180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leaders allocate capacity?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3474720"/>
            <a:ext cx="841248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3474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59152" y="34747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needs a North Star metric that connects contracted value  →  deployment  →  sustained usage  →  technical health  →  expansion readiness.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920" y="4133088"/>
            <a:ext cx="8412480" cy="822960"/>
          </a:xfrm>
          <a:prstGeom prst="rect">
            <a:avLst/>
          </a:prstGeom>
          <a:solidFill>
            <a:srgbClr val="0A1520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4133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operating decision, then build the metric and data pipeline around it.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8368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Realized ARR was designed — not formula-first, but decision-first.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 · Architecture · Trade-offs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AI build on BigQuery with synthetic enterprise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4069080" cy="22128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69264"/>
            <a:ext cx="4069080" cy="457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 tables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csm_rep · accounts · contracts · usage_logs · account_health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accounts · 12 months · ~250K rows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GCS data unavailable · Architecture validated today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runs on production data — no rewrite needed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295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anomalies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7802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Shelfware 10% · Spike-drop 5% · Overagers 15%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expansions · Orphaned/rogue logs injected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734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169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runs before ALL metric logic · 99.86% confidence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rows written to audit table (dq_report)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969264"/>
            <a:ext cx="4160520" cy="22128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9264"/>
            <a:ext cx="4160520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spec-driven build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42646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1444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machine-readable specs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prd.md · sys_arch.md · test_spec.md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1,449 lines · every formula, invariant, edge case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029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generates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286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Python · Streamlit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spec — no ambiguity, no hallucination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5968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615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validate against live BigQuery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8712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 passing · 5 DQ rules · 5 edge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every deployment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3438144"/>
            <a:ext cx="1993392" cy="12984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3438144"/>
            <a:ext cx="64008" cy="12984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" y="35021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over local DB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8368" y="3858768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Production-aligned from Day 1. Same SQL runs on production — zero rewrite. Free tier handles 250K rows.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06040" y="3438144"/>
            <a:ext cx="1993392" cy="12984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606040" y="3438144"/>
            <a:ext cx="64008" cy="129844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9" name="Text 57"/>
          <p:cNvSpPr/>
          <p:nvPr/>
        </p:nvSpPr>
        <p:spPr>
          <a:xfrm>
            <a:off x="2761488" y="35021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 over ML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761488" y="3858768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before prediction. CS, Finance, and Sales need to understand why an account is marked. ML is Phase 2.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3438144"/>
            <a:ext cx="1993392" cy="12984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3438144"/>
            <a:ext cx="64008" cy="129844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63" name="Text 61"/>
          <p:cNvSpPr/>
          <p:nvPr/>
        </p:nvSpPr>
        <p:spPr>
          <a:xfrm>
            <a:off x="4864608" y="35021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PRS score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64608" y="3858768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explainable. One weak component should not collapse the score. Shelfware override handles the floor.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12280" y="3438144"/>
            <a:ext cx="1993392" cy="1298448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812280" y="3438144"/>
            <a:ext cx="64008" cy="12984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67" name="Text 65"/>
          <p:cNvSpPr/>
          <p:nvPr/>
        </p:nvSpPr>
        <p:spPr>
          <a:xfrm>
            <a:off x="6967728" y="35021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metric first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967728" y="3858768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behavior before compensation. Run alongside TCV for one quarter before it affects how reps are measured.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Evaluation ·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the signal; humans validate the 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4069080" cy="228600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69264"/>
            <a:ext cx="406908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computes PRS  →  Dashboard surfaces signal  →  CSM decides 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73352"/>
            <a:ext cx="54864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69164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metric framing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1901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comp-affecting in Phase 1. Deliberately safe to build adoption before trust is established.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76272"/>
            <a:ext cx="54864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19456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Action 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4048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today (shelfware → 30-day workshop, Red → CSM+PS recovery). LLM-generated in Phase 3.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79192"/>
            <a:ext cx="54864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6974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page disclaimer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9077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"Shadow measurement only — for coaching and portfolio visibility, not compensation." Senior PM move.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9264"/>
            <a:ext cx="4160520" cy="228600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69264"/>
            <a:ext cx="4160520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+ hard truths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4447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2784" y="1463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6916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rules · invariants · edge cases · integration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99.86%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1920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1488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anomaly rows excluded before any computation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72784" y="2377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 gap identified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606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$86.3M contracted · $56.3M realized · Dec 2024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8163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0.706→0.652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72784" y="2834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PRS decline story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063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 less healthy than existing base — the key insight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407408"/>
            <a:ext cx="8412480" cy="594360"/>
          </a:xfrm>
          <a:prstGeom prst="rect">
            <a:avLst/>
          </a:prstGeom>
          <a:solidFill>
            <a:srgbClr val="1A1200"/>
          </a:solidFill>
          <a:ln w="15240">
            <a:solidFill>
              <a:srgbClr val="BA75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4074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truth: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not drive compensation on day one.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 shadow metric first, validate trust, then scale.</a:t>
            </a:r>
            <a:endParaRPr lang="en-US" sz="120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451B5BD0-3AE8-2EC2-DC06-07122F5766F2}"/>
              </a:ext>
            </a:extLst>
          </p:cNvPr>
          <p:cNvSpPr/>
          <p:nvPr/>
        </p:nvSpPr>
        <p:spPr>
          <a:xfrm>
            <a:off x="2848007" y="3621024"/>
            <a:ext cx="3447986" cy="438912"/>
          </a:xfrm>
          <a:prstGeom prst="rect">
            <a:avLst/>
          </a:prstGeom>
          <a:solidFill>
            <a:srgbClr val="0F3D2A"/>
          </a:solidFill>
          <a:ln/>
        </p:spPr>
        <p:txBody>
          <a:bodyPr/>
          <a:lstStyle/>
          <a:p>
            <a:pPr algn="ctr"/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Live </a:t>
            </a:r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Dem</a:t>
            </a:r>
            <a:r>
              <a:rPr lang="en-US" sz="2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</a:t>
            </a:r>
            <a:endParaRPr lang="en-US" sz="2000" dirty="0"/>
          </a:p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 — and where AI takes this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 ·  AI Innovation Vision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069080" cy="320040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4069080" cy="457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did it again today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1581912"/>
            <a:ext cx="54864" cy="47548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554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dbt instead of raw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013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documentation, incremental models, and schema testing built in. Raw SQL works — dbt scales.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2267712"/>
            <a:ext cx="54864" cy="47548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240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weights empirically from 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487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40/30/20/10 is business logic. Should be tested against historical renewal data before affecting comp.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2953512"/>
            <a:ext cx="54864" cy="4754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926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support tickets from the 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172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score is a health_color proxy. P1/P2 severity, MTTR, and error rates make it defensible to SC.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1560" y="3639312"/>
            <a:ext cx="54864" cy="47548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611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agentic workflows, not dashboards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858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is pull. An AI agent pushing a weekly at-risk brief to the CSM inbox is behavioral change.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60520" cy="320040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4160520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vision: the Iridias pattern applied to GCS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I built for Copilot outage summarization at Azure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719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17190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account narratives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19568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signals → "XSIAM pipelines inactive 23 days. Escalate to PS before renewal in 34 days." The metric tells what. AI tells what to do.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377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CSM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6151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1,000 accounts weekly. Auto-generates at-risk brief. Pushes to CSM inbox — no dashboard login required.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0358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30358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renewal model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273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trajectory over 6 months → renewal probability 180 days out. CSM intervention before the cliff appears.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36941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36941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breadth dimension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9319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+ Prisma Cloud + Cortex per SKU. 3-platform customers earn 8× more ARR — the metric should reward it.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315968"/>
            <a:ext cx="8412480" cy="658368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3159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tells you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happening.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AI tells you </a:t>
            </a: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next.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CSM delivers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outcome.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Neither replaces the other.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today. A five-phase roadmap ahead.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023360" cy="86868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73152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1887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6187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Realized ARR as shadow North Star 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57276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TCV for one quarter. Measure what we earn, not just what we 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4023360" cy="86868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48840"/>
            <a:ext cx="73152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2199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transition timeline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53288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 regions Q3 · Full rollout Q4 2025 · Comp integration Year 2 onward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4023360" cy="868680"/>
          </a:xfrm>
          <a:prstGeom prst="rect">
            <a:avLst/>
          </a:prstGeom>
          <a:solidFill>
            <a:srgbClr val="16203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08960"/>
            <a:ext cx="73152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8211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data owner for Customer Support Platform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49300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P1/P2 severity + MTTR to replace the health_color proxy in Technical Health Score.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804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170432"/>
            <a:ext cx="4069080" cy="6217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1170432"/>
            <a:ext cx="73152" cy="62179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4992624" y="1207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12070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ARR pipeline +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149961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· 22/22 tests · Streamlit deployed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65376"/>
            <a:ext cx="4069080" cy="6217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1865376"/>
            <a:ext cx="73152" cy="6217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8" name="Text 26"/>
          <p:cNvSpPr/>
          <p:nvPr/>
        </p:nvSpPr>
        <p:spPr>
          <a:xfrm>
            <a:off x="4992624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19019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account narratives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92624" y="21945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Iridias pattern → GCS · PRS signals → human 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0320"/>
            <a:ext cx="4069080" cy="6217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560320"/>
            <a:ext cx="73152" cy="62179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3" name="Text 31"/>
          <p:cNvSpPr/>
          <p:nvPr/>
        </p:nvSpPr>
        <p:spPr>
          <a:xfrm>
            <a:off x="4992624" y="2596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33872" y="25968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CSM workflow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92624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at-risk brief pushed to CSM inbox · no login required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4069080" cy="6217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3255264"/>
            <a:ext cx="73152" cy="62179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8" name="Text 36"/>
          <p:cNvSpPr/>
          <p:nvPr/>
        </p:nvSpPr>
        <p:spPr>
          <a:xfrm>
            <a:off x="4992624" y="3291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33872" y="329184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compensation integration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92624" y="358444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bonus tied to realization milestones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950208"/>
            <a:ext cx="4069080" cy="6217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950208"/>
            <a:ext cx="73152" cy="621792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43" name="Text 41"/>
          <p:cNvSpPr/>
          <p:nvPr/>
        </p:nvSpPr>
        <p:spPr>
          <a:xfrm>
            <a:off x="4992624" y="3986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33872" y="398678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renewal model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92624" y="42793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trajectory → renewal probability 180 days out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617720"/>
            <a:ext cx="8412480" cy="384048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is built · The tests pass · The dashboard is live · The only question is when GCS starts measuring what it earns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1291</Words>
  <Application>Microsoft Macintosh PowerPoint</Application>
  <PresentationFormat>On-screen Show (16:9)</PresentationFormat>
  <Paragraphs>183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Realized ARR: From Concept to Working Product</dc:title>
  <dc:subject>PptxGenJS Presentation</dc:subject>
  <dc:creator>Dharmesh Bhagat</dc:creator>
  <cp:lastModifiedBy>Dharmesh Bhagat</cp:lastModifiedBy>
  <cp:revision>7</cp:revision>
  <dcterms:created xsi:type="dcterms:W3CDTF">2026-06-07T00:44:12Z</dcterms:created>
  <dcterms:modified xsi:type="dcterms:W3CDTF">2026-06-07T00:57:18Z</dcterms:modified>
</cp:coreProperties>
</file>